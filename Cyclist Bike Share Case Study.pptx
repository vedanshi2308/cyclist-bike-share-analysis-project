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6" r:id="rId6"/>
    <p:sldId id="277" r:id="rId7"/>
    <p:sldId id="278" r:id="rId8"/>
    <p:sldId id="279" r:id="rId9"/>
    <p:sldId id="280" r:id="rId10"/>
    <p:sldId id="281" r:id="rId11"/>
    <p:sldId id="283" r:id="rId12"/>
    <p:sldId id="282" r:id="rId13"/>
    <p:sldId id="288" r:id="rId14"/>
    <p:sldId id="289" r:id="rId15"/>
    <p:sldId id="290" r:id="rId16"/>
    <p:sldId id="285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52" autoAdjust="0"/>
  </p:normalViewPr>
  <p:slideViewPr>
    <p:cSldViewPr snapToGrid="0" showGuides="1">
      <p:cViewPr varScale="1">
        <p:scale>
          <a:sx n="71" d="100"/>
          <a:sy n="71" d="100"/>
        </p:scale>
        <p:origin x="774" y="6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15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46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69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94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31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25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415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335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51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90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1188" y="3137304"/>
            <a:ext cx="7969624" cy="166199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Cyclist Bike Share Case Study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726077">
            <a:off x="4298692" y="-179165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82B56-3DB3-36BF-1065-E36D106F8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145" y="520017"/>
            <a:ext cx="2222583" cy="2143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22E4F5-03C8-8982-B989-39E5C7FC31A5}"/>
              </a:ext>
            </a:extLst>
          </p:cNvPr>
          <p:cNvSpPr txBox="1"/>
          <p:nvPr/>
        </p:nvSpPr>
        <p:spPr>
          <a:xfrm>
            <a:off x="2338107" y="4982665"/>
            <a:ext cx="82716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Data-Driven Insights and Recommendations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87AF68-C337-4724-C5AA-1769F424E2FB}"/>
              </a:ext>
            </a:extLst>
          </p:cNvPr>
          <p:cNvSpPr txBox="1"/>
          <p:nvPr/>
        </p:nvSpPr>
        <p:spPr>
          <a:xfrm>
            <a:off x="3565298" y="5690400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Presented by: Vedanshi Patel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124903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052053"/>
            <a:ext cx="11734800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Business Task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4903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98493" y="2377720"/>
            <a:ext cx="9614647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  <a:cs typeface="Arial" panose="020B0604020202020204" pitchFamily="34" charset="0"/>
              </a:rPr>
              <a:t>Analyze usage trends among casual and member riders.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490" y="3739284"/>
            <a:ext cx="11423176" cy="86689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  <a:cs typeface="Arial" panose="020B0604020202020204" pitchFamily="34" charset="0"/>
              </a:rPr>
              <a:t>Goal: Develop strategies to convert casual riders into annual members.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33012" y="1087675"/>
            <a:ext cx="357672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44289" y="891744"/>
            <a:ext cx="11734800" cy="8309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Data Preparation Steps</a:t>
            </a:r>
            <a:b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</a:b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087675"/>
            <a:ext cx="359036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ANALYSIS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FINANCIAL ANALYSIS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ECONOMIC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7194746" cy="4670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6" name="Freeform 4197" descr="Icon of shopping cart.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DCDFA6F5-C1FF-D87B-3228-474632321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619" y="1639666"/>
            <a:ext cx="10325433" cy="4646714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Downloaded last 12 months of data.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Extracted all files from zip folders.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Converted all .csv files to .</a:t>
            </a:r>
            <a:r>
              <a:rPr lang="en-US" altLang="en-US" sz="2400" dirty="0" err="1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xls</a:t>
            </a: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 format.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Combined all files using Power Query in Excel.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Loaded clean, combined dataset into a new Excel sheet.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Inserted Pivot Tables for analysis.</a:t>
            </a:r>
          </a:p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96665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134470" y="803545"/>
            <a:ext cx="11734800" cy="9417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Tools Used</a:t>
            </a:r>
            <a:b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96665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89218" y="5420435"/>
            <a:ext cx="13716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16547-BD6F-E0D5-C959-4B8BEF933A78}"/>
              </a:ext>
            </a:extLst>
          </p:cNvPr>
          <p:cNvSpPr txBox="1"/>
          <p:nvPr/>
        </p:nvSpPr>
        <p:spPr>
          <a:xfrm>
            <a:off x="2070847" y="1800741"/>
            <a:ext cx="8108577" cy="2505423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Data Cleaning: Excel Power Query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Data Analysis &amp; Visualization: Excel Pivot Tables / Tableau</a:t>
            </a: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4673A57-8C07-453C-8611-1D99E8CDE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04048"/>
            <a:ext cx="12192000" cy="4173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2AC0C949-7A02-4C95-8017-D82E7E71C4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11623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Chart 1 - Average Ride Duration by Rider Type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2814F3-F3E4-D0B9-4394-9565F8140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024" y="1221254"/>
            <a:ext cx="3419952" cy="3705742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75ADBF0E-F639-67DD-63BA-01448048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70" y="89808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183F3B8-A35A-0281-D8AB-FF5B29380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70" y="123712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1B4634-05D7-9FA7-453D-C3D80AE243E2}"/>
              </a:ext>
            </a:extLst>
          </p:cNvPr>
          <p:cNvSpPr txBox="1"/>
          <p:nvPr/>
        </p:nvSpPr>
        <p:spPr>
          <a:xfrm>
            <a:off x="1745674" y="5380858"/>
            <a:ext cx="8922326" cy="1285416"/>
          </a:xfrm>
          <a:custGeom>
            <a:avLst/>
            <a:gdLst>
              <a:gd name="connsiteX0" fmla="*/ 0 w 8922326"/>
              <a:gd name="connsiteY0" fmla="*/ 0 h 1285416"/>
              <a:gd name="connsiteX1" fmla="*/ 775556 w 8922326"/>
              <a:gd name="connsiteY1" fmla="*/ 0 h 1285416"/>
              <a:gd name="connsiteX2" fmla="*/ 1640335 w 8922326"/>
              <a:gd name="connsiteY2" fmla="*/ 0 h 1285416"/>
              <a:gd name="connsiteX3" fmla="*/ 2505115 w 8922326"/>
              <a:gd name="connsiteY3" fmla="*/ 0 h 1285416"/>
              <a:gd name="connsiteX4" fmla="*/ 3102224 w 8922326"/>
              <a:gd name="connsiteY4" fmla="*/ 0 h 1285416"/>
              <a:gd name="connsiteX5" fmla="*/ 3877780 w 8922326"/>
              <a:gd name="connsiteY5" fmla="*/ 0 h 1285416"/>
              <a:gd name="connsiteX6" fmla="*/ 4742559 w 8922326"/>
              <a:gd name="connsiteY6" fmla="*/ 0 h 1285416"/>
              <a:gd name="connsiteX7" fmla="*/ 5339669 w 8922326"/>
              <a:gd name="connsiteY7" fmla="*/ 0 h 1285416"/>
              <a:gd name="connsiteX8" fmla="*/ 5847555 w 8922326"/>
              <a:gd name="connsiteY8" fmla="*/ 0 h 1285416"/>
              <a:gd name="connsiteX9" fmla="*/ 6623111 w 8922326"/>
              <a:gd name="connsiteY9" fmla="*/ 0 h 1285416"/>
              <a:gd name="connsiteX10" fmla="*/ 7309444 w 8922326"/>
              <a:gd name="connsiteY10" fmla="*/ 0 h 1285416"/>
              <a:gd name="connsiteX11" fmla="*/ 8174223 w 8922326"/>
              <a:gd name="connsiteY11" fmla="*/ 0 h 1285416"/>
              <a:gd name="connsiteX12" fmla="*/ 8922326 w 8922326"/>
              <a:gd name="connsiteY12" fmla="*/ 0 h 1285416"/>
              <a:gd name="connsiteX13" fmla="*/ 8922326 w 8922326"/>
              <a:gd name="connsiteY13" fmla="*/ 604146 h 1285416"/>
              <a:gd name="connsiteX14" fmla="*/ 8922326 w 8922326"/>
              <a:gd name="connsiteY14" fmla="*/ 1285416 h 1285416"/>
              <a:gd name="connsiteX15" fmla="*/ 8414440 w 8922326"/>
              <a:gd name="connsiteY15" fmla="*/ 1285416 h 1285416"/>
              <a:gd name="connsiteX16" fmla="*/ 7638884 w 8922326"/>
              <a:gd name="connsiteY16" fmla="*/ 1285416 h 1285416"/>
              <a:gd name="connsiteX17" fmla="*/ 6774104 w 8922326"/>
              <a:gd name="connsiteY17" fmla="*/ 1285416 h 1285416"/>
              <a:gd name="connsiteX18" fmla="*/ 6087772 w 8922326"/>
              <a:gd name="connsiteY18" fmla="*/ 1285416 h 1285416"/>
              <a:gd name="connsiteX19" fmla="*/ 5312216 w 8922326"/>
              <a:gd name="connsiteY19" fmla="*/ 1285416 h 1285416"/>
              <a:gd name="connsiteX20" fmla="*/ 4715106 w 8922326"/>
              <a:gd name="connsiteY20" fmla="*/ 1285416 h 1285416"/>
              <a:gd name="connsiteX21" fmla="*/ 4207220 w 8922326"/>
              <a:gd name="connsiteY21" fmla="*/ 1285416 h 1285416"/>
              <a:gd name="connsiteX22" fmla="*/ 3431664 w 8922326"/>
              <a:gd name="connsiteY22" fmla="*/ 1285416 h 1285416"/>
              <a:gd name="connsiteX23" fmla="*/ 2745331 w 8922326"/>
              <a:gd name="connsiteY23" fmla="*/ 1285416 h 1285416"/>
              <a:gd name="connsiteX24" fmla="*/ 2326668 w 8922326"/>
              <a:gd name="connsiteY24" fmla="*/ 1285416 h 1285416"/>
              <a:gd name="connsiteX25" fmla="*/ 1908005 w 8922326"/>
              <a:gd name="connsiteY25" fmla="*/ 1285416 h 1285416"/>
              <a:gd name="connsiteX26" fmla="*/ 1221672 w 8922326"/>
              <a:gd name="connsiteY26" fmla="*/ 1285416 h 1285416"/>
              <a:gd name="connsiteX27" fmla="*/ 803009 w 8922326"/>
              <a:gd name="connsiteY27" fmla="*/ 1285416 h 1285416"/>
              <a:gd name="connsiteX28" fmla="*/ 0 w 8922326"/>
              <a:gd name="connsiteY28" fmla="*/ 1285416 h 1285416"/>
              <a:gd name="connsiteX29" fmla="*/ 0 w 8922326"/>
              <a:gd name="connsiteY29" fmla="*/ 655562 h 1285416"/>
              <a:gd name="connsiteX30" fmla="*/ 0 w 8922326"/>
              <a:gd name="connsiteY30" fmla="*/ 0 h 1285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22326" h="1285416" extrusionOk="0">
                <a:moveTo>
                  <a:pt x="0" y="0"/>
                </a:moveTo>
                <a:cubicBezTo>
                  <a:pt x="202760" y="-17443"/>
                  <a:pt x="608260" y="25155"/>
                  <a:pt x="775556" y="0"/>
                </a:cubicBezTo>
                <a:cubicBezTo>
                  <a:pt x="942852" y="-25155"/>
                  <a:pt x="1466451" y="20056"/>
                  <a:pt x="1640335" y="0"/>
                </a:cubicBezTo>
                <a:cubicBezTo>
                  <a:pt x="1814219" y="-20056"/>
                  <a:pt x="2221318" y="24303"/>
                  <a:pt x="2505115" y="0"/>
                </a:cubicBezTo>
                <a:cubicBezTo>
                  <a:pt x="2788912" y="-24303"/>
                  <a:pt x="2930278" y="10306"/>
                  <a:pt x="3102224" y="0"/>
                </a:cubicBezTo>
                <a:cubicBezTo>
                  <a:pt x="3274170" y="-10306"/>
                  <a:pt x="3694418" y="-30587"/>
                  <a:pt x="3877780" y="0"/>
                </a:cubicBezTo>
                <a:cubicBezTo>
                  <a:pt x="4061142" y="30587"/>
                  <a:pt x="4520575" y="-39453"/>
                  <a:pt x="4742559" y="0"/>
                </a:cubicBezTo>
                <a:cubicBezTo>
                  <a:pt x="4964543" y="39453"/>
                  <a:pt x="5147056" y="9994"/>
                  <a:pt x="5339669" y="0"/>
                </a:cubicBezTo>
                <a:cubicBezTo>
                  <a:pt x="5532282" y="-9994"/>
                  <a:pt x="5601228" y="-23709"/>
                  <a:pt x="5847555" y="0"/>
                </a:cubicBezTo>
                <a:cubicBezTo>
                  <a:pt x="6093882" y="23709"/>
                  <a:pt x="6427147" y="-12007"/>
                  <a:pt x="6623111" y="0"/>
                </a:cubicBezTo>
                <a:cubicBezTo>
                  <a:pt x="6819075" y="12007"/>
                  <a:pt x="7146215" y="25811"/>
                  <a:pt x="7309444" y="0"/>
                </a:cubicBezTo>
                <a:cubicBezTo>
                  <a:pt x="7472673" y="-25811"/>
                  <a:pt x="7828561" y="38181"/>
                  <a:pt x="8174223" y="0"/>
                </a:cubicBezTo>
                <a:cubicBezTo>
                  <a:pt x="8519885" y="-38181"/>
                  <a:pt x="8754463" y="-17027"/>
                  <a:pt x="8922326" y="0"/>
                </a:cubicBezTo>
                <a:cubicBezTo>
                  <a:pt x="8928446" y="243079"/>
                  <a:pt x="8951995" y="458759"/>
                  <a:pt x="8922326" y="604146"/>
                </a:cubicBezTo>
                <a:cubicBezTo>
                  <a:pt x="8892657" y="749533"/>
                  <a:pt x="8937963" y="984048"/>
                  <a:pt x="8922326" y="1285416"/>
                </a:cubicBezTo>
                <a:cubicBezTo>
                  <a:pt x="8729729" y="1261310"/>
                  <a:pt x="8648272" y="1262671"/>
                  <a:pt x="8414440" y="1285416"/>
                </a:cubicBezTo>
                <a:cubicBezTo>
                  <a:pt x="8180608" y="1308161"/>
                  <a:pt x="7893102" y="1281685"/>
                  <a:pt x="7638884" y="1285416"/>
                </a:cubicBezTo>
                <a:cubicBezTo>
                  <a:pt x="7384666" y="1289147"/>
                  <a:pt x="7194087" y="1320185"/>
                  <a:pt x="6774104" y="1285416"/>
                </a:cubicBezTo>
                <a:cubicBezTo>
                  <a:pt x="6354121" y="1250647"/>
                  <a:pt x="6405908" y="1304072"/>
                  <a:pt x="6087772" y="1285416"/>
                </a:cubicBezTo>
                <a:cubicBezTo>
                  <a:pt x="5769636" y="1266760"/>
                  <a:pt x="5693580" y="1293937"/>
                  <a:pt x="5312216" y="1285416"/>
                </a:cubicBezTo>
                <a:cubicBezTo>
                  <a:pt x="4930852" y="1276895"/>
                  <a:pt x="4920593" y="1275289"/>
                  <a:pt x="4715106" y="1285416"/>
                </a:cubicBezTo>
                <a:cubicBezTo>
                  <a:pt x="4509619" y="1295544"/>
                  <a:pt x="4361765" y="1296244"/>
                  <a:pt x="4207220" y="1285416"/>
                </a:cubicBezTo>
                <a:cubicBezTo>
                  <a:pt x="4052675" y="1274588"/>
                  <a:pt x="3796229" y="1286100"/>
                  <a:pt x="3431664" y="1285416"/>
                </a:cubicBezTo>
                <a:cubicBezTo>
                  <a:pt x="3067099" y="1284732"/>
                  <a:pt x="3086513" y="1314593"/>
                  <a:pt x="2745331" y="1285416"/>
                </a:cubicBezTo>
                <a:cubicBezTo>
                  <a:pt x="2404149" y="1256239"/>
                  <a:pt x="2488253" y="1301299"/>
                  <a:pt x="2326668" y="1285416"/>
                </a:cubicBezTo>
                <a:cubicBezTo>
                  <a:pt x="2165083" y="1269533"/>
                  <a:pt x="2109714" y="1269035"/>
                  <a:pt x="1908005" y="1285416"/>
                </a:cubicBezTo>
                <a:cubicBezTo>
                  <a:pt x="1706296" y="1301797"/>
                  <a:pt x="1563637" y="1291757"/>
                  <a:pt x="1221672" y="1285416"/>
                </a:cubicBezTo>
                <a:cubicBezTo>
                  <a:pt x="879707" y="1279075"/>
                  <a:pt x="897265" y="1284430"/>
                  <a:pt x="803009" y="1285416"/>
                </a:cubicBezTo>
                <a:cubicBezTo>
                  <a:pt x="708753" y="1286402"/>
                  <a:pt x="300592" y="1323785"/>
                  <a:pt x="0" y="1285416"/>
                </a:cubicBezTo>
                <a:cubicBezTo>
                  <a:pt x="20887" y="979823"/>
                  <a:pt x="8283" y="791971"/>
                  <a:pt x="0" y="655562"/>
                </a:cubicBezTo>
                <a:cubicBezTo>
                  <a:pt x="-8283" y="519153"/>
                  <a:pt x="-32478" y="18156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00839234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Casual riders take significantly longer rides on average than members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Casual riders: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20–25 mins |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Members: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10–15 mins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Interpretation: Casual riders likely ride for leisure, members for commuting</a:t>
            </a:r>
          </a:p>
        </p:txBody>
      </p:sp>
    </p:spTree>
    <p:extLst>
      <p:ext uri="{BB962C8B-B14F-4D97-AF65-F5344CB8AC3E}">
        <p14:creationId xmlns:p14="http://schemas.microsoft.com/office/powerpoint/2010/main" val="121214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78143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781431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2F070B3E-B661-A1E8-9C55-ED6CAA1CF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317" y="1859340"/>
            <a:ext cx="8785412" cy="230924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Casual users = opportunity for targeted memberships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Market value: "More rides, less cost" for frequent leisure riders</a:t>
            </a:r>
          </a:p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30270-B777-3252-0F23-DC6347E2432F}"/>
              </a:ext>
            </a:extLst>
          </p:cNvPr>
          <p:cNvSpPr txBox="1"/>
          <p:nvPr/>
        </p:nvSpPr>
        <p:spPr>
          <a:xfrm>
            <a:off x="4399990" y="458265"/>
            <a:ext cx="6104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>
                    <a:lumMod val="75000"/>
                    <a:lumOff val="25000"/>
                  </a:srgbClr>
                </a:solidFill>
                <a:latin typeface="Arial Rounded MT Bold" panose="020F0704030504030204" pitchFamily="34" charset="0"/>
              </a:rPr>
              <a:t>Why It Matters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579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33B6BF4-2C08-4464-A4ED-A7F5F99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analysis slide 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551EA-9F3C-4E6B-8292-6C64ABE1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Chart 2 - Weekly Ride Patterns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0" name="Group 49" descr="Icon of paper and pen. ">
            <a:extLst>
              <a:ext uri="{FF2B5EF4-FFF2-40B4-BE49-F238E27FC236}">
                <a16:creationId xmlns:a16="http://schemas.microsoft.com/office/drawing/2014/main" id="{2FA1B3F0-F0C6-4C2E-ABD3-6AE2AAF66A07}"/>
              </a:ext>
            </a:extLst>
          </p:cNvPr>
          <p:cNvGrpSpPr/>
          <p:nvPr/>
        </p:nvGrpSpPr>
        <p:grpSpPr>
          <a:xfrm>
            <a:off x="1989538" y="1368977"/>
            <a:ext cx="287337" cy="285750"/>
            <a:chOff x="7018338" y="4656138"/>
            <a:chExt cx="287337" cy="285750"/>
          </a:xfrm>
          <a:solidFill>
            <a:schemeClr val="bg1"/>
          </a:solidFill>
        </p:grpSpPr>
        <p:sp>
          <p:nvSpPr>
            <p:cNvPr id="51" name="Freeform 4604">
              <a:extLst>
                <a:ext uri="{FF2B5EF4-FFF2-40B4-BE49-F238E27FC236}">
                  <a16:creationId xmlns:a16="http://schemas.microsoft.com/office/drawing/2014/main" id="{F6337A0B-842D-4F0F-B93C-DA957BFFC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8338" y="4656138"/>
              <a:ext cx="230188" cy="285750"/>
            </a:xfrm>
            <a:custGeom>
              <a:avLst/>
              <a:gdLst>
                <a:gd name="T0" fmla="*/ 351 w 723"/>
                <a:gd name="T1" fmla="*/ 416 h 903"/>
                <a:gd name="T2" fmla="*/ 348 w 723"/>
                <a:gd name="T3" fmla="*/ 400 h 903"/>
                <a:gd name="T4" fmla="*/ 362 w 723"/>
                <a:gd name="T5" fmla="*/ 391 h 903"/>
                <a:gd name="T6" fmla="*/ 525 w 723"/>
                <a:gd name="T7" fmla="*/ 398 h 903"/>
                <a:gd name="T8" fmla="*/ 525 w 723"/>
                <a:gd name="T9" fmla="*/ 414 h 903"/>
                <a:gd name="T10" fmla="*/ 513 w 723"/>
                <a:gd name="T11" fmla="*/ 572 h 903"/>
                <a:gd name="T12" fmla="*/ 349 w 723"/>
                <a:gd name="T13" fmla="*/ 565 h 903"/>
                <a:gd name="T14" fmla="*/ 349 w 723"/>
                <a:gd name="T15" fmla="*/ 548 h 903"/>
                <a:gd name="T16" fmla="*/ 513 w 723"/>
                <a:gd name="T17" fmla="*/ 542 h 903"/>
                <a:gd name="T18" fmla="*/ 526 w 723"/>
                <a:gd name="T19" fmla="*/ 551 h 903"/>
                <a:gd name="T20" fmla="*/ 523 w 723"/>
                <a:gd name="T21" fmla="*/ 568 h 903"/>
                <a:gd name="T22" fmla="*/ 362 w 723"/>
                <a:gd name="T23" fmla="*/ 722 h 903"/>
                <a:gd name="T24" fmla="*/ 348 w 723"/>
                <a:gd name="T25" fmla="*/ 713 h 903"/>
                <a:gd name="T26" fmla="*/ 351 w 723"/>
                <a:gd name="T27" fmla="*/ 696 h 903"/>
                <a:gd name="T28" fmla="*/ 515 w 723"/>
                <a:gd name="T29" fmla="*/ 693 h 903"/>
                <a:gd name="T30" fmla="*/ 528 w 723"/>
                <a:gd name="T31" fmla="*/ 704 h 903"/>
                <a:gd name="T32" fmla="*/ 521 w 723"/>
                <a:gd name="T33" fmla="*/ 720 h 903"/>
                <a:gd name="T34" fmla="*/ 232 w 723"/>
                <a:gd name="T35" fmla="*/ 405 h 903"/>
                <a:gd name="T36" fmla="*/ 198 w 723"/>
                <a:gd name="T37" fmla="*/ 381 h 903"/>
                <a:gd name="T38" fmla="*/ 200 w 723"/>
                <a:gd name="T39" fmla="*/ 365 h 903"/>
                <a:gd name="T40" fmla="*/ 217 w 723"/>
                <a:gd name="T41" fmla="*/ 362 h 903"/>
                <a:gd name="T42" fmla="*/ 296 w 723"/>
                <a:gd name="T43" fmla="*/ 302 h 903"/>
                <a:gd name="T44" fmla="*/ 312 w 723"/>
                <a:gd name="T45" fmla="*/ 306 h 903"/>
                <a:gd name="T46" fmla="*/ 315 w 723"/>
                <a:gd name="T47" fmla="*/ 321 h 903"/>
                <a:gd name="T48" fmla="*/ 226 w 723"/>
                <a:gd name="T49" fmla="*/ 556 h 903"/>
                <a:gd name="T50" fmla="*/ 197 w 723"/>
                <a:gd name="T51" fmla="*/ 529 h 903"/>
                <a:gd name="T52" fmla="*/ 203 w 723"/>
                <a:gd name="T53" fmla="*/ 514 h 903"/>
                <a:gd name="T54" fmla="*/ 219 w 723"/>
                <a:gd name="T55" fmla="*/ 514 h 903"/>
                <a:gd name="T56" fmla="*/ 298 w 723"/>
                <a:gd name="T57" fmla="*/ 451 h 903"/>
                <a:gd name="T58" fmla="*/ 314 w 723"/>
                <a:gd name="T59" fmla="*/ 458 h 903"/>
                <a:gd name="T60" fmla="*/ 314 w 723"/>
                <a:gd name="T61" fmla="*/ 475 h 903"/>
                <a:gd name="T62" fmla="*/ 155 w 723"/>
                <a:gd name="T63" fmla="*/ 238 h 903"/>
                <a:gd name="T64" fmla="*/ 208 w 723"/>
                <a:gd name="T65" fmla="*/ 197 h 903"/>
                <a:gd name="T66" fmla="*/ 164 w 723"/>
                <a:gd name="T67" fmla="*/ 236 h 903"/>
                <a:gd name="T68" fmla="*/ 31 w 723"/>
                <a:gd name="T69" fmla="*/ 125 h 903"/>
                <a:gd name="T70" fmla="*/ 53 w 723"/>
                <a:gd name="T71" fmla="*/ 68 h 903"/>
                <a:gd name="T72" fmla="*/ 101 w 723"/>
                <a:gd name="T73" fmla="*/ 35 h 903"/>
                <a:gd name="T74" fmla="*/ 150 w 723"/>
                <a:gd name="T75" fmla="*/ 36 h 903"/>
                <a:gd name="T76" fmla="*/ 210 w 723"/>
                <a:gd name="T77" fmla="*/ 80 h 903"/>
                <a:gd name="T78" fmla="*/ 226 w 723"/>
                <a:gd name="T79" fmla="*/ 143 h 903"/>
                <a:gd name="T80" fmla="*/ 125 w 723"/>
                <a:gd name="T81" fmla="*/ 154 h 903"/>
                <a:gd name="T82" fmla="*/ 136 w 723"/>
                <a:gd name="T83" fmla="*/ 0 h 903"/>
                <a:gd name="T84" fmla="*/ 104 w 723"/>
                <a:gd name="T85" fmla="*/ 2 h 903"/>
                <a:gd name="T86" fmla="*/ 39 w 723"/>
                <a:gd name="T87" fmla="*/ 40 h 903"/>
                <a:gd name="T88" fmla="*/ 4 w 723"/>
                <a:gd name="T89" fmla="*/ 108 h 903"/>
                <a:gd name="T90" fmla="*/ 4 w 723"/>
                <a:gd name="T91" fmla="*/ 625 h 903"/>
                <a:gd name="T92" fmla="*/ 121 w 723"/>
                <a:gd name="T93" fmla="*/ 632 h 903"/>
                <a:gd name="T94" fmla="*/ 128 w 723"/>
                <a:gd name="T95" fmla="*/ 901 h 903"/>
                <a:gd name="T96" fmla="*/ 593 w 723"/>
                <a:gd name="T97" fmla="*/ 902 h 903"/>
                <a:gd name="T98" fmla="*/ 603 w 723"/>
                <a:gd name="T99" fmla="*/ 888 h 903"/>
                <a:gd name="T100" fmla="*/ 660 w 723"/>
                <a:gd name="T101" fmla="*/ 248 h 903"/>
                <a:gd name="T102" fmla="*/ 708 w 723"/>
                <a:gd name="T103" fmla="*/ 194 h 903"/>
                <a:gd name="T104" fmla="*/ 723 w 723"/>
                <a:gd name="T105" fmla="*/ 121 h 903"/>
                <a:gd name="T106" fmla="*/ 691 w 723"/>
                <a:gd name="T107" fmla="*/ 50 h 903"/>
                <a:gd name="T108" fmla="*/ 627 w 723"/>
                <a:gd name="T109" fmla="*/ 6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3" h="903">
                  <a:moveTo>
                    <a:pt x="513" y="421"/>
                  </a:moveTo>
                  <a:lnTo>
                    <a:pt x="362" y="421"/>
                  </a:lnTo>
                  <a:lnTo>
                    <a:pt x="359" y="421"/>
                  </a:lnTo>
                  <a:lnTo>
                    <a:pt x="356" y="420"/>
                  </a:lnTo>
                  <a:lnTo>
                    <a:pt x="354" y="418"/>
                  </a:lnTo>
                  <a:lnTo>
                    <a:pt x="351" y="416"/>
                  </a:lnTo>
                  <a:lnTo>
                    <a:pt x="349" y="414"/>
                  </a:lnTo>
                  <a:lnTo>
                    <a:pt x="348" y="412"/>
                  </a:lnTo>
                  <a:lnTo>
                    <a:pt x="347" y="409"/>
                  </a:lnTo>
                  <a:lnTo>
                    <a:pt x="347" y="406"/>
                  </a:lnTo>
                  <a:lnTo>
                    <a:pt x="347" y="403"/>
                  </a:lnTo>
                  <a:lnTo>
                    <a:pt x="348" y="400"/>
                  </a:lnTo>
                  <a:lnTo>
                    <a:pt x="349" y="398"/>
                  </a:lnTo>
                  <a:lnTo>
                    <a:pt x="351" y="396"/>
                  </a:lnTo>
                  <a:lnTo>
                    <a:pt x="354" y="394"/>
                  </a:lnTo>
                  <a:lnTo>
                    <a:pt x="356" y="393"/>
                  </a:lnTo>
                  <a:lnTo>
                    <a:pt x="359" y="391"/>
                  </a:lnTo>
                  <a:lnTo>
                    <a:pt x="362" y="391"/>
                  </a:lnTo>
                  <a:lnTo>
                    <a:pt x="513" y="391"/>
                  </a:lnTo>
                  <a:lnTo>
                    <a:pt x="515" y="391"/>
                  </a:lnTo>
                  <a:lnTo>
                    <a:pt x="519" y="393"/>
                  </a:lnTo>
                  <a:lnTo>
                    <a:pt x="521" y="394"/>
                  </a:lnTo>
                  <a:lnTo>
                    <a:pt x="523" y="396"/>
                  </a:lnTo>
                  <a:lnTo>
                    <a:pt x="525" y="398"/>
                  </a:lnTo>
                  <a:lnTo>
                    <a:pt x="526" y="400"/>
                  </a:lnTo>
                  <a:lnTo>
                    <a:pt x="528" y="403"/>
                  </a:lnTo>
                  <a:lnTo>
                    <a:pt x="528" y="406"/>
                  </a:lnTo>
                  <a:lnTo>
                    <a:pt x="528" y="409"/>
                  </a:lnTo>
                  <a:lnTo>
                    <a:pt x="526" y="412"/>
                  </a:lnTo>
                  <a:lnTo>
                    <a:pt x="525" y="414"/>
                  </a:lnTo>
                  <a:lnTo>
                    <a:pt x="523" y="416"/>
                  </a:lnTo>
                  <a:lnTo>
                    <a:pt x="521" y="418"/>
                  </a:lnTo>
                  <a:lnTo>
                    <a:pt x="519" y="420"/>
                  </a:lnTo>
                  <a:lnTo>
                    <a:pt x="515" y="421"/>
                  </a:lnTo>
                  <a:lnTo>
                    <a:pt x="513" y="421"/>
                  </a:lnTo>
                  <a:close/>
                  <a:moveTo>
                    <a:pt x="513" y="572"/>
                  </a:moveTo>
                  <a:lnTo>
                    <a:pt x="362" y="572"/>
                  </a:lnTo>
                  <a:lnTo>
                    <a:pt x="359" y="571"/>
                  </a:lnTo>
                  <a:lnTo>
                    <a:pt x="356" y="571"/>
                  </a:lnTo>
                  <a:lnTo>
                    <a:pt x="354" y="569"/>
                  </a:lnTo>
                  <a:lnTo>
                    <a:pt x="351" y="568"/>
                  </a:lnTo>
                  <a:lnTo>
                    <a:pt x="349" y="565"/>
                  </a:lnTo>
                  <a:lnTo>
                    <a:pt x="348" y="563"/>
                  </a:lnTo>
                  <a:lnTo>
                    <a:pt x="347" y="560"/>
                  </a:lnTo>
                  <a:lnTo>
                    <a:pt x="347" y="556"/>
                  </a:lnTo>
                  <a:lnTo>
                    <a:pt x="347" y="554"/>
                  </a:lnTo>
                  <a:lnTo>
                    <a:pt x="348" y="551"/>
                  </a:lnTo>
                  <a:lnTo>
                    <a:pt x="349" y="548"/>
                  </a:lnTo>
                  <a:lnTo>
                    <a:pt x="351" y="546"/>
                  </a:lnTo>
                  <a:lnTo>
                    <a:pt x="354" y="544"/>
                  </a:lnTo>
                  <a:lnTo>
                    <a:pt x="356" y="543"/>
                  </a:lnTo>
                  <a:lnTo>
                    <a:pt x="359" y="542"/>
                  </a:lnTo>
                  <a:lnTo>
                    <a:pt x="362" y="542"/>
                  </a:lnTo>
                  <a:lnTo>
                    <a:pt x="513" y="542"/>
                  </a:lnTo>
                  <a:lnTo>
                    <a:pt x="515" y="542"/>
                  </a:lnTo>
                  <a:lnTo>
                    <a:pt x="519" y="543"/>
                  </a:lnTo>
                  <a:lnTo>
                    <a:pt x="521" y="544"/>
                  </a:lnTo>
                  <a:lnTo>
                    <a:pt x="523" y="546"/>
                  </a:lnTo>
                  <a:lnTo>
                    <a:pt x="525" y="548"/>
                  </a:lnTo>
                  <a:lnTo>
                    <a:pt x="526" y="551"/>
                  </a:lnTo>
                  <a:lnTo>
                    <a:pt x="528" y="554"/>
                  </a:lnTo>
                  <a:lnTo>
                    <a:pt x="528" y="556"/>
                  </a:lnTo>
                  <a:lnTo>
                    <a:pt x="528" y="560"/>
                  </a:lnTo>
                  <a:lnTo>
                    <a:pt x="526" y="563"/>
                  </a:lnTo>
                  <a:lnTo>
                    <a:pt x="525" y="565"/>
                  </a:lnTo>
                  <a:lnTo>
                    <a:pt x="523" y="568"/>
                  </a:lnTo>
                  <a:lnTo>
                    <a:pt x="521" y="569"/>
                  </a:lnTo>
                  <a:lnTo>
                    <a:pt x="519" y="571"/>
                  </a:lnTo>
                  <a:lnTo>
                    <a:pt x="515" y="571"/>
                  </a:lnTo>
                  <a:lnTo>
                    <a:pt x="513" y="572"/>
                  </a:lnTo>
                  <a:close/>
                  <a:moveTo>
                    <a:pt x="513" y="722"/>
                  </a:moveTo>
                  <a:lnTo>
                    <a:pt x="362" y="722"/>
                  </a:lnTo>
                  <a:lnTo>
                    <a:pt x="359" y="722"/>
                  </a:lnTo>
                  <a:lnTo>
                    <a:pt x="356" y="721"/>
                  </a:lnTo>
                  <a:lnTo>
                    <a:pt x="354" y="720"/>
                  </a:lnTo>
                  <a:lnTo>
                    <a:pt x="351" y="718"/>
                  </a:lnTo>
                  <a:lnTo>
                    <a:pt x="349" y="716"/>
                  </a:lnTo>
                  <a:lnTo>
                    <a:pt x="348" y="713"/>
                  </a:lnTo>
                  <a:lnTo>
                    <a:pt x="347" y="710"/>
                  </a:lnTo>
                  <a:lnTo>
                    <a:pt x="347" y="708"/>
                  </a:lnTo>
                  <a:lnTo>
                    <a:pt x="347" y="704"/>
                  </a:lnTo>
                  <a:lnTo>
                    <a:pt x="348" y="702"/>
                  </a:lnTo>
                  <a:lnTo>
                    <a:pt x="349" y="699"/>
                  </a:lnTo>
                  <a:lnTo>
                    <a:pt x="351" y="696"/>
                  </a:lnTo>
                  <a:lnTo>
                    <a:pt x="354" y="695"/>
                  </a:lnTo>
                  <a:lnTo>
                    <a:pt x="356" y="693"/>
                  </a:lnTo>
                  <a:lnTo>
                    <a:pt x="359" y="693"/>
                  </a:lnTo>
                  <a:lnTo>
                    <a:pt x="362" y="692"/>
                  </a:lnTo>
                  <a:lnTo>
                    <a:pt x="513" y="692"/>
                  </a:lnTo>
                  <a:lnTo>
                    <a:pt x="515" y="693"/>
                  </a:lnTo>
                  <a:lnTo>
                    <a:pt x="519" y="693"/>
                  </a:lnTo>
                  <a:lnTo>
                    <a:pt x="521" y="695"/>
                  </a:lnTo>
                  <a:lnTo>
                    <a:pt x="523" y="696"/>
                  </a:lnTo>
                  <a:lnTo>
                    <a:pt x="525" y="699"/>
                  </a:lnTo>
                  <a:lnTo>
                    <a:pt x="526" y="702"/>
                  </a:lnTo>
                  <a:lnTo>
                    <a:pt x="528" y="704"/>
                  </a:lnTo>
                  <a:lnTo>
                    <a:pt x="528" y="708"/>
                  </a:lnTo>
                  <a:lnTo>
                    <a:pt x="528" y="710"/>
                  </a:lnTo>
                  <a:lnTo>
                    <a:pt x="526" y="713"/>
                  </a:lnTo>
                  <a:lnTo>
                    <a:pt x="525" y="716"/>
                  </a:lnTo>
                  <a:lnTo>
                    <a:pt x="523" y="718"/>
                  </a:lnTo>
                  <a:lnTo>
                    <a:pt x="521" y="720"/>
                  </a:lnTo>
                  <a:lnTo>
                    <a:pt x="519" y="721"/>
                  </a:lnTo>
                  <a:lnTo>
                    <a:pt x="515" y="722"/>
                  </a:lnTo>
                  <a:lnTo>
                    <a:pt x="513" y="722"/>
                  </a:lnTo>
                  <a:close/>
                  <a:moveTo>
                    <a:pt x="312" y="326"/>
                  </a:moveTo>
                  <a:lnTo>
                    <a:pt x="237" y="402"/>
                  </a:lnTo>
                  <a:lnTo>
                    <a:pt x="232" y="405"/>
                  </a:lnTo>
                  <a:lnTo>
                    <a:pt x="226" y="406"/>
                  </a:lnTo>
                  <a:lnTo>
                    <a:pt x="220" y="405"/>
                  </a:lnTo>
                  <a:lnTo>
                    <a:pt x="216" y="402"/>
                  </a:lnTo>
                  <a:lnTo>
                    <a:pt x="200" y="387"/>
                  </a:lnTo>
                  <a:lnTo>
                    <a:pt x="199" y="385"/>
                  </a:lnTo>
                  <a:lnTo>
                    <a:pt x="198" y="381"/>
                  </a:lnTo>
                  <a:lnTo>
                    <a:pt x="197" y="379"/>
                  </a:lnTo>
                  <a:lnTo>
                    <a:pt x="197" y="376"/>
                  </a:lnTo>
                  <a:lnTo>
                    <a:pt x="197" y="373"/>
                  </a:lnTo>
                  <a:lnTo>
                    <a:pt x="198" y="370"/>
                  </a:lnTo>
                  <a:lnTo>
                    <a:pt x="199" y="368"/>
                  </a:lnTo>
                  <a:lnTo>
                    <a:pt x="200" y="365"/>
                  </a:lnTo>
                  <a:lnTo>
                    <a:pt x="203" y="363"/>
                  </a:lnTo>
                  <a:lnTo>
                    <a:pt x="206" y="362"/>
                  </a:lnTo>
                  <a:lnTo>
                    <a:pt x="208" y="361"/>
                  </a:lnTo>
                  <a:lnTo>
                    <a:pt x="211" y="361"/>
                  </a:lnTo>
                  <a:lnTo>
                    <a:pt x="214" y="361"/>
                  </a:lnTo>
                  <a:lnTo>
                    <a:pt x="217" y="362"/>
                  </a:lnTo>
                  <a:lnTo>
                    <a:pt x="219" y="363"/>
                  </a:lnTo>
                  <a:lnTo>
                    <a:pt x="221" y="365"/>
                  </a:lnTo>
                  <a:lnTo>
                    <a:pt x="226" y="370"/>
                  </a:lnTo>
                  <a:lnTo>
                    <a:pt x="290" y="306"/>
                  </a:lnTo>
                  <a:lnTo>
                    <a:pt x="294" y="303"/>
                  </a:lnTo>
                  <a:lnTo>
                    <a:pt x="296" y="302"/>
                  </a:lnTo>
                  <a:lnTo>
                    <a:pt x="298" y="301"/>
                  </a:lnTo>
                  <a:lnTo>
                    <a:pt x="302" y="301"/>
                  </a:lnTo>
                  <a:lnTo>
                    <a:pt x="304" y="301"/>
                  </a:lnTo>
                  <a:lnTo>
                    <a:pt x="307" y="302"/>
                  </a:lnTo>
                  <a:lnTo>
                    <a:pt x="310" y="303"/>
                  </a:lnTo>
                  <a:lnTo>
                    <a:pt x="312" y="306"/>
                  </a:lnTo>
                  <a:lnTo>
                    <a:pt x="314" y="308"/>
                  </a:lnTo>
                  <a:lnTo>
                    <a:pt x="315" y="310"/>
                  </a:lnTo>
                  <a:lnTo>
                    <a:pt x="316" y="312"/>
                  </a:lnTo>
                  <a:lnTo>
                    <a:pt x="316" y="316"/>
                  </a:lnTo>
                  <a:lnTo>
                    <a:pt x="316" y="319"/>
                  </a:lnTo>
                  <a:lnTo>
                    <a:pt x="315" y="321"/>
                  </a:lnTo>
                  <a:lnTo>
                    <a:pt x="314" y="324"/>
                  </a:lnTo>
                  <a:lnTo>
                    <a:pt x="312" y="326"/>
                  </a:lnTo>
                  <a:close/>
                  <a:moveTo>
                    <a:pt x="312" y="477"/>
                  </a:moveTo>
                  <a:lnTo>
                    <a:pt x="237" y="552"/>
                  </a:lnTo>
                  <a:lnTo>
                    <a:pt x="232" y="555"/>
                  </a:lnTo>
                  <a:lnTo>
                    <a:pt x="226" y="556"/>
                  </a:lnTo>
                  <a:lnTo>
                    <a:pt x="220" y="555"/>
                  </a:lnTo>
                  <a:lnTo>
                    <a:pt x="216" y="552"/>
                  </a:lnTo>
                  <a:lnTo>
                    <a:pt x="200" y="537"/>
                  </a:lnTo>
                  <a:lnTo>
                    <a:pt x="199" y="535"/>
                  </a:lnTo>
                  <a:lnTo>
                    <a:pt x="198" y="533"/>
                  </a:lnTo>
                  <a:lnTo>
                    <a:pt x="197" y="529"/>
                  </a:lnTo>
                  <a:lnTo>
                    <a:pt x="197" y="527"/>
                  </a:lnTo>
                  <a:lnTo>
                    <a:pt x="197" y="524"/>
                  </a:lnTo>
                  <a:lnTo>
                    <a:pt x="198" y="521"/>
                  </a:lnTo>
                  <a:lnTo>
                    <a:pt x="199" y="518"/>
                  </a:lnTo>
                  <a:lnTo>
                    <a:pt x="200" y="516"/>
                  </a:lnTo>
                  <a:lnTo>
                    <a:pt x="203" y="514"/>
                  </a:lnTo>
                  <a:lnTo>
                    <a:pt x="206" y="512"/>
                  </a:lnTo>
                  <a:lnTo>
                    <a:pt x="208" y="512"/>
                  </a:lnTo>
                  <a:lnTo>
                    <a:pt x="211" y="511"/>
                  </a:lnTo>
                  <a:lnTo>
                    <a:pt x="214" y="512"/>
                  </a:lnTo>
                  <a:lnTo>
                    <a:pt x="217" y="512"/>
                  </a:lnTo>
                  <a:lnTo>
                    <a:pt x="219" y="514"/>
                  </a:lnTo>
                  <a:lnTo>
                    <a:pt x="221" y="516"/>
                  </a:lnTo>
                  <a:lnTo>
                    <a:pt x="226" y="520"/>
                  </a:lnTo>
                  <a:lnTo>
                    <a:pt x="290" y="456"/>
                  </a:lnTo>
                  <a:lnTo>
                    <a:pt x="294" y="454"/>
                  </a:lnTo>
                  <a:lnTo>
                    <a:pt x="296" y="452"/>
                  </a:lnTo>
                  <a:lnTo>
                    <a:pt x="298" y="451"/>
                  </a:lnTo>
                  <a:lnTo>
                    <a:pt x="302" y="451"/>
                  </a:lnTo>
                  <a:lnTo>
                    <a:pt x="304" y="451"/>
                  </a:lnTo>
                  <a:lnTo>
                    <a:pt x="307" y="452"/>
                  </a:lnTo>
                  <a:lnTo>
                    <a:pt x="310" y="454"/>
                  </a:lnTo>
                  <a:lnTo>
                    <a:pt x="312" y="456"/>
                  </a:lnTo>
                  <a:lnTo>
                    <a:pt x="314" y="458"/>
                  </a:lnTo>
                  <a:lnTo>
                    <a:pt x="315" y="460"/>
                  </a:lnTo>
                  <a:lnTo>
                    <a:pt x="316" y="464"/>
                  </a:lnTo>
                  <a:lnTo>
                    <a:pt x="316" y="466"/>
                  </a:lnTo>
                  <a:lnTo>
                    <a:pt x="316" y="469"/>
                  </a:lnTo>
                  <a:lnTo>
                    <a:pt x="315" y="472"/>
                  </a:lnTo>
                  <a:lnTo>
                    <a:pt x="314" y="475"/>
                  </a:lnTo>
                  <a:lnTo>
                    <a:pt x="312" y="477"/>
                  </a:lnTo>
                  <a:close/>
                  <a:moveTo>
                    <a:pt x="164" y="236"/>
                  </a:moveTo>
                  <a:lnTo>
                    <a:pt x="162" y="237"/>
                  </a:lnTo>
                  <a:lnTo>
                    <a:pt x="158" y="238"/>
                  </a:lnTo>
                  <a:lnTo>
                    <a:pt x="157" y="238"/>
                  </a:lnTo>
                  <a:lnTo>
                    <a:pt x="155" y="238"/>
                  </a:lnTo>
                  <a:lnTo>
                    <a:pt x="153" y="239"/>
                  </a:lnTo>
                  <a:lnTo>
                    <a:pt x="151" y="239"/>
                  </a:lnTo>
                  <a:lnTo>
                    <a:pt x="151" y="180"/>
                  </a:lnTo>
                  <a:lnTo>
                    <a:pt x="217" y="180"/>
                  </a:lnTo>
                  <a:lnTo>
                    <a:pt x="214" y="188"/>
                  </a:lnTo>
                  <a:lnTo>
                    <a:pt x="208" y="197"/>
                  </a:lnTo>
                  <a:lnTo>
                    <a:pt x="203" y="205"/>
                  </a:lnTo>
                  <a:lnTo>
                    <a:pt x="197" y="212"/>
                  </a:lnTo>
                  <a:lnTo>
                    <a:pt x="190" y="220"/>
                  </a:lnTo>
                  <a:lnTo>
                    <a:pt x="182" y="225"/>
                  </a:lnTo>
                  <a:lnTo>
                    <a:pt x="173" y="231"/>
                  </a:lnTo>
                  <a:lnTo>
                    <a:pt x="164" y="236"/>
                  </a:lnTo>
                  <a:close/>
                  <a:moveTo>
                    <a:pt x="121" y="166"/>
                  </a:moveTo>
                  <a:lnTo>
                    <a:pt x="121" y="256"/>
                  </a:lnTo>
                  <a:lnTo>
                    <a:pt x="121" y="601"/>
                  </a:lnTo>
                  <a:lnTo>
                    <a:pt x="31" y="601"/>
                  </a:lnTo>
                  <a:lnTo>
                    <a:pt x="31" y="135"/>
                  </a:lnTo>
                  <a:lnTo>
                    <a:pt x="31" y="125"/>
                  </a:lnTo>
                  <a:lnTo>
                    <a:pt x="33" y="115"/>
                  </a:lnTo>
                  <a:lnTo>
                    <a:pt x="35" y="105"/>
                  </a:lnTo>
                  <a:lnTo>
                    <a:pt x="39" y="94"/>
                  </a:lnTo>
                  <a:lnTo>
                    <a:pt x="43" y="85"/>
                  </a:lnTo>
                  <a:lnTo>
                    <a:pt x="48" y="77"/>
                  </a:lnTo>
                  <a:lnTo>
                    <a:pt x="53" y="68"/>
                  </a:lnTo>
                  <a:lnTo>
                    <a:pt x="60" y="62"/>
                  </a:lnTo>
                  <a:lnTo>
                    <a:pt x="67" y="55"/>
                  </a:lnTo>
                  <a:lnTo>
                    <a:pt x="75" y="48"/>
                  </a:lnTo>
                  <a:lnTo>
                    <a:pt x="83" y="42"/>
                  </a:lnTo>
                  <a:lnTo>
                    <a:pt x="92" y="38"/>
                  </a:lnTo>
                  <a:lnTo>
                    <a:pt x="101" y="35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5" y="30"/>
                  </a:lnTo>
                  <a:lnTo>
                    <a:pt x="150" y="36"/>
                  </a:lnTo>
                  <a:lnTo>
                    <a:pt x="164" y="41"/>
                  </a:lnTo>
                  <a:lnTo>
                    <a:pt x="176" y="48"/>
                  </a:lnTo>
                  <a:lnTo>
                    <a:pt x="188" y="56"/>
                  </a:lnTo>
                  <a:lnTo>
                    <a:pt x="197" y="63"/>
                  </a:lnTo>
                  <a:lnTo>
                    <a:pt x="205" y="71"/>
                  </a:lnTo>
                  <a:lnTo>
                    <a:pt x="210" y="80"/>
                  </a:lnTo>
                  <a:lnTo>
                    <a:pt x="216" y="88"/>
                  </a:lnTo>
                  <a:lnTo>
                    <a:pt x="220" y="99"/>
                  </a:lnTo>
                  <a:lnTo>
                    <a:pt x="224" y="110"/>
                  </a:lnTo>
                  <a:lnTo>
                    <a:pt x="226" y="123"/>
                  </a:lnTo>
                  <a:lnTo>
                    <a:pt x="226" y="135"/>
                  </a:lnTo>
                  <a:lnTo>
                    <a:pt x="226" y="143"/>
                  </a:lnTo>
                  <a:lnTo>
                    <a:pt x="225" y="150"/>
                  </a:lnTo>
                  <a:lnTo>
                    <a:pt x="136" y="150"/>
                  </a:lnTo>
                  <a:lnTo>
                    <a:pt x="133" y="151"/>
                  </a:lnTo>
                  <a:lnTo>
                    <a:pt x="130" y="151"/>
                  </a:lnTo>
                  <a:lnTo>
                    <a:pt x="128" y="153"/>
                  </a:lnTo>
                  <a:lnTo>
                    <a:pt x="125" y="154"/>
                  </a:lnTo>
                  <a:lnTo>
                    <a:pt x="123" y="156"/>
                  </a:lnTo>
                  <a:lnTo>
                    <a:pt x="122" y="160"/>
                  </a:lnTo>
                  <a:lnTo>
                    <a:pt x="121" y="162"/>
                  </a:lnTo>
                  <a:lnTo>
                    <a:pt x="121" y="166"/>
                  </a:lnTo>
                  <a:close/>
                  <a:moveTo>
                    <a:pt x="587" y="0"/>
                  </a:moveTo>
                  <a:lnTo>
                    <a:pt x="136" y="0"/>
                  </a:lnTo>
                  <a:lnTo>
                    <a:pt x="136" y="0"/>
                  </a:lnTo>
                  <a:lnTo>
                    <a:pt x="135" y="0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1"/>
                  </a:lnTo>
                  <a:lnTo>
                    <a:pt x="104" y="2"/>
                  </a:lnTo>
                  <a:lnTo>
                    <a:pt x="92" y="5"/>
                  </a:lnTo>
                  <a:lnTo>
                    <a:pt x="80" y="11"/>
                  </a:lnTo>
                  <a:lnTo>
                    <a:pt x="69" y="16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1" y="49"/>
                  </a:lnTo>
                  <a:lnTo>
                    <a:pt x="23" y="59"/>
                  </a:lnTo>
                  <a:lnTo>
                    <a:pt x="16" y="71"/>
                  </a:lnTo>
                  <a:lnTo>
                    <a:pt x="10" y="83"/>
                  </a:lnTo>
                  <a:lnTo>
                    <a:pt x="6" y="95"/>
                  </a:lnTo>
                  <a:lnTo>
                    <a:pt x="4" y="108"/>
                  </a:lnTo>
                  <a:lnTo>
                    <a:pt x="1" y="121"/>
                  </a:lnTo>
                  <a:lnTo>
                    <a:pt x="0" y="135"/>
                  </a:lnTo>
                  <a:lnTo>
                    <a:pt x="0" y="617"/>
                  </a:lnTo>
                  <a:lnTo>
                    <a:pt x="1" y="620"/>
                  </a:lnTo>
                  <a:lnTo>
                    <a:pt x="1" y="623"/>
                  </a:lnTo>
                  <a:lnTo>
                    <a:pt x="4" y="625"/>
                  </a:lnTo>
                  <a:lnTo>
                    <a:pt x="5" y="627"/>
                  </a:lnTo>
                  <a:lnTo>
                    <a:pt x="7" y="630"/>
                  </a:lnTo>
                  <a:lnTo>
                    <a:pt x="9" y="631"/>
                  </a:lnTo>
                  <a:lnTo>
                    <a:pt x="13" y="632"/>
                  </a:lnTo>
                  <a:lnTo>
                    <a:pt x="16" y="632"/>
                  </a:lnTo>
                  <a:lnTo>
                    <a:pt x="121" y="632"/>
                  </a:lnTo>
                  <a:lnTo>
                    <a:pt x="121" y="888"/>
                  </a:lnTo>
                  <a:lnTo>
                    <a:pt x="121" y="891"/>
                  </a:lnTo>
                  <a:lnTo>
                    <a:pt x="122" y="894"/>
                  </a:lnTo>
                  <a:lnTo>
                    <a:pt x="123" y="896"/>
                  </a:lnTo>
                  <a:lnTo>
                    <a:pt x="125" y="898"/>
                  </a:lnTo>
                  <a:lnTo>
                    <a:pt x="128" y="901"/>
                  </a:lnTo>
                  <a:lnTo>
                    <a:pt x="130" y="902"/>
                  </a:lnTo>
                  <a:lnTo>
                    <a:pt x="133" y="903"/>
                  </a:lnTo>
                  <a:lnTo>
                    <a:pt x="136" y="903"/>
                  </a:lnTo>
                  <a:lnTo>
                    <a:pt x="587" y="903"/>
                  </a:lnTo>
                  <a:lnTo>
                    <a:pt x="591" y="903"/>
                  </a:lnTo>
                  <a:lnTo>
                    <a:pt x="593" y="902"/>
                  </a:lnTo>
                  <a:lnTo>
                    <a:pt x="596" y="901"/>
                  </a:lnTo>
                  <a:lnTo>
                    <a:pt x="599" y="898"/>
                  </a:lnTo>
                  <a:lnTo>
                    <a:pt x="600" y="896"/>
                  </a:lnTo>
                  <a:lnTo>
                    <a:pt x="602" y="894"/>
                  </a:lnTo>
                  <a:lnTo>
                    <a:pt x="602" y="891"/>
                  </a:lnTo>
                  <a:lnTo>
                    <a:pt x="603" y="888"/>
                  </a:lnTo>
                  <a:lnTo>
                    <a:pt x="603" y="269"/>
                  </a:lnTo>
                  <a:lnTo>
                    <a:pt x="615" y="267"/>
                  </a:lnTo>
                  <a:lnTo>
                    <a:pt x="627" y="264"/>
                  </a:lnTo>
                  <a:lnTo>
                    <a:pt x="638" y="259"/>
                  </a:lnTo>
                  <a:lnTo>
                    <a:pt x="648" y="255"/>
                  </a:lnTo>
                  <a:lnTo>
                    <a:pt x="660" y="248"/>
                  </a:lnTo>
                  <a:lnTo>
                    <a:pt x="670" y="241"/>
                  </a:lnTo>
                  <a:lnTo>
                    <a:pt x="679" y="232"/>
                  </a:lnTo>
                  <a:lnTo>
                    <a:pt x="687" y="224"/>
                  </a:lnTo>
                  <a:lnTo>
                    <a:pt x="695" y="214"/>
                  </a:lnTo>
                  <a:lnTo>
                    <a:pt x="703" y="204"/>
                  </a:lnTo>
                  <a:lnTo>
                    <a:pt x="708" y="194"/>
                  </a:lnTo>
                  <a:lnTo>
                    <a:pt x="714" y="182"/>
                  </a:lnTo>
                  <a:lnTo>
                    <a:pt x="717" y="171"/>
                  </a:lnTo>
                  <a:lnTo>
                    <a:pt x="721" y="160"/>
                  </a:lnTo>
                  <a:lnTo>
                    <a:pt x="723" y="147"/>
                  </a:lnTo>
                  <a:lnTo>
                    <a:pt x="723" y="135"/>
                  </a:lnTo>
                  <a:lnTo>
                    <a:pt x="723" y="121"/>
                  </a:lnTo>
                  <a:lnTo>
                    <a:pt x="721" y="109"/>
                  </a:lnTo>
                  <a:lnTo>
                    <a:pt x="717" y="97"/>
                  </a:lnTo>
                  <a:lnTo>
                    <a:pt x="712" y="84"/>
                  </a:lnTo>
                  <a:lnTo>
                    <a:pt x="706" y="72"/>
                  </a:lnTo>
                  <a:lnTo>
                    <a:pt x="699" y="60"/>
                  </a:lnTo>
                  <a:lnTo>
                    <a:pt x="691" y="50"/>
                  </a:lnTo>
                  <a:lnTo>
                    <a:pt x="682" y="40"/>
                  </a:lnTo>
                  <a:lnTo>
                    <a:pt x="672" y="32"/>
                  </a:lnTo>
                  <a:lnTo>
                    <a:pt x="662" y="23"/>
                  </a:lnTo>
                  <a:lnTo>
                    <a:pt x="651" y="16"/>
                  </a:lnTo>
                  <a:lnTo>
                    <a:pt x="638" y="11"/>
                  </a:lnTo>
                  <a:lnTo>
                    <a:pt x="627" y="6"/>
                  </a:lnTo>
                  <a:lnTo>
                    <a:pt x="613" y="3"/>
                  </a:lnTo>
                  <a:lnTo>
                    <a:pt x="601" y="1"/>
                  </a:lnTo>
                  <a:lnTo>
                    <a:pt x="587" y="0"/>
                  </a:lnTo>
                  <a:lnTo>
                    <a:pt x="58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4605">
              <a:extLst>
                <a:ext uri="{FF2B5EF4-FFF2-40B4-BE49-F238E27FC236}">
                  <a16:creationId xmlns:a16="http://schemas.microsoft.com/office/drawing/2014/main" id="{1D074A71-FBEB-4855-BA1E-068499BF4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66675" cy="128588"/>
            </a:xfrm>
            <a:custGeom>
              <a:avLst/>
              <a:gdLst>
                <a:gd name="T0" fmla="*/ 123 w 210"/>
                <a:gd name="T1" fmla="*/ 1 h 407"/>
                <a:gd name="T2" fmla="*/ 101 w 210"/>
                <a:gd name="T3" fmla="*/ 8 h 407"/>
                <a:gd name="T4" fmla="*/ 82 w 210"/>
                <a:gd name="T5" fmla="*/ 21 h 407"/>
                <a:gd name="T6" fmla="*/ 67 w 210"/>
                <a:gd name="T7" fmla="*/ 37 h 407"/>
                <a:gd name="T8" fmla="*/ 50 w 210"/>
                <a:gd name="T9" fmla="*/ 47 h 407"/>
                <a:gd name="T10" fmla="*/ 33 w 210"/>
                <a:gd name="T11" fmla="*/ 54 h 407"/>
                <a:gd name="T12" fmla="*/ 23 w 210"/>
                <a:gd name="T13" fmla="*/ 61 h 407"/>
                <a:gd name="T14" fmla="*/ 14 w 210"/>
                <a:gd name="T15" fmla="*/ 70 h 407"/>
                <a:gd name="T16" fmla="*/ 7 w 210"/>
                <a:gd name="T17" fmla="*/ 81 h 407"/>
                <a:gd name="T18" fmla="*/ 2 w 210"/>
                <a:gd name="T19" fmla="*/ 95 h 407"/>
                <a:gd name="T20" fmla="*/ 0 w 210"/>
                <a:gd name="T21" fmla="*/ 110 h 407"/>
                <a:gd name="T22" fmla="*/ 0 w 210"/>
                <a:gd name="T23" fmla="*/ 393 h 407"/>
                <a:gd name="T24" fmla="*/ 1 w 210"/>
                <a:gd name="T25" fmla="*/ 398 h 407"/>
                <a:gd name="T26" fmla="*/ 3 w 210"/>
                <a:gd name="T27" fmla="*/ 403 h 407"/>
                <a:gd name="T28" fmla="*/ 9 w 210"/>
                <a:gd name="T29" fmla="*/ 406 h 407"/>
                <a:gd name="T30" fmla="*/ 14 w 210"/>
                <a:gd name="T31" fmla="*/ 407 h 407"/>
                <a:gd name="T32" fmla="*/ 20 w 210"/>
                <a:gd name="T33" fmla="*/ 406 h 407"/>
                <a:gd name="T34" fmla="*/ 24 w 210"/>
                <a:gd name="T35" fmla="*/ 403 h 407"/>
                <a:gd name="T36" fmla="*/ 28 w 210"/>
                <a:gd name="T37" fmla="*/ 398 h 407"/>
                <a:gd name="T38" fmla="*/ 29 w 210"/>
                <a:gd name="T39" fmla="*/ 393 h 407"/>
                <a:gd name="T40" fmla="*/ 30 w 210"/>
                <a:gd name="T41" fmla="*/ 110 h 407"/>
                <a:gd name="T42" fmla="*/ 35 w 210"/>
                <a:gd name="T43" fmla="*/ 95 h 407"/>
                <a:gd name="T44" fmla="*/ 42 w 210"/>
                <a:gd name="T45" fmla="*/ 84 h 407"/>
                <a:gd name="T46" fmla="*/ 54 w 210"/>
                <a:gd name="T47" fmla="*/ 78 h 407"/>
                <a:gd name="T48" fmla="*/ 59 w 210"/>
                <a:gd name="T49" fmla="*/ 331 h 407"/>
                <a:gd name="T50" fmla="*/ 210 w 210"/>
                <a:gd name="T51" fmla="*/ 60 h 407"/>
                <a:gd name="T52" fmla="*/ 209 w 210"/>
                <a:gd name="T53" fmla="*/ 49 h 407"/>
                <a:gd name="T54" fmla="*/ 203 w 210"/>
                <a:gd name="T55" fmla="*/ 39 h 407"/>
                <a:gd name="T56" fmla="*/ 186 w 210"/>
                <a:gd name="T57" fmla="*/ 20 h 407"/>
                <a:gd name="T58" fmla="*/ 162 w 210"/>
                <a:gd name="T59" fmla="*/ 5 h 407"/>
                <a:gd name="T60" fmla="*/ 149 w 210"/>
                <a:gd name="T61" fmla="*/ 1 h 407"/>
                <a:gd name="T62" fmla="*/ 135 w 210"/>
                <a:gd name="T6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10" h="407">
                  <a:moveTo>
                    <a:pt x="135" y="0"/>
                  </a:moveTo>
                  <a:lnTo>
                    <a:pt x="123" y="1"/>
                  </a:lnTo>
                  <a:lnTo>
                    <a:pt x="111" y="3"/>
                  </a:lnTo>
                  <a:lnTo>
                    <a:pt x="101" y="8"/>
                  </a:lnTo>
                  <a:lnTo>
                    <a:pt x="91" y="14"/>
                  </a:lnTo>
                  <a:lnTo>
                    <a:pt x="82" y="21"/>
                  </a:lnTo>
                  <a:lnTo>
                    <a:pt x="74" y="29"/>
                  </a:lnTo>
                  <a:lnTo>
                    <a:pt x="67" y="37"/>
                  </a:lnTo>
                  <a:lnTo>
                    <a:pt x="63" y="45"/>
                  </a:lnTo>
                  <a:lnTo>
                    <a:pt x="50" y="47"/>
                  </a:lnTo>
                  <a:lnTo>
                    <a:pt x="39" y="52"/>
                  </a:lnTo>
                  <a:lnTo>
                    <a:pt x="33" y="54"/>
                  </a:lnTo>
                  <a:lnTo>
                    <a:pt x="28" y="57"/>
                  </a:lnTo>
                  <a:lnTo>
                    <a:pt x="23" y="61"/>
                  </a:lnTo>
                  <a:lnTo>
                    <a:pt x="19" y="65"/>
                  </a:lnTo>
                  <a:lnTo>
                    <a:pt x="14" y="70"/>
                  </a:lnTo>
                  <a:lnTo>
                    <a:pt x="11" y="75"/>
                  </a:lnTo>
                  <a:lnTo>
                    <a:pt x="7" y="81"/>
                  </a:lnTo>
                  <a:lnTo>
                    <a:pt x="4" y="88"/>
                  </a:lnTo>
                  <a:lnTo>
                    <a:pt x="2" y="95"/>
                  </a:lnTo>
                  <a:lnTo>
                    <a:pt x="1" y="102"/>
                  </a:lnTo>
                  <a:lnTo>
                    <a:pt x="0" y="110"/>
                  </a:lnTo>
                  <a:lnTo>
                    <a:pt x="0" y="119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1" y="398"/>
                  </a:lnTo>
                  <a:lnTo>
                    <a:pt x="2" y="401"/>
                  </a:lnTo>
                  <a:lnTo>
                    <a:pt x="3" y="403"/>
                  </a:lnTo>
                  <a:lnTo>
                    <a:pt x="5" y="405"/>
                  </a:lnTo>
                  <a:lnTo>
                    <a:pt x="9" y="406"/>
                  </a:lnTo>
                  <a:lnTo>
                    <a:pt x="11" y="407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20" y="406"/>
                  </a:lnTo>
                  <a:lnTo>
                    <a:pt x="22" y="405"/>
                  </a:lnTo>
                  <a:lnTo>
                    <a:pt x="24" y="403"/>
                  </a:lnTo>
                  <a:lnTo>
                    <a:pt x="27" y="401"/>
                  </a:lnTo>
                  <a:lnTo>
                    <a:pt x="28" y="398"/>
                  </a:lnTo>
                  <a:lnTo>
                    <a:pt x="29" y="395"/>
                  </a:lnTo>
                  <a:lnTo>
                    <a:pt x="29" y="393"/>
                  </a:lnTo>
                  <a:lnTo>
                    <a:pt x="29" y="119"/>
                  </a:lnTo>
                  <a:lnTo>
                    <a:pt x="30" y="110"/>
                  </a:lnTo>
                  <a:lnTo>
                    <a:pt x="31" y="101"/>
                  </a:lnTo>
                  <a:lnTo>
                    <a:pt x="35" y="95"/>
                  </a:lnTo>
                  <a:lnTo>
                    <a:pt x="38" y="89"/>
                  </a:lnTo>
                  <a:lnTo>
                    <a:pt x="42" y="84"/>
                  </a:lnTo>
                  <a:lnTo>
                    <a:pt x="48" y="81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59" y="331"/>
                  </a:lnTo>
                  <a:lnTo>
                    <a:pt x="210" y="331"/>
                  </a:lnTo>
                  <a:lnTo>
                    <a:pt x="210" y="60"/>
                  </a:lnTo>
                  <a:lnTo>
                    <a:pt x="210" y="55"/>
                  </a:lnTo>
                  <a:lnTo>
                    <a:pt x="209" y="49"/>
                  </a:lnTo>
                  <a:lnTo>
                    <a:pt x="206" y="45"/>
                  </a:lnTo>
                  <a:lnTo>
                    <a:pt x="203" y="39"/>
                  </a:lnTo>
                  <a:lnTo>
                    <a:pt x="196" y="29"/>
                  </a:lnTo>
                  <a:lnTo>
                    <a:pt x="186" y="20"/>
                  </a:lnTo>
                  <a:lnTo>
                    <a:pt x="175" y="12"/>
                  </a:lnTo>
                  <a:lnTo>
                    <a:pt x="162" y="5"/>
                  </a:lnTo>
                  <a:lnTo>
                    <a:pt x="155" y="3"/>
                  </a:lnTo>
                  <a:lnTo>
                    <a:pt x="149" y="1"/>
                  </a:lnTo>
                  <a:lnTo>
                    <a:pt x="142" y="0"/>
                  </a:lnTo>
                  <a:lnTo>
                    <a:pt x="13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4606">
              <a:extLst>
                <a:ext uri="{FF2B5EF4-FFF2-40B4-BE49-F238E27FC236}">
                  <a16:creationId xmlns:a16="http://schemas.microsoft.com/office/drawing/2014/main" id="{BD829E04-6F8B-4CD1-B1AB-1428DE5AC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8050" y="4913313"/>
              <a:ext cx="47625" cy="28575"/>
            </a:xfrm>
            <a:custGeom>
              <a:avLst/>
              <a:gdLst>
                <a:gd name="T0" fmla="*/ 0 w 151"/>
                <a:gd name="T1" fmla="*/ 14 h 90"/>
                <a:gd name="T2" fmla="*/ 0 w 151"/>
                <a:gd name="T3" fmla="*/ 22 h 90"/>
                <a:gd name="T4" fmla="*/ 2 w 151"/>
                <a:gd name="T5" fmla="*/ 29 h 90"/>
                <a:gd name="T6" fmla="*/ 4 w 151"/>
                <a:gd name="T7" fmla="*/ 37 h 90"/>
                <a:gd name="T8" fmla="*/ 6 w 151"/>
                <a:gd name="T9" fmla="*/ 44 h 90"/>
                <a:gd name="T10" fmla="*/ 9 w 151"/>
                <a:gd name="T11" fmla="*/ 50 h 90"/>
                <a:gd name="T12" fmla="*/ 14 w 151"/>
                <a:gd name="T13" fmla="*/ 56 h 90"/>
                <a:gd name="T14" fmla="*/ 18 w 151"/>
                <a:gd name="T15" fmla="*/ 62 h 90"/>
                <a:gd name="T16" fmla="*/ 23 w 151"/>
                <a:gd name="T17" fmla="*/ 67 h 90"/>
                <a:gd name="T18" fmla="*/ 29 w 151"/>
                <a:gd name="T19" fmla="*/ 72 h 90"/>
                <a:gd name="T20" fmla="*/ 34 w 151"/>
                <a:gd name="T21" fmla="*/ 76 h 90"/>
                <a:gd name="T22" fmla="*/ 40 w 151"/>
                <a:gd name="T23" fmla="*/ 81 h 90"/>
                <a:gd name="T24" fmla="*/ 47 w 151"/>
                <a:gd name="T25" fmla="*/ 84 h 90"/>
                <a:gd name="T26" fmla="*/ 54 w 151"/>
                <a:gd name="T27" fmla="*/ 87 h 90"/>
                <a:gd name="T28" fmla="*/ 61 w 151"/>
                <a:gd name="T29" fmla="*/ 89 h 90"/>
                <a:gd name="T30" fmla="*/ 68 w 151"/>
                <a:gd name="T31" fmla="*/ 90 h 90"/>
                <a:gd name="T32" fmla="*/ 76 w 151"/>
                <a:gd name="T33" fmla="*/ 90 h 90"/>
                <a:gd name="T34" fmla="*/ 83 w 151"/>
                <a:gd name="T35" fmla="*/ 90 h 90"/>
                <a:gd name="T36" fmla="*/ 90 w 151"/>
                <a:gd name="T37" fmla="*/ 89 h 90"/>
                <a:gd name="T38" fmla="*/ 96 w 151"/>
                <a:gd name="T39" fmla="*/ 87 h 90"/>
                <a:gd name="T40" fmla="*/ 103 w 151"/>
                <a:gd name="T41" fmla="*/ 83 h 90"/>
                <a:gd name="T42" fmla="*/ 109 w 151"/>
                <a:gd name="T43" fmla="*/ 80 h 90"/>
                <a:gd name="T44" fmla="*/ 116 w 151"/>
                <a:gd name="T45" fmla="*/ 76 h 90"/>
                <a:gd name="T46" fmla="*/ 121 w 151"/>
                <a:gd name="T47" fmla="*/ 71 h 90"/>
                <a:gd name="T48" fmla="*/ 127 w 151"/>
                <a:gd name="T49" fmla="*/ 65 h 90"/>
                <a:gd name="T50" fmla="*/ 131 w 151"/>
                <a:gd name="T51" fmla="*/ 60 h 90"/>
                <a:gd name="T52" fmla="*/ 137 w 151"/>
                <a:gd name="T53" fmla="*/ 53 h 90"/>
                <a:gd name="T54" fmla="*/ 140 w 151"/>
                <a:gd name="T55" fmla="*/ 45 h 90"/>
                <a:gd name="T56" fmla="*/ 144 w 151"/>
                <a:gd name="T57" fmla="*/ 37 h 90"/>
                <a:gd name="T58" fmla="*/ 147 w 151"/>
                <a:gd name="T59" fmla="*/ 29 h 90"/>
                <a:gd name="T60" fmla="*/ 150 w 151"/>
                <a:gd name="T61" fmla="*/ 20 h 90"/>
                <a:gd name="T62" fmla="*/ 151 w 151"/>
                <a:gd name="T63" fmla="*/ 10 h 90"/>
                <a:gd name="T64" fmla="*/ 151 w 151"/>
                <a:gd name="T65" fmla="*/ 0 h 90"/>
                <a:gd name="T66" fmla="*/ 0 w 151"/>
                <a:gd name="T67" fmla="*/ 0 h 90"/>
                <a:gd name="T68" fmla="*/ 0 w 151"/>
                <a:gd name="T69" fmla="*/ 1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90">
                  <a:moveTo>
                    <a:pt x="0" y="14"/>
                  </a:moveTo>
                  <a:lnTo>
                    <a:pt x="0" y="22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6" y="44"/>
                  </a:lnTo>
                  <a:lnTo>
                    <a:pt x="9" y="50"/>
                  </a:lnTo>
                  <a:lnTo>
                    <a:pt x="14" y="56"/>
                  </a:lnTo>
                  <a:lnTo>
                    <a:pt x="18" y="62"/>
                  </a:lnTo>
                  <a:lnTo>
                    <a:pt x="23" y="67"/>
                  </a:lnTo>
                  <a:lnTo>
                    <a:pt x="29" y="72"/>
                  </a:lnTo>
                  <a:lnTo>
                    <a:pt x="34" y="76"/>
                  </a:lnTo>
                  <a:lnTo>
                    <a:pt x="40" y="81"/>
                  </a:lnTo>
                  <a:lnTo>
                    <a:pt x="47" y="84"/>
                  </a:lnTo>
                  <a:lnTo>
                    <a:pt x="54" y="87"/>
                  </a:lnTo>
                  <a:lnTo>
                    <a:pt x="61" y="89"/>
                  </a:lnTo>
                  <a:lnTo>
                    <a:pt x="68" y="90"/>
                  </a:lnTo>
                  <a:lnTo>
                    <a:pt x="76" y="90"/>
                  </a:lnTo>
                  <a:lnTo>
                    <a:pt x="83" y="90"/>
                  </a:lnTo>
                  <a:lnTo>
                    <a:pt x="90" y="89"/>
                  </a:lnTo>
                  <a:lnTo>
                    <a:pt x="96" y="87"/>
                  </a:lnTo>
                  <a:lnTo>
                    <a:pt x="103" y="83"/>
                  </a:lnTo>
                  <a:lnTo>
                    <a:pt x="109" y="80"/>
                  </a:lnTo>
                  <a:lnTo>
                    <a:pt x="116" y="76"/>
                  </a:lnTo>
                  <a:lnTo>
                    <a:pt x="121" y="71"/>
                  </a:lnTo>
                  <a:lnTo>
                    <a:pt x="127" y="65"/>
                  </a:lnTo>
                  <a:lnTo>
                    <a:pt x="131" y="60"/>
                  </a:lnTo>
                  <a:lnTo>
                    <a:pt x="137" y="53"/>
                  </a:lnTo>
                  <a:lnTo>
                    <a:pt x="140" y="45"/>
                  </a:lnTo>
                  <a:lnTo>
                    <a:pt x="144" y="37"/>
                  </a:lnTo>
                  <a:lnTo>
                    <a:pt x="147" y="29"/>
                  </a:lnTo>
                  <a:lnTo>
                    <a:pt x="150" y="20"/>
                  </a:lnTo>
                  <a:lnTo>
                    <a:pt x="151" y="10"/>
                  </a:lnTo>
                  <a:lnTo>
                    <a:pt x="151" y="0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Rectangle 4607">
              <a:extLst>
                <a:ext uri="{FF2B5EF4-FFF2-40B4-BE49-F238E27FC236}">
                  <a16:creationId xmlns:a16="http://schemas.microsoft.com/office/drawing/2014/main" id="{99EDB192-0D59-41C6-AD02-EC166F03C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50" y="4837113"/>
              <a:ext cx="47625" cy="666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2" name="Group 81" descr="Icon of computer monitor. ">
            <a:extLst>
              <a:ext uri="{FF2B5EF4-FFF2-40B4-BE49-F238E27FC236}">
                <a16:creationId xmlns:a16="http://schemas.microsoft.com/office/drawing/2014/main" id="{9418C6B8-1E51-409C-A0E5-16AE173CE45B}"/>
              </a:ext>
            </a:extLst>
          </p:cNvPr>
          <p:cNvGrpSpPr/>
          <p:nvPr/>
        </p:nvGrpSpPr>
        <p:grpSpPr>
          <a:xfrm>
            <a:off x="3133330" y="1382471"/>
            <a:ext cx="287338" cy="258762"/>
            <a:chOff x="879475" y="817563"/>
            <a:chExt cx="287338" cy="258762"/>
          </a:xfrm>
          <a:solidFill>
            <a:schemeClr val="bg1"/>
          </a:solidFill>
        </p:grpSpPr>
        <p:sp>
          <p:nvSpPr>
            <p:cNvPr id="83" name="Freeform 1593">
              <a:extLst>
                <a:ext uri="{FF2B5EF4-FFF2-40B4-BE49-F238E27FC236}">
                  <a16:creationId xmlns:a16="http://schemas.microsoft.com/office/drawing/2014/main" id="{671BC17B-6D08-4ADE-B6A7-ECAE4A5EA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" y="817563"/>
              <a:ext cx="287338" cy="171450"/>
            </a:xfrm>
            <a:custGeom>
              <a:avLst/>
              <a:gdLst>
                <a:gd name="T0" fmla="*/ 829 w 904"/>
                <a:gd name="T1" fmla="*/ 0 h 544"/>
                <a:gd name="T2" fmla="*/ 75 w 904"/>
                <a:gd name="T3" fmla="*/ 0 h 544"/>
                <a:gd name="T4" fmla="*/ 67 w 904"/>
                <a:gd name="T5" fmla="*/ 2 h 544"/>
                <a:gd name="T6" fmla="*/ 59 w 904"/>
                <a:gd name="T7" fmla="*/ 3 h 544"/>
                <a:gd name="T8" fmla="*/ 53 w 904"/>
                <a:gd name="T9" fmla="*/ 4 h 544"/>
                <a:gd name="T10" fmla="*/ 46 w 904"/>
                <a:gd name="T11" fmla="*/ 7 h 544"/>
                <a:gd name="T12" fmla="*/ 40 w 904"/>
                <a:gd name="T13" fmla="*/ 10 h 544"/>
                <a:gd name="T14" fmla="*/ 33 w 904"/>
                <a:gd name="T15" fmla="*/ 14 h 544"/>
                <a:gd name="T16" fmla="*/ 27 w 904"/>
                <a:gd name="T17" fmla="*/ 18 h 544"/>
                <a:gd name="T18" fmla="*/ 22 w 904"/>
                <a:gd name="T19" fmla="*/ 23 h 544"/>
                <a:gd name="T20" fmla="*/ 16 w 904"/>
                <a:gd name="T21" fmla="*/ 28 h 544"/>
                <a:gd name="T22" fmla="*/ 12 w 904"/>
                <a:gd name="T23" fmla="*/ 34 h 544"/>
                <a:gd name="T24" fmla="*/ 9 w 904"/>
                <a:gd name="T25" fmla="*/ 40 h 544"/>
                <a:gd name="T26" fmla="*/ 5 w 904"/>
                <a:gd name="T27" fmla="*/ 47 h 544"/>
                <a:gd name="T28" fmla="*/ 3 w 904"/>
                <a:gd name="T29" fmla="*/ 54 h 544"/>
                <a:gd name="T30" fmla="*/ 1 w 904"/>
                <a:gd name="T31" fmla="*/ 61 h 544"/>
                <a:gd name="T32" fmla="*/ 0 w 904"/>
                <a:gd name="T33" fmla="*/ 69 h 544"/>
                <a:gd name="T34" fmla="*/ 0 w 904"/>
                <a:gd name="T35" fmla="*/ 77 h 544"/>
                <a:gd name="T36" fmla="*/ 0 w 904"/>
                <a:gd name="T37" fmla="*/ 544 h 544"/>
                <a:gd name="T38" fmla="*/ 904 w 904"/>
                <a:gd name="T39" fmla="*/ 544 h 544"/>
                <a:gd name="T40" fmla="*/ 904 w 904"/>
                <a:gd name="T41" fmla="*/ 77 h 544"/>
                <a:gd name="T42" fmla="*/ 904 w 904"/>
                <a:gd name="T43" fmla="*/ 69 h 544"/>
                <a:gd name="T44" fmla="*/ 903 w 904"/>
                <a:gd name="T45" fmla="*/ 61 h 544"/>
                <a:gd name="T46" fmla="*/ 901 w 904"/>
                <a:gd name="T47" fmla="*/ 54 h 544"/>
                <a:gd name="T48" fmla="*/ 899 w 904"/>
                <a:gd name="T49" fmla="*/ 47 h 544"/>
                <a:gd name="T50" fmla="*/ 896 w 904"/>
                <a:gd name="T51" fmla="*/ 40 h 544"/>
                <a:gd name="T52" fmla="*/ 892 w 904"/>
                <a:gd name="T53" fmla="*/ 34 h 544"/>
                <a:gd name="T54" fmla="*/ 888 w 904"/>
                <a:gd name="T55" fmla="*/ 28 h 544"/>
                <a:gd name="T56" fmla="*/ 882 w 904"/>
                <a:gd name="T57" fmla="*/ 23 h 544"/>
                <a:gd name="T58" fmla="*/ 877 w 904"/>
                <a:gd name="T59" fmla="*/ 18 h 544"/>
                <a:gd name="T60" fmla="*/ 871 w 904"/>
                <a:gd name="T61" fmla="*/ 14 h 544"/>
                <a:gd name="T62" fmla="*/ 866 w 904"/>
                <a:gd name="T63" fmla="*/ 10 h 544"/>
                <a:gd name="T64" fmla="*/ 859 w 904"/>
                <a:gd name="T65" fmla="*/ 7 h 544"/>
                <a:gd name="T66" fmla="*/ 851 w 904"/>
                <a:gd name="T67" fmla="*/ 4 h 544"/>
                <a:gd name="T68" fmla="*/ 845 w 904"/>
                <a:gd name="T69" fmla="*/ 3 h 544"/>
                <a:gd name="T70" fmla="*/ 837 w 904"/>
                <a:gd name="T71" fmla="*/ 2 h 544"/>
                <a:gd name="T72" fmla="*/ 829 w 904"/>
                <a:gd name="T73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04" h="544">
                  <a:moveTo>
                    <a:pt x="829" y="0"/>
                  </a:moveTo>
                  <a:lnTo>
                    <a:pt x="75" y="0"/>
                  </a:lnTo>
                  <a:lnTo>
                    <a:pt x="67" y="2"/>
                  </a:lnTo>
                  <a:lnTo>
                    <a:pt x="59" y="3"/>
                  </a:lnTo>
                  <a:lnTo>
                    <a:pt x="53" y="4"/>
                  </a:lnTo>
                  <a:lnTo>
                    <a:pt x="46" y="7"/>
                  </a:lnTo>
                  <a:lnTo>
                    <a:pt x="40" y="10"/>
                  </a:lnTo>
                  <a:lnTo>
                    <a:pt x="33" y="14"/>
                  </a:lnTo>
                  <a:lnTo>
                    <a:pt x="27" y="18"/>
                  </a:lnTo>
                  <a:lnTo>
                    <a:pt x="22" y="23"/>
                  </a:lnTo>
                  <a:lnTo>
                    <a:pt x="16" y="28"/>
                  </a:lnTo>
                  <a:lnTo>
                    <a:pt x="12" y="34"/>
                  </a:lnTo>
                  <a:lnTo>
                    <a:pt x="9" y="40"/>
                  </a:lnTo>
                  <a:lnTo>
                    <a:pt x="5" y="47"/>
                  </a:lnTo>
                  <a:lnTo>
                    <a:pt x="3" y="54"/>
                  </a:lnTo>
                  <a:lnTo>
                    <a:pt x="1" y="61"/>
                  </a:lnTo>
                  <a:lnTo>
                    <a:pt x="0" y="69"/>
                  </a:lnTo>
                  <a:lnTo>
                    <a:pt x="0" y="77"/>
                  </a:lnTo>
                  <a:lnTo>
                    <a:pt x="0" y="544"/>
                  </a:lnTo>
                  <a:lnTo>
                    <a:pt x="904" y="544"/>
                  </a:lnTo>
                  <a:lnTo>
                    <a:pt x="904" y="77"/>
                  </a:lnTo>
                  <a:lnTo>
                    <a:pt x="904" y="69"/>
                  </a:lnTo>
                  <a:lnTo>
                    <a:pt x="903" y="61"/>
                  </a:lnTo>
                  <a:lnTo>
                    <a:pt x="901" y="54"/>
                  </a:lnTo>
                  <a:lnTo>
                    <a:pt x="899" y="47"/>
                  </a:lnTo>
                  <a:lnTo>
                    <a:pt x="896" y="40"/>
                  </a:lnTo>
                  <a:lnTo>
                    <a:pt x="892" y="34"/>
                  </a:lnTo>
                  <a:lnTo>
                    <a:pt x="888" y="28"/>
                  </a:lnTo>
                  <a:lnTo>
                    <a:pt x="882" y="23"/>
                  </a:lnTo>
                  <a:lnTo>
                    <a:pt x="877" y="18"/>
                  </a:lnTo>
                  <a:lnTo>
                    <a:pt x="871" y="14"/>
                  </a:lnTo>
                  <a:lnTo>
                    <a:pt x="866" y="10"/>
                  </a:lnTo>
                  <a:lnTo>
                    <a:pt x="859" y="7"/>
                  </a:lnTo>
                  <a:lnTo>
                    <a:pt x="851" y="4"/>
                  </a:lnTo>
                  <a:lnTo>
                    <a:pt x="845" y="3"/>
                  </a:lnTo>
                  <a:lnTo>
                    <a:pt x="837" y="2"/>
                  </a:lnTo>
                  <a:lnTo>
                    <a:pt x="8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1594">
              <a:extLst>
                <a:ext uri="{FF2B5EF4-FFF2-40B4-BE49-F238E27FC236}">
                  <a16:creationId xmlns:a16="http://schemas.microsoft.com/office/drawing/2014/main" id="{2A229F37-7B67-4EE7-B334-2F3DE95D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475" y="1000125"/>
              <a:ext cx="287338" cy="76200"/>
            </a:xfrm>
            <a:custGeom>
              <a:avLst/>
              <a:gdLst>
                <a:gd name="T0" fmla="*/ 459 w 904"/>
                <a:gd name="T1" fmla="*/ 29 h 241"/>
                <a:gd name="T2" fmla="*/ 469 w 904"/>
                <a:gd name="T3" fmla="*/ 35 h 241"/>
                <a:gd name="T4" fmla="*/ 478 w 904"/>
                <a:gd name="T5" fmla="*/ 43 h 241"/>
                <a:gd name="T6" fmla="*/ 482 w 904"/>
                <a:gd name="T7" fmla="*/ 54 h 241"/>
                <a:gd name="T8" fmla="*/ 482 w 904"/>
                <a:gd name="T9" fmla="*/ 66 h 241"/>
                <a:gd name="T10" fmla="*/ 478 w 904"/>
                <a:gd name="T11" fmla="*/ 77 h 241"/>
                <a:gd name="T12" fmla="*/ 469 w 904"/>
                <a:gd name="T13" fmla="*/ 85 h 241"/>
                <a:gd name="T14" fmla="*/ 459 w 904"/>
                <a:gd name="T15" fmla="*/ 89 h 241"/>
                <a:gd name="T16" fmla="*/ 447 w 904"/>
                <a:gd name="T17" fmla="*/ 89 h 241"/>
                <a:gd name="T18" fmla="*/ 436 w 904"/>
                <a:gd name="T19" fmla="*/ 85 h 241"/>
                <a:gd name="T20" fmla="*/ 427 w 904"/>
                <a:gd name="T21" fmla="*/ 77 h 241"/>
                <a:gd name="T22" fmla="*/ 422 w 904"/>
                <a:gd name="T23" fmla="*/ 66 h 241"/>
                <a:gd name="T24" fmla="*/ 422 w 904"/>
                <a:gd name="T25" fmla="*/ 54 h 241"/>
                <a:gd name="T26" fmla="*/ 427 w 904"/>
                <a:gd name="T27" fmla="*/ 43 h 241"/>
                <a:gd name="T28" fmla="*/ 436 w 904"/>
                <a:gd name="T29" fmla="*/ 35 h 241"/>
                <a:gd name="T30" fmla="*/ 447 w 904"/>
                <a:gd name="T31" fmla="*/ 31 h 241"/>
                <a:gd name="T32" fmla="*/ 452 w 904"/>
                <a:gd name="T33" fmla="*/ 29 h 241"/>
                <a:gd name="T34" fmla="*/ 0 w 904"/>
                <a:gd name="T35" fmla="*/ 83 h 241"/>
                <a:gd name="T36" fmla="*/ 3 w 904"/>
                <a:gd name="T37" fmla="*/ 97 h 241"/>
                <a:gd name="T38" fmla="*/ 9 w 904"/>
                <a:gd name="T39" fmla="*/ 110 h 241"/>
                <a:gd name="T40" fmla="*/ 16 w 904"/>
                <a:gd name="T41" fmla="*/ 122 h 241"/>
                <a:gd name="T42" fmla="*/ 27 w 904"/>
                <a:gd name="T43" fmla="*/ 132 h 241"/>
                <a:gd name="T44" fmla="*/ 40 w 904"/>
                <a:gd name="T45" fmla="*/ 141 h 241"/>
                <a:gd name="T46" fmla="*/ 53 w 904"/>
                <a:gd name="T47" fmla="*/ 147 h 241"/>
                <a:gd name="T48" fmla="*/ 67 w 904"/>
                <a:gd name="T49" fmla="*/ 150 h 241"/>
                <a:gd name="T50" fmla="*/ 437 w 904"/>
                <a:gd name="T51" fmla="*/ 150 h 241"/>
                <a:gd name="T52" fmla="*/ 195 w 904"/>
                <a:gd name="T53" fmla="*/ 211 h 241"/>
                <a:gd name="T54" fmla="*/ 190 w 904"/>
                <a:gd name="T55" fmla="*/ 212 h 241"/>
                <a:gd name="T56" fmla="*/ 186 w 904"/>
                <a:gd name="T57" fmla="*/ 215 h 241"/>
                <a:gd name="T58" fmla="*/ 182 w 904"/>
                <a:gd name="T59" fmla="*/ 220 h 241"/>
                <a:gd name="T60" fmla="*/ 181 w 904"/>
                <a:gd name="T61" fmla="*/ 225 h 241"/>
                <a:gd name="T62" fmla="*/ 182 w 904"/>
                <a:gd name="T63" fmla="*/ 232 h 241"/>
                <a:gd name="T64" fmla="*/ 186 w 904"/>
                <a:gd name="T65" fmla="*/ 236 h 241"/>
                <a:gd name="T66" fmla="*/ 190 w 904"/>
                <a:gd name="T67" fmla="*/ 240 h 241"/>
                <a:gd name="T68" fmla="*/ 195 w 904"/>
                <a:gd name="T69" fmla="*/ 241 h 241"/>
                <a:gd name="T70" fmla="*/ 742 w 904"/>
                <a:gd name="T71" fmla="*/ 241 h 241"/>
                <a:gd name="T72" fmla="*/ 747 w 904"/>
                <a:gd name="T73" fmla="*/ 239 h 241"/>
                <a:gd name="T74" fmla="*/ 752 w 904"/>
                <a:gd name="T75" fmla="*/ 234 h 241"/>
                <a:gd name="T76" fmla="*/ 754 w 904"/>
                <a:gd name="T77" fmla="*/ 229 h 241"/>
                <a:gd name="T78" fmla="*/ 754 w 904"/>
                <a:gd name="T79" fmla="*/ 223 h 241"/>
                <a:gd name="T80" fmla="*/ 752 w 904"/>
                <a:gd name="T81" fmla="*/ 218 h 241"/>
                <a:gd name="T82" fmla="*/ 747 w 904"/>
                <a:gd name="T83" fmla="*/ 213 h 241"/>
                <a:gd name="T84" fmla="*/ 742 w 904"/>
                <a:gd name="T85" fmla="*/ 211 h 241"/>
                <a:gd name="T86" fmla="*/ 468 w 904"/>
                <a:gd name="T87" fmla="*/ 211 h 241"/>
                <a:gd name="T88" fmla="*/ 829 w 904"/>
                <a:gd name="T89" fmla="*/ 150 h 241"/>
                <a:gd name="T90" fmla="*/ 845 w 904"/>
                <a:gd name="T91" fmla="*/ 149 h 241"/>
                <a:gd name="T92" fmla="*/ 859 w 904"/>
                <a:gd name="T93" fmla="*/ 145 h 241"/>
                <a:gd name="T94" fmla="*/ 871 w 904"/>
                <a:gd name="T95" fmla="*/ 137 h 241"/>
                <a:gd name="T96" fmla="*/ 882 w 904"/>
                <a:gd name="T97" fmla="*/ 128 h 241"/>
                <a:gd name="T98" fmla="*/ 892 w 904"/>
                <a:gd name="T99" fmla="*/ 117 h 241"/>
                <a:gd name="T100" fmla="*/ 899 w 904"/>
                <a:gd name="T101" fmla="*/ 104 h 241"/>
                <a:gd name="T102" fmla="*/ 903 w 904"/>
                <a:gd name="T103" fmla="*/ 90 h 241"/>
                <a:gd name="T104" fmla="*/ 904 w 904"/>
                <a:gd name="T105" fmla="*/ 75 h 241"/>
                <a:gd name="T106" fmla="*/ 0 w 904"/>
                <a:gd name="T10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04" h="241">
                  <a:moveTo>
                    <a:pt x="452" y="29"/>
                  </a:moveTo>
                  <a:lnTo>
                    <a:pt x="459" y="29"/>
                  </a:lnTo>
                  <a:lnTo>
                    <a:pt x="464" y="32"/>
                  </a:lnTo>
                  <a:lnTo>
                    <a:pt x="469" y="35"/>
                  </a:lnTo>
                  <a:lnTo>
                    <a:pt x="473" y="38"/>
                  </a:lnTo>
                  <a:lnTo>
                    <a:pt x="478" y="43"/>
                  </a:lnTo>
                  <a:lnTo>
                    <a:pt x="480" y="48"/>
                  </a:lnTo>
                  <a:lnTo>
                    <a:pt x="482" y="54"/>
                  </a:lnTo>
                  <a:lnTo>
                    <a:pt x="482" y="59"/>
                  </a:lnTo>
                  <a:lnTo>
                    <a:pt x="482" y="66"/>
                  </a:lnTo>
                  <a:lnTo>
                    <a:pt x="480" y="71"/>
                  </a:lnTo>
                  <a:lnTo>
                    <a:pt x="478" y="77"/>
                  </a:lnTo>
                  <a:lnTo>
                    <a:pt x="473" y="81"/>
                  </a:lnTo>
                  <a:lnTo>
                    <a:pt x="469" y="85"/>
                  </a:lnTo>
                  <a:lnTo>
                    <a:pt x="464" y="87"/>
                  </a:lnTo>
                  <a:lnTo>
                    <a:pt x="459" y="89"/>
                  </a:lnTo>
                  <a:lnTo>
                    <a:pt x="452" y="90"/>
                  </a:lnTo>
                  <a:lnTo>
                    <a:pt x="447" y="89"/>
                  </a:lnTo>
                  <a:lnTo>
                    <a:pt x="440" y="87"/>
                  </a:lnTo>
                  <a:lnTo>
                    <a:pt x="436" y="85"/>
                  </a:lnTo>
                  <a:lnTo>
                    <a:pt x="431" y="81"/>
                  </a:lnTo>
                  <a:lnTo>
                    <a:pt x="427" y="77"/>
                  </a:lnTo>
                  <a:lnTo>
                    <a:pt x="424" y="71"/>
                  </a:lnTo>
                  <a:lnTo>
                    <a:pt x="422" y="66"/>
                  </a:lnTo>
                  <a:lnTo>
                    <a:pt x="422" y="59"/>
                  </a:lnTo>
                  <a:lnTo>
                    <a:pt x="422" y="54"/>
                  </a:lnTo>
                  <a:lnTo>
                    <a:pt x="424" y="48"/>
                  </a:lnTo>
                  <a:lnTo>
                    <a:pt x="427" y="43"/>
                  </a:lnTo>
                  <a:lnTo>
                    <a:pt x="431" y="38"/>
                  </a:lnTo>
                  <a:lnTo>
                    <a:pt x="436" y="35"/>
                  </a:lnTo>
                  <a:lnTo>
                    <a:pt x="440" y="32"/>
                  </a:lnTo>
                  <a:lnTo>
                    <a:pt x="447" y="31"/>
                  </a:lnTo>
                  <a:lnTo>
                    <a:pt x="452" y="29"/>
                  </a:lnTo>
                  <a:lnTo>
                    <a:pt x="452" y="29"/>
                  </a:lnTo>
                  <a:close/>
                  <a:moveTo>
                    <a:pt x="0" y="75"/>
                  </a:moveTo>
                  <a:lnTo>
                    <a:pt x="0" y="83"/>
                  </a:lnTo>
                  <a:lnTo>
                    <a:pt x="1" y="90"/>
                  </a:lnTo>
                  <a:lnTo>
                    <a:pt x="3" y="97"/>
                  </a:lnTo>
                  <a:lnTo>
                    <a:pt x="5" y="104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6" y="122"/>
                  </a:lnTo>
                  <a:lnTo>
                    <a:pt x="22" y="128"/>
                  </a:lnTo>
                  <a:lnTo>
                    <a:pt x="27" y="132"/>
                  </a:lnTo>
                  <a:lnTo>
                    <a:pt x="33" y="137"/>
                  </a:lnTo>
                  <a:lnTo>
                    <a:pt x="40" y="141"/>
                  </a:lnTo>
                  <a:lnTo>
                    <a:pt x="46" y="145"/>
                  </a:lnTo>
                  <a:lnTo>
                    <a:pt x="53" y="147"/>
                  </a:lnTo>
                  <a:lnTo>
                    <a:pt x="59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437" y="150"/>
                  </a:lnTo>
                  <a:lnTo>
                    <a:pt x="437" y="211"/>
                  </a:lnTo>
                  <a:lnTo>
                    <a:pt x="195" y="211"/>
                  </a:lnTo>
                  <a:lnTo>
                    <a:pt x="192" y="211"/>
                  </a:lnTo>
                  <a:lnTo>
                    <a:pt x="190" y="212"/>
                  </a:lnTo>
                  <a:lnTo>
                    <a:pt x="188" y="213"/>
                  </a:lnTo>
                  <a:lnTo>
                    <a:pt x="186" y="215"/>
                  </a:lnTo>
                  <a:lnTo>
                    <a:pt x="183" y="218"/>
                  </a:lnTo>
                  <a:lnTo>
                    <a:pt x="182" y="220"/>
                  </a:lnTo>
                  <a:lnTo>
                    <a:pt x="181" y="223"/>
                  </a:lnTo>
                  <a:lnTo>
                    <a:pt x="181" y="225"/>
                  </a:lnTo>
                  <a:lnTo>
                    <a:pt x="181" y="229"/>
                  </a:lnTo>
                  <a:lnTo>
                    <a:pt x="182" y="232"/>
                  </a:lnTo>
                  <a:lnTo>
                    <a:pt x="183" y="234"/>
                  </a:lnTo>
                  <a:lnTo>
                    <a:pt x="186" y="236"/>
                  </a:lnTo>
                  <a:lnTo>
                    <a:pt x="188" y="239"/>
                  </a:lnTo>
                  <a:lnTo>
                    <a:pt x="190" y="240"/>
                  </a:lnTo>
                  <a:lnTo>
                    <a:pt x="192" y="241"/>
                  </a:lnTo>
                  <a:lnTo>
                    <a:pt x="195" y="241"/>
                  </a:lnTo>
                  <a:lnTo>
                    <a:pt x="739" y="241"/>
                  </a:lnTo>
                  <a:lnTo>
                    <a:pt x="742" y="241"/>
                  </a:lnTo>
                  <a:lnTo>
                    <a:pt x="745" y="240"/>
                  </a:lnTo>
                  <a:lnTo>
                    <a:pt x="747" y="239"/>
                  </a:lnTo>
                  <a:lnTo>
                    <a:pt x="750" y="236"/>
                  </a:lnTo>
                  <a:lnTo>
                    <a:pt x="752" y="234"/>
                  </a:lnTo>
                  <a:lnTo>
                    <a:pt x="753" y="232"/>
                  </a:lnTo>
                  <a:lnTo>
                    <a:pt x="754" y="229"/>
                  </a:lnTo>
                  <a:lnTo>
                    <a:pt x="754" y="225"/>
                  </a:lnTo>
                  <a:lnTo>
                    <a:pt x="754" y="223"/>
                  </a:lnTo>
                  <a:lnTo>
                    <a:pt x="753" y="220"/>
                  </a:lnTo>
                  <a:lnTo>
                    <a:pt x="752" y="218"/>
                  </a:lnTo>
                  <a:lnTo>
                    <a:pt x="750" y="215"/>
                  </a:lnTo>
                  <a:lnTo>
                    <a:pt x="747" y="213"/>
                  </a:lnTo>
                  <a:lnTo>
                    <a:pt x="745" y="212"/>
                  </a:lnTo>
                  <a:lnTo>
                    <a:pt x="742" y="211"/>
                  </a:lnTo>
                  <a:lnTo>
                    <a:pt x="739" y="211"/>
                  </a:lnTo>
                  <a:lnTo>
                    <a:pt x="468" y="211"/>
                  </a:lnTo>
                  <a:lnTo>
                    <a:pt x="468" y="150"/>
                  </a:lnTo>
                  <a:lnTo>
                    <a:pt x="829" y="150"/>
                  </a:lnTo>
                  <a:lnTo>
                    <a:pt x="837" y="150"/>
                  </a:lnTo>
                  <a:lnTo>
                    <a:pt x="845" y="149"/>
                  </a:lnTo>
                  <a:lnTo>
                    <a:pt x="851" y="147"/>
                  </a:lnTo>
                  <a:lnTo>
                    <a:pt x="859" y="145"/>
                  </a:lnTo>
                  <a:lnTo>
                    <a:pt x="866" y="141"/>
                  </a:lnTo>
                  <a:lnTo>
                    <a:pt x="871" y="137"/>
                  </a:lnTo>
                  <a:lnTo>
                    <a:pt x="877" y="132"/>
                  </a:lnTo>
                  <a:lnTo>
                    <a:pt x="882" y="128"/>
                  </a:lnTo>
                  <a:lnTo>
                    <a:pt x="888" y="122"/>
                  </a:lnTo>
                  <a:lnTo>
                    <a:pt x="892" y="117"/>
                  </a:lnTo>
                  <a:lnTo>
                    <a:pt x="896" y="110"/>
                  </a:lnTo>
                  <a:lnTo>
                    <a:pt x="899" y="104"/>
                  </a:lnTo>
                  <a:lnTo>
                    <a:pt x="901" y="97"/>
                  </a:lnTo>
                  <a:lnTo>
                    <a:pt x="903" y="90"/>
                  </a:lnTo>
                  <a:lnTo>
                    <a:pt x="904" y="83"/>
                  </a:lnTo>
                  <a:lnTo>
                    <a:pt x="904" y="75"/>
                  </a:lnTo>
                  <a:lnTo>
                    <a:pt x="904" y="0"/>
                  </a:lnTo>
                  <a:lnTo>
                    <a:pt x="0" y="0"/>
                  </a:lnTo>
                  <a:lnTo>
                    <a:pt x="0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5" name="Group 84" descr="Icon of computer monitors.">
            <a:extLst>
              <a:ext uri="{FF2B5EF4-FFF2-40B4-BE49-F238E27FC236}">
                <a16:creationId xmlns:a16="http://schemas.microsoft.com/office/drawing/2014/main" id="{A97EEAA0-CE6D-46A9-9837-67DD5CDA8CE9}"/>
              </a:ext>
            </a:extLst>
          </p:cNvPr>
          <p:cNvGrpSpPr/>
          <p:nvPr/>
        </p:nvGrpSpPr>
        <p:grpSpPr>
          <a:xfrm>
            <a:off x="4277123" y="1359245"/>
            <a:ext cx="287338" cy="258762"/>
            <a:chOff x="304800" y="5129213"/>
            <a:chExt cx="287338" cy="258762"/>
          </a:xfrm>
          <a:solidFill>
            <a:schemeClr val="bg1"/>
          </a:solidFill>
        </p:grpSpPr>
        <p:sp>
          <p:nvSpPr>
            <p:cNvPr id="86" name="Freeform 1630">
              <a:extLst>
                <a:ext uri="{FF2B5EF4-FFF2-40B4-BE49-F238E27FC236}">
                  <a16:creationId xmlns:a16="http://schemas.microsoft.com/office/drawing/2014/main" id="{CD9DD3B0-9FD5-473E-A718-FEFF0355F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224463"/>
              <a:ext cx="134938" cy="38100"/>
            </a:xfrm>
            <a:custGeom>
              <a:avLst/>
              <a:gdLst>
                <a:gd name="T0" fmla="*/ 176 w 423"/>
                <a:gd name="T1" fmla="*/ 120 h 120"/>
                <a:gd name="T2" fmla="*/ 247 w 423"/>
                <a:gd name="T3" fmla="*/ 120 h 120"/>
                <a:gd name="T4" fmla="*/ 252 w 423"/>
                <a:gd name="T5" fmla="*/ 108 h 120"/>
                <a:gd name="T6" fmla="*/ 260 w 423"/>
                <a:gd name="T7" fmla="*/ 97 h 120"/>
                <a:gd name="T8" fmla="*/ 269 w 423"/>
                <a:gd name="T9" fmla="*/ 86 h 120"/>
                <a:gd name="T10" fmla="*/ 280 w 423"/>
                <a:gd name="T11" fmla="*/ 77 h 120"/>
                <a:gd name="T12" fmla="*/ 291 w 423"/>
                <a:gd name="T13" fmla="*/ 71 h 120"/>
                <a:gd name="T14" fmla="*/ 304 w 423"/>
                <a:gd name="T15" fmla="*/ 65 h 120"/>
                <a:gd name="T16" fmla="*/ 311 w 423"/>
                <a:gd name="T17" fmla="*/ 63 h 120"/>
                <a:gd name="T18" fmla="*/ 318 w 423"/>
                <a:gd name="T19" fmla="*/ 62 h 120"/>
                <a:gd name="T20" fmla="*/ 325 w 423"/>
                <a:gd name="T21" fmla="*/ 61 h 120"/>
                <a:gd name="T22" fmla="*/ 332 w 423"/>
                <a:gd name="T23" fmla="*/ 61 h 120"/>
                <a:gd name="T24" fmla="*/ 423 w 423"/>
                <a:gd name="T25" fmla="*/ 61 h 120"/>
                <a:gd name="T26" fmla="*/ 423 w 423"/>
                <a:gd name="T27" fmla="*/ 31 h 120"/>
                <a:gd name="T28" fmla="*/ 423 w 423"/>
                <a:gd name="T29" fmla="*/ 22 h 120"/>
                <a:gd name="T30" fmla="*/ 420 w 423"/>
                <a:gd name="T31" fmla="*/ 14 h 120"/>
                <a:gd name="T32" fmla="*/ 418 w 423"/>
                <a:gd name="T33" fmla="*/ 8 h 120"/>
                <a:gd name="T34" fmla="*/ 415 w 423"/>
                <a:gd name="T35" fmla="*/ 0 h 120"/>
                <a:gd name="T36" fmla="*/ 363 w 423"/>
                <a:gd name="T37" fmla="*/ 0 h 120"/>
                <a:gd name="T38" fmla="*/ 61 w 423"/>
                <a:gd name="T39" fmla="*/ 0 h 120"/>
                <a:gd name="T40" fmla="*/ 9 w 423"/>
                <a:gd name="T41" fmla="*/ 0 h 120"/>
                <a:gd name="T42" fmla="*/ 6 w 423"/>
                <a:gd name="T43" fmla="*/ 8 h 120"/>
                <a:gd name="T44" fmla="*/ 2 w 423"/>
                <a:gd name="T45" fmla="*/ 14 h 120"/>
                <a:gd name="T46" fmla="*/ 1 w 423"/>
                <a:gd name="T47" fmla="*/ 22 h 120"/>
                <a:gd name="T48" fmla="*/ 0 w 423"/>
                <a:gd name="T49" fmla="*/ 31 h 120"/>
                <a:gd name="T50" fmla="*/ 0 w 423"/>
                <a:gd name="T51" fmla="*/ 61 h 120"/>
                <a:gd name="T52" fmla="*/ 91 w 423"/>
                <a:gd name="T53" fmla="*/ 61 h 120"/>
                <a:gd name="T54" fmla="*/ 99 w 423"/>
                <a:gd name="T55" fmla="*/ 61 h 120"/>
                <a:gd name="T56" fmla="*/ 105 w 423"/>
                <a:gd name="T57" fmla="*/ 62 h 120"/>
                <a:gd name="T58" fmla="*/ 112 w 423"/>
                <a:gd name="T59" fmla="*/ 63 h 120"/>
                <a:gd name="T60" fmla="*/ 120 w 423"/>
                <a:gd name="T61" fmla="*/ 65 h 120"/>
                <a:gd name="T62" fmla="*/ 132 w 423"/>
                <a:gd name="T63" fmla="*/ 71 h 120"/>
                <a:gd name="T64" fmla="*/ 144 w 423"/>
                <a:gd name="T65" fmla="*/ 77 h 120"/>
                <a:gd name="T66" fmla="*/ 154 w 423"/>
                <a:gd name="T67" fmla="*/ 86 h 120"/>
                <a:gd name="T68" fmla="*/ 163 w 423"/>
                <a:gd name="T69" fmla="*/ 97 h 120"/>
                <a:gd name="T70" fmla="*/ 170 w 423"/>
                <a:gd name="T71" fmla="*/ 108 h 120"/>
                <a:gd name="T72" fmla="*/ 176 w 423"/>
                <a:gd name="T73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3" h="120">
                  <a:moveTo>
                    <a:pt x="176" y="120"/>
                  </a:moveTo>
                  <a:lnTo>
                    <a:pt x="247" y="120"/>
                  </a:lnTo>
                  <a:lnTo>
                    <a:pt x="252" y="108"/>
                  </a:lnTo>
                  <a:lnTo>
                    <a:pt x="260" y="97"/>
                  </a:lnTo>
                  <a:lnTo>
                    <a:pt x="269" y="86"/>
                  </a:lnTo>
                  <a:lnTo>
                    <a:pt x="280" y="77"/>
                  </a:lnTo>
                  <a:lnTo>
                    <a:pt x="291" y="71"/>
                  </a:lnTo>
                  <a:lnTo>
                    <a:pt x="304" y="65"/>
                  </a:lnTo>
                  <a:lnTo>
                    <a:pt x="311" y="63"/>
                  </a:lnTo>
                  <a:lnTo>
                    <a:pt x="318" y="62"/>
                  </a:lnTo>
                  <a:lnTo>
                    <a:pt x="325" y="61"/>
                  </a:lnTo>
                  <a:lnTo>
                    <a:pt x="332" y="61"/>
                  </a:lnTo>
                  <a:lnTo>
                    <a:pt x="423" y="61"/>
                  </a:lnTo>
                  <a:lnTo>
                    <a:pt x="423" y="31"/>
                  </a:lnTo>
                  <a:lnTo>
                    <a:pt x="423" y="22"/>
                  </a:lnTo>
                  <a:lnTo>
                    <a:pt x="420" y="14"/>
                  </a:lnTo>
                  <a:lnTo>
                    <a:pt x="418" y="8"/>
                  </a:lnTo>
                  <a:lnTo>
                    <a:pt x="415" y="0"/>
                  </a:lnTo>
                  <a:lnTo>
                    <a:pt x="363" y="0"/>
                  </a:lnTo>
                  <a:lnTo>
                    <a:pt x="61" y="0"/>
                  </a:lnTo>
                  <a:lnTo>
                    <a:pt x="9" y="0"/>
                  </a:lnTo>
                  <a:lnTo>
                    <a:pt x="6" y="8"/>
                  </a:lnTo>
                  <a:lnTo>
                    <a:pt x="2" y="14"/>
                  </a:lnTo>
                  <a:lnTo>
                    <a:pt x="1" y="22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91" y="61"/>
                  </a:lnTo>
                  <a:lnTo>
                    <a:pt x="99" y="61"/>
                  </a:lnTo>
                  <a:lnTo>
                    <a:pt x="105" y="62"/>
                  </a:lnTo>
                  <a:lnTo>
                    <a:pt x="112" y="63"/>
                  </a:lnTo>
                  <a:lnTo>
                    <a:pt x="120" y="65"/>
                  </a:lnTo>
                  <a:lnTo>
                    <a:pt x="132" y="71"/>
                  </a:lnTo>
                  <a:lnTo>
                    <a:pt x="144" y="77"/>
                  </a:lnTo>
                  <a:lnTo>
                    <a:pt x="154" y="86"/>
                  </a:lnTo>
                  <a:lnTo>
                    <a:pt x="163" y="97"/>
                  </a:lnTo>
                  <a:lnTo>
                    <a:pt x="170" y="108"/>
                  </a:lnTo>
                  <a:lnTo>
                    <a:pt x="176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1631">
              <a:extLst>
                <a:ext uri="{FF2B5EF4-FFF2-40B4-BE49-F238E27FC236}">
                  <a16:creationId xmlns:a16="http://schemas.microsoft.com/office/drawing/2014/main" id="{99F6D614-3AD7-472A-92A9-85406C4F4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525" y="5129213"/>
              <a:ext cx="115888" cy="85725"/>
            </a:xfrm>
            <a:custGeom>
              <a:avLst/>
              <a:gdLst>
                <a:gd name="T0" fmla="*/ 60 w 362"/>
                <a:gd name="T1" fmla="*/ 72 h 271"/>
                <a:gd name="T2" fmla="*/ 62 w 362"/>
                <a:gd name="T3" fmla="*/ 66 h 271"/>
                <a:gd name="T4" fmla="*/ 66 w 362"/>
                <a:gd name="T5" fmla="*/ 62 h 271"/>
                <a:gd name="T6" fmla="*/ 72 w 362"/>
                <a:gd name="T7" fmla="*/ 60 h 271"/>
                <a:gd name="T8" fmla="*/ 287 w 362"/>
                <a:gd name="T9" fmla="*/ 60 h 271"/>
                <a:gd name="T10" fmla="*/ 292 w 362"/>
                <a:gd name="T11" fmla="*/ 61 h 271"/>
                <a:gd name="T12" fmla="*/ 297 w 362"/>
                <a:gd name="T13" fmla="*/ 64 h 271"/>
                <a:gd name="T14" fmla="*/ 300 w 362"/>
                <a:gd name="T15" fmla="*/ 70 h 271"/>
                <a:gd name="T16" fmla="*/ 301 w 362"/>
                <a:gd name="T17" fmla="*/ 75 h 271"/>
                <a:gd name="T18" fmla="*/ 301 w 362"/>
                <a:gd name="T19" fmla="*/ 229 h 271"/>
                <a:gd name="T20" fmla="*/ 299 w 362"/>
                <a:gd name="T21" fmla="*/ 234 h 271"/>
                <a:gd name="T22" fmla="*/ 294 w 362"/>
                <a:gd name="T23" fmla="*/ 239 h 271"/>
                <a:gd name="T24" fmla="*/ 289 w 362"/>
                <a:gd name="T25" fmla="*/ 241 h 271"/>
                <a:gd name="T26" fmla="*/ 75 w 362"/>
                <a:gd name="T27" fmla="*/ 241 h 271"/>
                <a:gd name="T28" fmla="*/ 69 w 362"/>
                <a:gd name="T29" fmla="*/ 240 h 271"/>
                <a:gd name="T30" fmla="*/ 64 w 362"/>
                <a:gd name="T31" fmla="*/ 237 h 271"/>
                <a:gd name="T32" fmla="*/ 61 w 362"/>
                <a:gd name="T33" fmla="*/ 231 h 271"/>
                <a:gd name="T34" fmla="*/ 60 w 362"/>
                <a:gd name="T35" fmla="*/ 226 h 271"/>
                <a:gd name="T36" fmla="*/ 332 w 362"/>
                <a:gd name="T37" fmla="*/ 271 h 271"/>
                <a:gd name="T38" fmla="*/ 362 w 362"/>
                <a:gd name="T39" fmla="*/ 60 h 271"/>
                <a:gd name="T40" fmla="*/ 361 w 362"/>
                <a:gd name="T41" fmla="*/ 47 h 271"/>
                <a:gd name="T42" fmla="*/ 357 w 362"/>
                <a:gd name="T43" fmla="*/ 36 h 271"/>
                <a:gd name="T44" fmla="*/ 352 w 362"/>
                <a:gd name="T45" fmla="*/ 26 h 271"/>
                <a:gd name="T46" fmla="*/ 344 w 362"/>
                <a:gd name="T47" fmla="*/ 18 h 271"/>
                <a:gd name="T48" fmla="*/ 335 w 362"/>
                <a:gd name="T49" fmla="*/ 10 h 271"/>
                <a:gd name="T50" fmla="*/ 325 w 362"/>
                <a:gd name="T51" fmla="*/ 4 h 271"/>
                <a:gd name="T52" fmla="*/ 313 w 362"/>
                <a:gd name="T53" fmla="*/ 1 h 271"/>
                <a:gd name="T54" fmla="*/ 301 w 362"/>
                <a:gd name="T55" fmla="*/ 0 h 271"/>
                <a:gd name="T56" fmla="*/ 54 w 362"/>
                <a:gd name="T57" fmla="*/ 0 h 271"/>
                <a:gd name="T58" fmla="*/ 42 w 362"/>
                <a:gd name="T59" fmla="*/ 2 h 271"/>
                <a:gd name="T60" fmla="*/ 31 w 362"/>
                <a:gd name="T61" fmla="*/ 7 h 271"/>
                <a:gd name="T62" fmla="*/ 21 w 362"/>
                <a:gd name="T63" fmla="*/ 13 h 271"/>
                <a:gd name="T64" fmla="*/ 13 w 362"/>
                <a:gd name="T65" fmla="*/ 21 h 271"/>
                <a:gd name="T66" fmla="*/ 7 w 362"/>
                <a:gd name="T67" fmla="*/ 31 h 271"/>
                <a:gd name="T68" fmla="*/ 2 w 362"/>
                <a:gd name="T69" fmla="*/ 42 h 271"/>
                <a:gd name="T70" fmla="*/ 0 w 362"/>
                <a:gd name="T71" fmla="*/ 54 h 271"/>
                <a:gd name="T72" fmla="*/ 0 w 362"/>
                <a:gd name="T73" fmla="*/ 271 h 271"/>
                <a:gd name="T74" fmla="*/ 332 w 362"/>
                <a:gd name="T75" fmla="*/ 271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2" h="271">
                  <a:moveTo>
                    <a:pt x="60" y="75"/>
                  </a:moveTo>
                  <a:lnTo>
                    <a:pt x="60" y="72"/>
                  </a:lnTo>
                  <a:lnTo>
                    <a:pt x="61" y="68"/>
                  </a:lnTo>
                  <a:lnTo>
                    <a:pt x="62" y="66"/>
                  </a:lnTo>
                  <a:lnTo>
                    <a:pt x="64" y="64"/>
                  </a:lnTo>
                  <a:lnTo>
                    <a:pt x="66" y="62"/>
                  </a:lnTo>
                  <a:lnTo>
                    <a:pt x="69" y="61"/>
                  </a:lnTo>
                  <a:lnTo>
                    <a:pt x="72" y="60"/>
                  </a:lnTo>
                  <a:lnTo>
                    <a:pt x="75" y="60"/>
                  </a:lnTo>
                  <a:lnTo>
                    <a:pt x="287" y="60"/>
                  </a:lnTo>
                  <a:lnTo>
                    <a:pt x="289" y="60"/>
                  </a:lnTo>
                  <a:lnTo>
                    <a:pt x="292" y="61"/>
                  </a:lnTo>
                  <a:lnTo>
                    <a:pt x="294" y="62"/>
                  </a:lnTo>
                  <a:lnTo>
                    <a:pt x="297" y="64"/>
                  </a:lnTo>
                  <a:lnTo>
                    <a:pt x="299" y="66"/>
                  </a:lnTo>
                  <a:lnTo>
                    <a:pt x="300" y="70"/>
                  </a:lnTo>
                  <a:lnTo>
                    <a:pt x="301" y="72"/>
                  </a:lnTo>
                  <a:lnTo>
                    <a:pt x="301" y="75"/>
                  </a:lnTo>
                  <a:lnTo>
                    <a:pt x="301" y="226"/>
                  </a:lnTo>
                  <a:lnTo>
                    <a:pt x="301" y="229"/>
                  </a:lnTo>
                  <a:lnTo>
                    <a:pt x="300" y="231"/>
                  </a:lnTo>
                  <a:lnTo>
                    <a:pt x="299" y="234"/>
                  </a:lnTo>
                  <a:lnTo>
                    <a:pt x="297" y="237"/>
                  </a:lnTo>
                  <a:lnTo>
                    <a:pt x="294" y="239"/>
                  </a:lnTo>
                  <a:lnTo>
                    <a:pt x="292" y="240"/>
                  </a:lnTo>
                  <a:lnTo>
                    <a:pt x="289" y="241"/>
                  </a:lnTo>
                  <a:lnTo>
                    <a:pt x="287" y="241"/>
                  </a:lnTo>
                  <a:lnTo>
                    <a:pt x="75" y="241"/>
                  </a:lnTo>
                  <a:lnTo>
                    <a:pt x="72" y="241"/>
                  </a:lnTo>
                  <a:lnTo>
                    <a:pt x="69" y="240"/>
                  </a:lnTo>
                  <a:lnTo>
                    <a:pt x="66" y="239"/>
                  </a:lnTo>
                  <a:lnTo>
                    <a:pt x="64" y="237"/>
                  </a:lnTo>
                  <a:lnTo>
                    <a:pt x="62" y="234"/>
                  </a:lnTo>
                  <a:lnTo>
                    <a:pt x="61" y="231"/>
                  </a:lnTo>
                  <a:lnTo>
                    <a:pt x="60" y="229"/>
                  </a:lnTo>
                  <a:lnTo>
                    <a:pt x="60" y="226"/>
                  </a:lnTo>
                  <a:lnTo>
                    <a:pt x="60" y="75"/>
                  </a:lnTo>
                  <a:close/>
                  <a:moveTo>
                    <a:pt x="332" y="271"/>
                  </a:moveTo>
                  <a:lnTo>
                    <a:pt x="362" y="271"/>
                  </a:lnTo>
                  <a:lnTo>
                    <a:pt x="362" y="60"/>
                  </a:lnTo>
                  <a:lnTo>
                    <a:pt x="362" y="54"/>
                  </a:lnTo>
                  <a:lnTo>
                    <a:pt x="361" y="47"/>
                  </a:lnTo>
                  <a:lnTo>
                    <a:pt x="358" y="42"/>
                  </a:lnTo>
                  <a:lnTo>
                    <a:pt x="357" y="36"/>
                  </a:lnTo>
                  <a:lnTo>
                    <a:pt x="354" y="31"/>
                  </a:lnTo>
                  <a:lnTo>
                    <a:pt x="352" y="26"/>
                  </a:lnTo>
                  <a:lnTo>
                    <a:pt x="347" y="21"/>
                  </a:lnTo>
                  <a:lnTo>
                    <a:pt x="344" y="18"/>
                  </a:lnTo>
                  <a:lnTo>
                    <a:pt x="340" y="13"/>
                  </a:lnTo>
                  <a:lnTo>
                    <a:pt x="335" y="10"/>
                  </a:lnTo>
                  <a:lnTo>
                    <a:pt x="330" y="7"/>
                  </a:lnTo>
                  <a:lnTo>
                    <a:pt x="325" y="4"/>
                  </a:lnTo>
                  <a:lnTo>
                    <a:pt x="320" y="2"/>
                  </a:lnTo>
                  <a:lnTo>
                    <a:pt x="313" y="1"/>
                  </a:lnTo>
                  <a:lnTo>
                    <a:pt x="308" y="0"/>
                  </a:lnTo>
                  <a:lnTo>
                    <a:pt x="301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8" y="1"/>
                  </a:lnTo>
                  <a:lnTo>
                    <a:pt x="42" y="2"/>
                  </a:lnTo>
                  <a:lnTo>
                    <a:pt x="37" y="4"/>
                  </a:lnTo>
                  <a:lnTo>
                    <a:pt x="31" y="7"/>
                  </a:lnTo>
                  <a:lnTo>
                    <a:pt x="27" y="10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3" y="21"/>
                  </a:lnTo>
                  <a:lnTo>
                    <a:pt x="10" y="26"/>
                  </a:lnTo>
                  <a:lnTo>
                    <a:pt x="7" y="31"/>
                  </a:lnTo>
                  <a:lnTo>
                    <a:pt x="5" y="36"/>
                  </a:lnTo>
                  <a:lnTo>
                    <a:pt x="2" y="42"/>
                  </a:lnTo>
                  <a:lnTo>
                    <a:pt x="1" y="47"/>
                  </a:lnTo>
                  <a:lnTo>
                    <a:pt x="0" y="54"/>
                  </a:lnTo>
                  <a:lnTo>
                    <a:pt x="0" y="60"/>
                  </a:lnTo>
                  <a:lnTo>
                    <a:pt x="0" y="271"/>
                  </a:lnTo>
                  <a:lnTo>
                    <a:pt x="30" y="271"/>
                  </a:lnTo>
                  <a:lnTo>
                    <a:pt x="332" y="2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1632">
              <a:extLst>
                <a:ext uri="{FF2B5EF4-FFF2-40B4-BE49-F238E27FC236}">
                  <a16:creationId xmlns:a16="http://schemas.microsoft.com/office/drawing/2014/main" id="{32C10E2D-7492-462D-9F53-98946445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" y="5349875"/>
              <a:ext cx="134938" cy="38100"/>
            </a:xfrm>
            <a:custGeom>
              <a:avLst/>
              <a:gdLst>
                <a:gd name="T0" fmla="*/ 422 w 423"/>
                <a:gd name="T1" fmla="*/ 18 h 121"/>
                <a:gd name="T2" fmla="*/ 422 w 423"/>
                <a:gd name="T3" fmla="*/ 17 h 121"/>
                <a:gd name="T4" fmla="*/ 422 w 423"/>
                <a:gd name="T5" fmla="*/ 17 h 121"/>
                <a:gd name="T6" fmla="*/ 419 w 423"/>
                <a:gd name="T7" fmla="*/ 10 h 121"/>
                <a:gd name="T8" fmla="*/ 417 w 423"/>
                <a:gd name="T9" fmla="*/ 5 h 121"/>
                <a:gd name="T10" fmla="*/ 417 w 423"/>
                <a:gd name="T11" fmla="*/ 4 h 121"/>
                <a:gd name="T12" fmla="*/ 416 w 423"/>
                <a:gd name="T13" fmla="*/ 4 h 121"/>
                <a:gd name="T14" fmla="*/ 415 w 423"/>
                <a:gd name="T15" fmla="*/ 2 h 121"/>
                <a:gd name="T16" fmla="*/ 415 w 423"/>
                <a:gd name="T17" fmla="*/ 0 h 121"/>
                <a:gd name="T18" fmla="*/ 9 w 423"/>
                <a:gd name="T19" fmla="*/ 0 h 121"/>
                <a:gd name="T20" fmla="*/ 8 w 423"/>
                <a:gd name="T21" fmla="*/ 2 h 121"/>
                <a:gd name="T22" fmla="*/ 7 w 423"/>
                <a:gd name="T23" fmla="*/ 4 h 121"/>
                <a:gd name="T24" fmla="*/ 7 w 423"/>
                <a:gd name="T25" fmla="*/ 4 h 121"/>
                <a:gd name="T26" fmla="*/ 7 w 423"/>
                <a:gd name="T27" fmla="*/ 5 h 121"/>
                <a:gd name="T28" fmla="*/ 5 w 423"/>
                <a:gd name="T29" fmla="*/ 10 h 121"/>
                <a:gd name="T30" fmla="*/ 2 w 423"/>
                <a:gd name="T31" fmla="*/ 17 h 121"/>
                <a:gd name="T32" fmla="*/ 2 w 423"/>
                <a:gd name="T33" fmla="*/ 17 h 121"/>
                <a:gd name="T34" fmla="*/ 2 w 423"/>
                <a:gd name="T35" fmla="*/ 18 h 121"/>
                <a:gd name="T36" fmla="*/ 1 w 423"/>
                <a:gd name="T37" fmla="*/ 24 h 121"/>
                <a:gd name="T38" fmla="*/ 0 w 423"/>
                <a:gd name="T39" fmla="*/ 30 h 121"/>
                <a:gd name="T40" fmla="*/ 0 w 423"/>
                <a:gd name="T41" fmla="*/ 107 h 121"/>
                <a:gd name="T42" fmla="*/ 1 w 423"/>
                <a:gd name="T43" fmla="*/ 109 h 121"/>
                <a:gd name="T44" fmla="*/ 2 w 423"/>
                <a:gd name="T45" fmla="*/ 112 h 121"/>
                <a:gd name="T46" fmla="*/ 4 w 423"/>
                <a:gd name="T47" fmla="*/ 114 h 121"/>
                <a:gd name="T48" fmla="*/ 6 w 423"/>
                <a:gd name="T49" fmla="*/ 117 h 121"/>
                <a:gd name="T50" fmla="*/ 8 w 423"/>
                <a:gd name="T51" fmla="*/ 119 h 121"/>
                <a:gd name="T52" fmla="*/ 10 w 423"/>
                <a:gd name="T53" fmla="*/ 120 h 121"/>
                <a:gd name="T54" fmla="*/ 12 w 423"/>
                <a:gd name="T55" fmla="*/ 121 h 121"/>
                <a:gd name="T56" fmla="*/ 16 w 423"/>
                <a:gd name="T57" fmla="*/ 121 h 121"/>
                <a:gd name="T58" fmla="*/ 408 w 423"/>
                <a:gd name="T59" fmla="*/ 121 h 121"/>
                <a:gd name="T60" fmla="*/ 412 w 423"/>
                <a:gd name="T61" fmla="*/ 121 h 121"/>
                <a:gd name="T62" fmla="*/ 414 w 423"/>
                <a:gd name="T63" fmla="*/ 120 h 121"/>
                <a:gd name="T64" fmla="*/ 416 w 423"/>
                <a:gd name="T65" fmla="*/ 119 h 121"/>
                <a:gd name="T66" fmla="*/ 418 w 423"/>
                <a:gd name="T67" fmla="*/ 117 h 121"/>
                <a:gd name="T68" fmla="*/ 421 w 423"/>
                <a:gd name="T69" fmla="*/ 114 h 121"/>
                <a:gd name="T70" fmla="*/ 422 w 423"/>
                <a:gd name="T71" fmla="*/ 112 h 121"/>
                <a:gd name="T72" fmla="*/ 423 w 423"/>
                <a:gd name="T73" fmla="*/ 109 h 121"/>
                <a:gd name="T74" fmla="*/ 423 w 423"/>
                <a:gd name="T75" fmla="*/ 107 h 121"/>
                <a:gd name="T76" fmla="*/ 423 w 423"/>
                <a:gd name="T77" fmla="*/ 30 h 121"/>
                <a:gd name="T78" fmla="*/ 423 w 423"/>
                <a:gd name="T79" fmla="*/ 24 h 121"/>
                <a:gd name="T80" fmla="*/ 422 w 423"/>
                <a:gd name="T81" fmla="*/ 1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2" y="18"/>
                  </a:moveTo>
                  <a:lnTo>
                    <a:pt x="422" y="17"/>
                  </a:lnTo>
                  <a:lnTo>
                    <a:pt x="422" y="17"/>
                  </a:lnTo>
                  <a:lnTo>
                    <a:pt x="419" y="10"/>
                  </a:lnTo>
                  <a:lnTo>
                    <a:pt x="417" y="5"/>
                  </a:lnTo>
                  <a:lnTo>
                    <a:pt x="417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5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5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1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2" y="112"/>
                  </a:lnTo>
                  <a:lnTo>
                    <a:pt x="4" y="114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10" y="120"/>
                  </a:lnTo>
                  <a:lnTo>
                    <a:pt x="12" y="121"/>
                  </a:lnTo>
                  <a:lnTo>
                    <a:pt x="16" y="121"/>
                  </a:lnTo>
                  <a:lnTo>
                    <a:pt x="408" y="121"/>
                  </a:lnTo>
                  <a:lnTo>
                    <a:pt x="412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1" y="114"/>
                  </a:lnTo>
                  <a:lnTo>
                    <a:pt x="422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2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1633">
              <a:extLst>
                <a:ext uri="{FF2B5EF4-FFF2-40B4-BE49-F238E27FC236}">
                  <a16:creationId xmlns:a16="http://schemas.microsoft.com/office/drawing/2014/main" id="{4FA8B819-0160-4EA0-86E9-6D9D4C17F1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313" y="5253038"/>
              <a:ext cx="114300" cy="87313"/>
            </a:xfrm>
            <a:custGeom>
              <a:avLst/>
              <a:gdLst>
                <a:gd name="T0" fmla="*/ 302 w 362"/>
                <a:gd name="T1" fmla="*/ 227 h 273"/>
                <a:gd name="T2" fmla="*/ 301 w 362"/>
                <a:gd name="T3" fmla="*/ 233 h 273"/>
                <a:gd name="T4" fmla="*/ 298 w 362"/>
                <a:gd name="T5" fmla="*/ 237 h 273"/>
                <a:gd name="T6" fmla="*/ 292 w 362"/>
                <a:gd name="T7" fmla="*/ 241 h 273"/>
                <a:gd name="T8" fmla="*/ 287 w 362"/>
                <a:gd name="T9" fmla="*/ 242 h 273"/>
                <a:gd name="T10" fmla="*/ 72 w 362"/>
                <a:gd name="T11" fmla="*/ 242 h 273"/>
                <a:gd name="T12" fmla="*/ 67 w 362"/>
                <a:gd name="T13" fmla="*/ 239 h 273"/>
                <a:gd name="T14" fmla="*/ 63 w 362"/>
                <a:gd name="T15" fmla="*/ 235 h 273"/>
                <a:gd name="T16" fmla="*/ 61 w 362"/>
                <a:gd name="T17" fmla="*/ 231 h 273"/>
                <a:gd name="T18" fmla="*/ 60 w 362"/>
                <a:gd name="T19" fmla="*/ 76 h 273"/>
                <a:gd name="T20" fmla="*/ 61 w 362"/>
                <a:gd name="T21" fmla="*/ 70 h 273"/>
                <a:gd name="T22" fmla="*/ 64 w 362"/>
                <a:gd name="T23" fmla="*/ 66 h 273"/>
                <a:gd name="T24" fmla="*/ 70 w 362"/>
                <a:gd name="T25" fmla="*/ 62 h 273"/>
                <a:gd name="T26" fmla="*/ 75 w 362"/>
                <a:gd name="T27" fmla="*/ 61 h 273"/>
                <a:gd name="T28" fmla="*/ 290 w 362"/>
                <a:gd name="T29" fmla="*/ 61 h 273"/>
                <a:gd name="T30" fmla="*/ 296 w 362"/>
                <a:gd name="T31" fmla="*/ 64 h 273"/>
                <a:gd name="T32" fmla="*/ 299 w 362"/>
                <a:gd name="T33" fmla="*/ 68 h 273"/>
                <a:gd name="T34" fmla="*/ 301 w 362"/>
                <a:gd name="T35" fmla="*/ 73 h 273"/>
                <a:gd name="T36" fmla="*/ 60 w 362"/>
                <a:gd name="T37" fmla="*/ 0 h 273"/>
                <a:gd name="T38" fmla="*/ 42 w 362"/>
                <a:gd name="T39" fmla="*/ 4 h 273"/>
                <a:gd name="T40" fmla="*/ 27 w 362"/>
                <a:gd name="T41" fmla="*/ 12 h 273"/>
                <a:gd name="T42" fmla="*/ 18 w 362"/>
                <a:gd name="T43" fmla="*/ 18 h 273"/>
                <a:gd name="T44" fmla="*/ 5 w 362"/>
                <a:gd name="T45" fmla="*/ 38 h 273"/>
                <a:gd name="T46" fmla="*/ 1 w 362"/>
                <a:gd name="T47" fmla="*/ 49 h 273"/>
                <a:gd name="T48" fmla="*/ 0 w 362"/>
                <a:gd name="T49" fmla="*/ 61 h 273"/>
                <a:gd name="T50" fmla="*/ 362 w 362"/>
                <a:gd name="T51" fmla="*/ 273 h 273"/>
                <a:gd name="T52" fmla="*/ 362 w 362"/>
                <a:gd name="T53" fmla="*/ 55 h 273"/>
                <a:gd name="T54" fmla="*/ 360 w 362"/>
                <a:gd name="T55" fmla="*/ 44 h 273"/>
                <a:gd name="T56" fmla="*/ 352 w 362"/>
                <a:gd name="T57" fmla="*/ 27 h 273"/>
                <a:gd name="T58" fmla="*/ 340 w 362"/>
                <a:gd name="T59" fmla="*/ 15 h 273"/>
                <a:gd name="T60" fmla="*/ 328 w 362"/>
                <a:gd name="T61" fmla="*/ 7 h 273"/>
                <a:gd name="T62" fmla="*/ 311 w 362"/>
                <a:gd name="T63" fmla="*/ 2 h 273"/>
                <a:gd name="T64" fmla="*/ 121 w 362"/>
                <a:gd name="T65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273">
                  <a:moveTo>
                    <a:pt x="302" y="76"/>
                  </a:moveTo>
                  <a:lnTo>
                    <a:pt x="302" y="227"/>
                  </a:lnTo>
                  <a:lnTo>
                    <a:pt x="301" y="231"/>
                  </a:lnTo>
                  <a:lnTo>
                    <a:pt x="301" y="233"/>
                  </a:lnTo>
                  <a:lnTo>
                    <a:pt x="299" y="235"/>
                  </a:lnTo>
                  <a:lnTo>
                    <a:pt x="298" y="237"/>
                  </a:lnTo>
                  <a:lnTo>
                    <a:pt x="296" y="239"/>
                  </a:lnTo>
                  <a:lnTo>
                    <a:pt x="292" y="241"/>
                  </a:lnTo>
                  <a:lnTo>
                    <a:pt x="290" y="242"/>
                  </a:lnTo>
                  <a:lnTo>
                    <a:pt x="287" y="242"/>
                  </a:lnTo>
                  <a:lnTo>
                    <a:pt x="75" y="242"/>
                  </a:lnTo>
                  <a:lnTo>
                    <a:pt x="72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4" y="237"/>
                  </a:lnTo>
                  <a:lnTo>
                    <a:pt x="63" y="235"/>
                  </a:lnTo>
                  <a:lnTo>
                    <a:pt x="61" y="233"/>
                  </a:lnTo>
                  <a:lnTo>
                    <a:pt x="61" y="231"/>
                  </a:lnTo>
                  <a:lnTo>
                    <a:pt x="60" y="227"/>
                  </a:lnTo>
                  <a:lnTo>
                    <a:pt x="60" y="76"/>
                  </a:lnTo>
                  <a:lnTo>
                    <a:pt x="61" y="73"/>
                  </a:lnTo>
                  <a:lnTo>
                    <a:pt x="61" y="70"/>
                  </a:lnTo>
                  <a:lnTo>
                    <a:pt x="63" y="68"/>
                  </a:lnTo>
                  <a:lnTo>
                    <a:pt x="64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2" y="61"/>
                  </a:lnTo>
                  <a:lnTo>
                    <a:pt x="75" y="61"/>
                  </a:lnTo>
                  <a:lnTo>
                    <a:pt x="287" y="61"/>
                  </a:lnTo>
                  <a:lnTo>
                    <a:pt x="290" y="61"/>
                  </a:lnTo>
                  <a:lnTo>
                    <a:pt x="292" y="62"/>
                  </a:lnTo>
                  <a:lnTo>
                    <a:pt x="296" y="64"/>
                  </a:lnTo>
                  <a:lnTo>
                    <a:pt x="298" y="66"/>
                  </a:lnTo>
                  <a:lnTo>
                    <a:pt x="299" y="68"/>
                  </a:lnTo>
                  <a:lnTo>
                    <a:pt x="301" y="70"/>
                  </a:lnTo>
                  <a:lnTo>
                    <a:pt x="301" y="73"/>
                  </a:lnTo>
                  <a:lnTo>
                    <a:pt x="302" y="76"/>
                  </a:lnTo>
                  <a:close/>
                  <a:moveTo>
                    <a:pt x="60" y="0"/>
                  </a:moveTo>
                  <a:lnTo>
                    <a:pt x="51" y="2"/>
                  </a:lnTo>
                  <a:lnTo>
                    <a:pt x="42" y="4"/>
                  </a:lnTo>
                  <a:lnTo>
                    <a:pt x="35" y="7"/>
                  </a:lnTo>
                  <a:lnTo>
                    <a:pt x="27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0" y="27"/>
                  </a:lnTo>
                  <a:lnTo>
                    <a:pt x="5" y="38"/>
                  </a:lnTo>
                  <a:lnTo>
                    <a:pt x="2" y="44"/>
                  </a:lnTo>
                  <a:lnTo>
                    <a:pt x="1" y="49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2" y="273"/>
                  </a:lnTo>
                  <a:lnTo>
                    <a:pt x="362" y="61"/>
                  </a:lnTo>
                  <a:lnTo>
                    <a:pt x="362" y="55"/>
                  </a:lnTo>
                  <a:lnTo>
                    <a:pt x="361" y="49"/>
                  </a:lnTo>
                  <a:lnTo>
                    <a:pt x="360" y="44"/>
                  </a:lnTo>
                  <a:lnTo>
                    <a:pt x="358" y="38"/>
                  </a:lnTo>
                  <a:lnTo>
                    <a:pt x="352" y="27"/>
                  </a:lnTo>
                  <a:lnTo>
                    <a:pt x="344" y="18"/>
                  </a:lnTo>
                  <a:lnTo>
                    <a:pt x="340" y="15"/>
                  </a:lnTo>
                  <a:lnTo>
                    <a:pt x="335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121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1634">
              <a:extLst>
                <a:ext uri="{FF2B5EF4-FFF2-40B4-BE49-F238E27FC236}">
                  <a16:creationId xmlns:a16="http://schemas.microsoft.com/office/drawing/2014/main" id="{2C93C243-2B14-4681-B84A-CD4AAEC1D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253038"/>
              <a:ext cx="115888" cy="87313"/>
            </a:xfrm>
            <a:custGeom>
              <a:avLst/>
              <a:gdLst>
                <a:gd name="T0" fmla="*/ 302 w 363"/>
                <a:gd name="T1" fmla="*/ 231 h 273"/>
                <a:gd name="T2" fmla="*/ 300 w 363"/>
                <a:gd name="T3" fmla="*/ 235 h 273"/>
                <a:gd name="T4" fmla="*/ 295 w 363"/>
                <a:gd name="T5" fmla="*/ 239 h 273"/>
                <a:gd name="T6" fmla="*/ 290 w 363"/>
                <a:gd name="T7" fmla="*/ 242 h 273"/>
                <a:gd name="T8" fmla="*/ 75 w 363"/>
                <a:gd name="T9" fmla="*/ 242 h 273"/>
                <a:gd name="T10" fmla="*/ 70 w 363"/>
                <a:gd name="T11" fmla="*/ 241 h 273"/>
                <a:gd name="T12" fmla="*/ 65 w 363"/>
                <a:gd name="T13" fmla="*/ 237 h 273"/>
                <a:gd name="T14" fmla="*/ 62 w 363"/>
                <a:gd name="T15" fmla="*/ 233 h 273"/>
                <a:gd name="T16" fmla="*/ 61 w 363"/>
                <a:gd name="T17" fmla="*/ 227 h 273"/>
                <a:gd name="T18" fmla="*/ 61 w 363"/>
                <a:gd name="T19" fmla="*/ 73 h 273"/>
                <a:gd name="T20" fmla="*/ 63 w 363"/>
                <a:gd name="T21" fmla="*/ 68 h 273"/>
                <a:gd name="T22" fmla="*/ 67 w 363"/>
                <a:gd name="T23" fmla="*/ 64 h 273"/>
                <a:gd name="T24" fmla="*/ 73 w 363"/>
                <a:gd name="T25" fmla="*/ 61 h 273"/>
                <a:gd name="T26" fmla="*/ 286 w 363"/>
                <a:gd name="T27" fmla="*/ 61 h 273"/>
                <a:gd name="T28" fmla="*/ 293 w 363"/>
                <a:gd name="T29" fmla="*/ 62 h 273"/>
                <a:gd name="T30" fmla="*/ 297 w 363"/>
                <a:gd name="T31" fmla="*/ 66 h 273"/>
                <a:gd name="T32" fmla="*/ 301 w 363"/>
                <a:gd name="T33" fmla="*/ 70 h 273"/>
                <a:gd name="T34" fmla="*/ 302 w 363"/>
                <a:gd name="T35" fmla="*/ 76 h 273"/>
                <a:gd name="T36" fmla="*/ 363 w 363"/>
                <a:gd name="T37" fmla="*/ 61 h 273"/>
                <a:gd name="T38" fmla="*/ 362 w 363"/>
                <a:gd name="T39" fmla="*/ 49 h 273"/>
                <a:gd name="T40" fmla="*/ 357 w 363"/>
                <a:gd name="T41" fmla="*/ 38 h 273"/>
                <a:gd name="T42" fmla="*/ 345 w 363"/>
                <a:gd name="T43" fmla="*/ 18 h 273"/>
                <a:gd name="T44" fmla="*/ 336 w 363"/>
                <a:gd name="T45" fmla="*/ 12 h 273"/>
                <a:gd name="T46" fmla="*/ 320 w 363"/>
                <a:gd name="T47" fmla="*/ 4 h 273"/>
                <a:gd name="T48" fmla="*/ 302 w 363"/>
                <a:gd name="T49" fmla="*/ 0 h 273"/>
                <a:gd name="T50" fmla="*/ 61 w 363"/>
                <a:gd name="T51" fmla="*/ 0 h 273"/>
                <a:gd name="T52" fmla="*/ 43 w 363"/>
                <a:gd name="T53" fmla="*/ 4 h 273"/>
                <a:gd name="T54" fmla="*/ 26 w 363"/>
                <a:gd name="T55" fmla="*/ 12 h 273"/>
                <a:gd name="T56" fmla="*/ 18 w 363"/>
                <a:gd name="T57" fmla="*/ 18 h 273"/>
                <a:gd name="T58" fmla="*/ 5 w 363"/>
                <a:gd name="T59" fmla="*/ 38 h 273"/>
                <a:gd name="T60" fmla="*/ 1 w 363"/>
                <a:gd name="T61" fmla="*/ 49 h 273"/>
                <a:gd name="T62" fmla="*/ 0 w 363"/>
                <a:gd name="T63" fmla="*/ 61 h 273"/>
                <a:gd name="T64" fmla="*/ 363 w 363"/>
                <a:gd name="T6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3" h="273">
                  <a:moveTo>
                    <a:pt x="302" y="227"/>
                  </a:moveTo>
                  <a:lnTo>
                    <a:pt x="302" y="231"/>
                  </a:lnTo>
                  <a:lnTo>
                    <a:pt x="301" y="233"/>
                  </a:lnTo>
                  <a:lnTo>
                    <a:pt x="300" y="235"/>
                  </a:lnTo>
                  <a:lnTo>
                    <a:pt x="297" y="237"/>
                  </a:lnTo>
                  <a:lnTo>
                    <a:pt x="295" y="239"/>
                  </a:lnTo>
                  <a:lnTo>
                    <a:pt x="293" y="241"/>
                  </a:lnTo>
                  <a:lnTo>
                    <a:pt x="290" y="242"/>
                  </a:lnTo>
                  <a:lnTo>
                    <a:pt x="286" y="242"/>
                  </a:lnTo>
                  <a:lnTo>
                    <a:pt x="75" y="242"/>
                  </a:lnTo>
                  <a:lnTo>
                    <a:pt x="73" y="242"/>
                  </a:lnTo>
                  <a:lnTo>
                    <a:pt x="70" y="241"/>
                  </a:lnTo>
                  <a:lnTo>
                    <a:pt x="67" y="239"/>
                  </a:lnTo>
                  <a:lnTo>
                    <a:pt x="65" y="237"/>
                  </a:lnTo>
                  <a:lnTo>
                    <a:pt x="63" y="235"/>
                  </a:lnTo>
                  <a:lnTo>
                    <a:pt x="62" y="233"/>
                  </a:lnTo>
                  <a:lnTo>
                    <a:pt x="61" y="231"/>
                  </a:lnTo>
                  <a:lnTo>
                    <a:pt x="61" y="227"/>
                  </a:lnTo>
                  <a:lnTo>
                    <a:pt x="61" y="76"/>
                  </a:lnTo>
                  <a:lnTo>
                    <a:pt x="61" y="73"/>
                  </a:lnTo>
                  <a:lnTo>
                    <a:pt x="62" y="70"/>
                  </a:lnTo>
                  <a:lnTo>
                    <a:pt x="63" y="68"/>
                  </a:lnTo>
                  <a:lnTo>
                    <a:pt x="65" y="66"/>
                  </a:lnTo>
                  <a:lnTo>
                    <a:pt x="67" y="64"/>
                  </a:lnTo>
                  <a:lnTo>
                    <a:pt x="70" y="62"/>
                  </a:lnTo>
                  <a:lnTo>
                    <a:pt x="73" y="61"/>
                  </a:lnTo>
                  <a:lnTo>
                    <a:pt x="75" y="61"/>
                  </a:lnTo>
                  <a:lnTo>
                    <a:pt x="286" y="61"/>
                  </a:lnTo>
                  <a:lnTo>
                    <a:pt x="290" y="61"/>
                  </a:lnTo>
                  <a:lnTo>
                    <a:pt x="293" y="62"/>
                  </a:lnTo>
                  <a:lnTo>
                    <a:pt x="295" y="64"/>
                  </a:lnTo>
                  <a:lnTo>
                    <a:pt x="297" y="66"/>
                  </a:lnTo>
                  <a:lnTo>
                    <a:pt x="300" y="68"/>
                  </a:lnTo>
                  <a:lnTo>
                    <a:pt x="301" y="70"/>
                  </a:lnTo>
                  <a:lnTo>
                    <a:pt x="302" y="73"/>
                  </a:lnTo>
                  <a:lnTo>
                    <a:pt x="302" y="76"/>
                  </a:lnTo>
                  <a:lnTo>
                    <a:pt x="302" y="227"/>
                  </a:lnTo>
                  <a:close/>
                  <a:moveTo>
                    <a:pt x="363" y="61"/>
                  </a:moveTo>
                  <a:lnTo>
                    <a:pt x="362" y="55"/>
                  </a:lnTo>
                  <a:lnTo>
                    <a:pt x="362" y="49"/>
                  </a:lnTo>
                  <a:lnTo>
                    <a:pt x="359" y="44"/>
                  </a:lnTo>
                  <a:lnTo>
                    <a:pt x="357" y="38"/>
                  </a:lnTo>
                  <a:lnTo>
                    <a:pt x="352" y="27"/>
                  </a:lnTo>
                  <a:lnTo>
                    <a:pt x="345" y="18"/>
                  </a:lnTo>
                  <a:lnTo>
                    <a:pt x="341" y="15"/>
                  </a:lnTo>
                  <a:lnTo>
                    <a:pt x="336" y="12"/>
                  </a:lnTo>
                  <a:lnTo>
                    <a:pt x="328" y="7"/>
                  </a:lnTo>
                  <a:lnTo>
                    <a:pt x="320" y="4"/>
                  </a:lnTo>
                  <a:lnTo>
                    <a:pt x="311" y="2"/>
                  </a:lnTo>
                  <a:lnTo>
                    <a:pt x="302" y="0"/>
                  </a:lnTo>
                  <a:lnTo>
                    <a:pt x="242" y="0"/>
                  </a:lnTo>
                  <a:lnTo>
                    <a:pt x="61" y="0"/>
                  </a:lnTo>
                  <a:lnTo>
                    <a:pt x="52" y="2"/>
                  </a:lnTo>
                  <a:lnTo>
                    <a:pt x="43" y="4"/>
                  </a:lnTo>
                  <a:lnTo>
                    <a:pt x="34" y="7"/>
                  </a:lnTo>
                  <a:lnTo>
                    <a:pt x="26" y="12"/>
                  </a:lnTo>
                  <a:lnTo>
                    <a:pt x="22" y="15"/>
                  </a:lnTo>
                  <a:lnTo>
                    <a:pt x="18" y="18"/>
                  </a:lnTo>
                  <a:lnTo>
                    <a:pt x="11" y="27"/>
                  </a:lnTo>
                  <a:lnTo>
                    <a:pt x="5" y="38"/>
                  </a:lnTo>
                  <a:lnTo>
                    <a:pt x="3" y="44"/>
                  </a:lnTo>
                  <a:lnTo>
                    <a:pt x="1" y="49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0" y="273"/>
                  </a:lnTo>
                  <a:lnTo>
                    <a:pt x="363" y="273"/>
                  </a:lnTo>
                  <a:lnTo>
                    <a:pt x="36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Freeform 1635">
              <a:extLst>
                <a:ext uri="{FF2B5EF4-FFF2-40B4-BE49-F238E27FC236}">
                  <a16:creationId xmlns:a16="http://schemas.microsoft.com/office/drawing/2014/main" id="{220CF904-6E1F-487B-91DB-61DBBB3EE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" y="5349875"/>
              <a:ext cx="134938" cy="38100"/>
            </a:xfrm>
            <a:custGeom>
              <a:avLst/>
              <a:gdLst>
                <a:gd name="T0" fmla="*/ 420 w 423"/>
                <a:gd name="T1" fmla="*/ 16 h 121"/>
                <a:gd name="T2" fmla="*/ 419 w 423"/>
                <a:gd name="T3" fmla="*/ 10 h 121"/>
                <a:gd name="T4" fmla="*/ 416 w 423"/>
                <a:gd name="T5" fmla="*/ 5 h 121"/>
                <a:gd name="T6" fmla="*/ 416 w 423"/>
                <a:gd name="T7" fmla="*/ 4 h 121"/>
                <a:gd name="T8" fmla="*/ 416 w 423"/>
                <a:gd name="T9" fmla="*/ 4 h 121"/>
                <a:gd name="T10" fmla="*/ 415 w 423"/>
                <a:gd name="T11" fmla="*/ 2 h 121"/>
                <a:gd name="T12" fmla="*/ 414 w 423"/>
                <a:gd name="T13" fmla="*/ 0 h 121"/>
                <a:gd name="T14" fmla="*/ 9 w 423"/>
                <a:gd name="T15" fmla="*/ 0 h 121"/>
                <a:gd name="T16" fmla="*/ 8 w 423"/>
                <a:gd name="T17" fmla="*/ 2 h 121"/>
                <a:gd name="T18" fmla="*/ 7 w 423"/>
                <a:gd name="T19" fmla="*/ 4 h 121"/>
                <a:gd name="T20" fmla="*/ 7 w 423"/>
                <a:gd name="T21" fmla="*/ 4 h 121"/>
                <a:gd name="T22" fmla="*/ 7 w 423"/>
                <a:gd name="T23" fmla="*/ 5 h 121"/>
                <a:gd name="T24" fmla="*/ 3 w 423"/>
                <a:gd name="T25" fmla="*/ 10 h 121"/>
                <a:gd name="T26" fmla="*/ 2 w 423"/>
                <a:gd name="T27" fmla="*/ 17 h 121"/>
                <a:gd name="T28" fmla="*/ 2 w 423"/>
                <a:gd name="T29" fmla="*/ 17 h 121"/>
                <a:gd name="T30" fmla="*/ 1 w 423"/>
                <a:gd name="T31" fmla="*/ 18 h 121"/>
                <a:gd name="T32" fmla="*/ 0 w 423"/>
                <a:gd name="T33" fmla="*/ 24 h 121"/>
                <a:gd name="T34" fmla="*/ 0 w 423"/>
                <a:gd name="T35" fmla="*/ 30 h 121"/>
                <a:gd name="T36" fmla="*/ 0 w 423"/>
                <a:gd name="T37" fmla="*/ 107 h 121"/>
                <a:gd name="T38" fmla="*/ 0 w 423"/>
                <a:gd name="T39" fmla="*/ 109 h 121"/>
                <a:gd name="T40" fmla="*/ 1 w 423"/>
                <a:gd name="T41" fmla="*/ 112 h 121"/>
                <a:gd name="T42" fmla="*/ 2 w 423"/>
                <a:gd name="T43" fmla="*/ 114 h 121"/>
                <a:gd name="T44" fmla="*/ 4 w 423"/>
                <a:gd name="T45" fmla="*/ 117 h 121"/>
                <a:gd name="T46" fmla="*/ 7 w 423"/>
                <a:gd name="T47" fmla="*/ 119 h 121"/>
                <a:gd name="T48" fmla="*/ 9 w 423"/>
                <a:gd name="T49" fmla="*/ 120 h 121"/>
                <a:gd name="T50" fmla="*/ 12 w 423"/>
                <a:gd name="T51" fmla="*/ 121 h 121"/>
                <a:gd name="T52" fmla="*/ 15 w 423"/>
                <a:gd name="T53" fmla="*/ 121 h 121"/>
                <a:gd name="T54" fmla="*/ 407 w 423"/>
                <a:gd name="T55" fmla="*/ 121 h 121"/>
                <a:gd name="T56" fmla="*/ 410 w 423"/>
                <a:gd name="T57" fmla="*/ 121 h 121"/>
                <a:gd name="T58" fmla="*/ 414 w 423"/>
                <a:gd name="T59" fmla="*/ 120 h 121"/>
                <a:gd name="T60" fmla="*/ 416 w 423"/>
                <a:gd name="T61" fmla="*/ 119 h 121"/>
                <a:gd name="T62" fmla="*/ 418 w 423"/>
                <a:gd name="T63" fmla="*/ 117 h 121"/>
                <a:gd name="T64" fmla="*/ 420 w 423"/>
                <a:gd name="T65" fmla="*/ 114 h 121"/>
                <a:gd name="T66" fmla="*/ 421 w 423"/>
                <a:gd name="T67" fmla="*/ 112 h 121"/>
                <a:gd name="T68" fmla="*/ 423 w 423"/>
                <a:gd name="T69" fmla="*/ 109 h 121"/>
                <a:gd name="T70" fmla="*/ 423 w 423"/>
                <a:gd name="T71" fmla="*/ 107 h 121"/>
                <a:gd name="T72" fmla="*/ 423 w 423"/>
                <a:gd name="T73" fmla="*/ 30 h 121"/>
                <a:gd name="T74" fmla="*/ 423 w 423"/>
                <a:gd name="T75" fmla="*/ 24 h 121"/>
                <a:gd name="T76" fmla="*/ 421 w 423"/>
                <a:gd name="T77" fmla="*/ 18 h 121"/>
                <a:gd name="T78" fmla="*/ 420 w 423"/>
                <a:gd name="T79" fmla="*/ 17 h 121"/>
                <a:gd name="T80" fmla="*/ 420 w 423"/>
                <a:gd name="T81" fmla="*/ 1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23" h="121">
                  <a:moveTo>
                    <a:pt x="420" y="16"/>
                  </a:moveTo>
                  <a:lnTo>
                    <a:pt x="419" y="10"/>
                  </a:lnTo>
                  <a:lnTo>
                    <a:pt x="416" y="5"/>
                  </a:lnTo>
                  <a:lnTo>
                    <a:pt x="416" y="4"/>
                  </a:lnTo>
                  <a:lnTo>
                    <a:pt x="416" y="4"/>
                  </a:lnTo>
                  <a:lnTo>
                    <a:pt x="415" y="2"/>
                  </a:lnTo>
                  <a:lnTo>
                    <a:pt x="414" y="0"/>
                  </a:lnTo>
                  <a:lnTo>
                    <a:pt x="9" y="0"/>
                  </a:lnTo>
                  <a:lnTo>
                    <a:pt x="8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5"/>
                  </a:lnTo>
                  <a:lnTo>
                    <a:pt x="3" y="1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1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1" y="112"/>
                  </a:lnTo>
                  <a:lnTo>
                    <a:pt x="2" y="114"/>
                  </a:lnTo>
                  <a:lnTo>
                    <a:pt x="4" y="117"/>
                  </a:lnTo>
                  <a:lnTo>
                    <a:pt x="7" y="119"/>
                  </a:lnTo>
                  <a:lnTo>
                    <a:pt x="9" y="120"/>
                  </a:lnTo>
                  <a:lnTo>
                    <a:pt x="12" y="121"/>
                  </a:lnTo>
                  <a:lnTo>
                    <a:pt x="15" y="121"/>
                  </a:lnTo>
                  <a:lnTo>
                    <a:pt x="407" y="121"/>
                  </a:lnTo>
                  <a:lnTo>
                    <a:pt x="410" y="121"/>
                  </a:lnTo>
                  <a:lnTo>
                    <a:pt x="414" y="120"/>
                  </a:lnTo>
                  <a:lnTo>
                    <a:pt x="416" y="119"/>
                  </a:lnTo>
                  <a:lnTo>
                    <a:pt x="418" y="117"/>
                  </a:lnTo>
                  <a:lnTo>
                    <a:pt x="420" y="114"/>
                  </a:lnTo>
                  <a:lnTo>
                    <a:pt x="421" y="112"/>
                  </a:lnTo>
                  <a:lnTo>
                    <a:pt x="423" y="109"/>
                  </a:lnTo>
                  <a:lnTo>
                    <a:pt x="423" y="107"/>
                  </a:lnTo>
                  <a:lnTo>
                    <a:pt x="423" y="30"/>
                  </a:lnTo>
                  <a:lnTo>
                    <a:pt x="423" y="24"/>
                  </a:lnTo>
                  <a:lnTo>
                    <a:pt x="421" y="18"/>
                  </a:lnTo>
                  <a:lnTo>
                    <a:pt x="420" y="17"/>
                  </a:lnTo>
                  <a:lnTo>
                    <a:pt x="420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92" name="Group 91" descr="Icon of four squares.">
            <a:extLst>
              <a:ext uri="{FF2B5EF4-FFF2-40B4-BE49-F238E27FC236}">
                <a16:creationId xmlns:a16="http://schemas.microsoft.com/office/drawing/2014/main" id="{268D639A-62F0-4F2B-B632-5A45CD6DD13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420916" y="1368977"/>
            <a:ext cx="287338" cy="285750"/>
            <a:chOff x="4900613" y="3937000"/>
            <a:chExt cx="287338" cy="285750"/>
          </a:xfrm>
          <a:solidFill>
            <a:schemeClr val="bg1"/>
          </a:solidFill>
        </p:grpSpPr>
        <p:sp>
          <p:nvSpPr>
            <p:cNvPr id="93" name="Freeform 4743">
              <a:extLst>
                <a:ext uri="{FF2B5EF4-FFF2-40B4-BE49-F238E27FC236}">
                  <a16:creationId xmlns:a16="http://schemas.microsoft.com/office/drawing/2014/main" id="{A654CD2F-871A-4BFA-805D-636E7B505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37000"/>
              <a:ext cx="133350" cy="38100"/>
            </a:xfrm>
            <a:custGeom>
              <a:avLst/>
              <a:gdLst>
                <a:gd name="T0" fmla="*/ 346 w 421"/>
                <a:gd name="T1" fmla="*/ 0 h 120"/>
                <a:gd name="T2" fmla="*/ 76 w 421"/>
                <a:gd name="T3" fmla="*/ 0 h 120"/>
                <a:gd name="T4" fmla="*/ 68 w 421"/>
                <a:gd name="T5" fmla="*/ 1 h 120"/>
                <a:gd name="T6" fmla="*/ 61 w 421"/>
                <a:gd name="T7" fmla="*/ 2 h 120"/>
                <a:gd name="T8" fmla="*/ 53 w 421"/>
                <a:gd name="T9" fmla="*/ 3 h 120"/>
                <a:gd name="T10" fmla="*/ 46 w 421"/>
                <a:gd name="T11" fmla="*/ 5 h 120"/>
                <a:gd name="T12" fmla="*/ 40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8 w 421"/>
                <a:gd name="T21" fmla="*/ 27 h 120"/>
                <a:gd name="T22" fmla="*/ 13 w 421"/>
                <a:gd name="T23" fmla="*/ 33 h 120"/>
                <a:gd name="T24" fmla="*/ 10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2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20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2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5 w 421"/>
                <a:gd name="T65" fmla="*/ 5 h 120"/>
                <a:gd name="T66" fmla="*/ 368 w 421"/>
                <a:gd name="T67" fmla="*/ 3 h 120"/>
                <a:gd name="T68" fmla="*/ 361 w 421"/>
                <a:gd name="T69" fmla="*/ 2 h 120"/>
                <a:gd name="T70" fmla="*/ 354 w 421"/>
                <a:gd name="T71" fmla="*/ 1 h 120"/>
                <a:gd name="T72" fmla="*/ 346 w 421"/>
                <a:gd name="T73" fmla="*/ 0 h 120"/>
                <a:gd name="T74" fmla="*/ 346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2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8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20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2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5" y="5"/>
                  </a:lnTo>
                  <a:lnTo>
                    <a:pt x="368" y="3"/>
                  </a:lnTo>
                  <a:lnTo>
                    <a:pt x="361" y="2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4744">
              <a:extLst>
                <a:ext uri="{FF2B5EF4-FFF2-40B4-BE49-F238E27FC236}">
                  <a16:creationId xmlns:a16="http://schemas.microsoft.com/office/drawing/2014/main" id="{5A76ECC7-C209-476D-BB16-D2195C8DD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3984625"/>
              <a:ext cx="133350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2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1 h 270"/>
                <a:gd name="T12" fmla="*/ 13 w 421"/>
                <a:gd name="T13" fmla="*/ 238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7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7 h 270"/>
                <a:gd name="T42" fmla="*/ 375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2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2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1"/>
                  </a:lnTo>
                  <a:lnTo>
                    <a:pt x="13" y="238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7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7"/>
                  </a:lnTo>
                  <a:lnTo>
                    <a:pt x="375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2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Freeform 4745">
              <a:extLst>
                <a:ext uri="{FF2B5EF4-FFF2-40B4-BE49-F238E27FC236}">
                  <a16:creationId xmlns:a16="http://schemas.microsoft.com/office/drawing/2014/main" id="{842A256B-87AA-4D95-A759-ECE316A17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37000"/>
              <a:ext cx="134938" cy="38100"/>
            </a:xfrm>
            <a:custGeom>
              <a:avLst/>
              <a:gdLst>
                <a:gd name="T0" fmla="*/ 345 w 421"/>
                <a:gd name="T1" fmla="*/ 0 h 120"/>
                <a:gd name="T2" fmla="*/ 75 w 421"/>
                <a:gd name="T3" fmla="*/ 0 h 120"/>
                <a:gd name="T4" fmla="*/ 67 w 421"/>
                <a:gd name="T5" fmla="*/ 1 h 120"/>
                <a:gd name="T6" fmla="*/ 60 w 421"/>
                <a:gd name="T7" fmla="*/ 2 h 120"/>
                <a:gd name="T8" fmla="*/ 52 w 421"/>
                <a:gd name="T9" fmla="*/ 3 h 120"/>
                <a:gd name="T10" fmla="*/ 45 w 421"/>
                <a:gd name="T11" fmla="*/ 5 h 120"/>
                <a:gd name="T12" fmla="*/ 39 w 421"/>
                <a:gd name="T13" fmla="*/ 9 h 120"/>
                <a:gd name="T14" fmla="*/ 33 w 421"/>
                <a:gd name="T15" fmla="*/ 12 h 120"/>
                <a:gd name="T16" fmla="*/ 27 w 421"/>
                <a:gd name="T17" fmla="*/ 17 h 120"/>
                <a:gd name="T18" fmla="*/ 22 w 421"/>
                <a:gd name="T19" fmla="*/ 22 h 120"/>
                <a:gd name="T20" fmla="*/ 17 w 421"/>
                <a:gd name="T21" fmla="*/ 27 h 120"/>
                <a:gd name="T22" fmla="*/ 13 w 421"/>
                <a:gd name="T23" fmla="*/ 33 h 120"/>
                <a:gd name="T24" fmla="*/ 9 w 421"/>
                <a:gd name="T25" fmla="*/ 39 h 120"/>
                <a:gd name="T26" fmla="*/ 6 w 421"/>
                <a:gd name="T27" fmla="*/ 46 h 120"/>
                <a:gd name="T28" fmla="*/ 4 w 421"/>
                <a:gd name="T29" fmla="*/ 53 h 120"/>
                <a:gd name="T30" fmla="*/ 1 w 421"/>
                <a:gd name="T31" fmla="*/ 60 h 120"/>
                <a:gd name="T32" fmla="*/ 0 w 421"/>
                <a:gd name="T33" fmla="*/ 67 h 120"/>
                <a:gd name="T34" fmla="*/ 0 w 421"/>
                <a:gd name="T35" fmla="*/ 75 h 120"/>
                <a:gd name="T36" fmla="*/ 0 w 421"/>
                <a:gd name="T37" fmla="*/ 120 h 120"/>
                <a:gd name="T38" fmla="*/ 421 w 421"/>
                <a:gd name="T39" fmla="*/ 120 h 120"/>
                <a:gd name="T40" fmla="*/ 421 w 421"/>
                <a:gd name="T41" fmla="*/ 75 h 120"/>
                <a:gd name="T42" fmla="*/ 421 w 421"/>
                <a:gd name="T43" fmla="*/ 67 h 120"/>
                <a:gd name="T44" fmla="*/ 419 w 421"/>
                <a:gd name="T45" fmla="*/ 60 h 120"/>
                <a:gd name="T46" fmla="*/ 417 w 421"/>
                <a:gd name="T47" fmla="*/ 53 h 120"/>
                <a:gd name="T48" fmla="*/ 415 w 421"/>
                <a:gd name="T49" fmla="*/ 46 h 120"/>
                <a:gd name="T50" fmla="*/ 411 w 421"/>
                <a:gd name="T51" fmla="*/ 39 h 120"/>
                <a:gd name="T52" fmla="*/ 408 w 421"/>
                <a:gd name="T53" fmla="*/ 33 h 120"/>
                <a:gd name="T54" fmla="*/ 403 w 421"/>
                <a:gd name="T55" fmla="*/ 27 h 120"/>
                <a:gd name="T56" fmla="*/ 399 w 421"/>
                <a:gd name="T57" fmla="*/ 22 h 120"/>
                <a:gd name="T58" fmla="*/ 393 w 421"/>
                <a:gd name="T59" fmla="*/ 17 h 120"/>
                <a:gd name="T60" fmla="*/ 387 w 421"/>
                <a:gd name="T61" fmla="*/ 12 h 120"/>
                <a:gd name="T62" fmla="*/ 381 w 421"/>
                <a:gd name="T63" fmla="*/ 9 h 120"/>
                <a:gd name="T64" fmla="*/ 374 w 421"/>
                <a:gd name="T65" fmla="*/ 5 h 120"/>
                <a:gd name="T66" fmla="*/ 367 w 421"/>
                <a:gd name="T67" fmla="*/ 3 h 120"/>
                <a:gd name="T68" fmla="*/ 360 w 421"/>
                <a:gd name="T69" fmla="*/ 2 h 120"/>
                <a:gd name="T70" fmla="*/ 353 w 421"/>
                <a:gd name="T71" fmla="*/ 1 h 120"/>
                <a:gd name="T72" fmla="*/ 345 w 421"/>
                <a:gd name="T73" fmla="*/ 0 h 120"/>
                <a:gd name="T74" fmla="*/ 345 w 421"/>
                <a:gd name="T7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1" h="120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2"/>
                  </a:lnTo>
                  <a:lnTo>
                    <a:pt x="52" y="3"/>
                  </a:lnTo>
                  <a:lnTo>
                    <a:pt x="45" y="5"/>
                  </a:lnTo>
                  <a:lnTo>
                    <a:pt x="39" y="9"/>
                  </a:lnTo>
                  <a:lnTo>
                    <a:pt x="33" y="12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120"/>
                  </a:lnTo>
                  <a:lnTo>
                    <a:pt x="421" y="120"/>
                  </a:lnTo>
                  <a:lnTo>
                    <a:pt x="421" y="75"/>
                  </a:lnTo>
                  <a:lnTo>
                    <a:pt x="421" y="67"/>
                  </a:lnTo>
                  <a:lnTo>
                    <a:pt x="419" y="60"/>
                  </a:lnTo>
                  <a:lnTo>
                    <a:pt x="417" y="53"/>
                  </a:lnTo>
                  <a:lnTo>
                    <a:pt x="415" y="46"/>
                  </a:lnTo>
                  <a:lnTo>
                    <a:pt x="411" y="39"/>
                  </a:lnTo>
                  <a:lnTo>
                    <a:pt x="408" y="33"/>
                  </a:lnTo>
                  <a:lnTo>
                    <a:pt x="403" y="27"/>
                  </a:lnTo>
                  <a:lnTo>
                    <a:pt x="399" y="22"/>
                  </a:lnTo>
                  <a:lnTo>
                    <a:pt x="393" y="17"/>
                  </a:lnTo>
                  <a:lnTo>
                    <a:pt x="387" y="12"/>
                  </a:lnTo>
                  <a:lnTo>
                    <a:pt x="381" y="9"/>
                  </a:lnTo>
                  <a:lnTo>
                    <a:pt x="374" y="5"/>
                  </a:lnTo>
                  <a:lnTo>
                    <a:pt x="367" y="3"/>
                  </a:lnTo>
                  <a:lnTo>
                    <a:pt x="360" y="2"/>
                  </a:lnTo>
                  <a:lnTo>
                    <a:pt x="353" y="1"/>
                  </a:lnTo>
                  <a:lnTo>
                    <a:pt x="345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Freeform 4746">
              <a:extLst>
                <a:ext uri="{FF2B5EF4-FFF2-40B4-BE49-F238E27FC236}">
                  <a16:creationId xmlns:a16="http://schemas.microsoft.com/office/drawing/2014/main" id="{3D60C298-D43E-4861-BEA9-D00241730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3984625"/>
              <a:ext cx="134938" cy="85725"/>
            </a:xfrm>
            <a:custGeom>
              <a:avLst/>
              <a:gdLst>
                <a:gd name="T0" fmla="*/ 0 w 421"/>
                <a:gd name="T1" fmla="*/ 196 h 270"/>
                <a:gd name="T2" fmla="*/ 0 w 421"/>
                <a:gd name="T3" fmla="*/ 203 h 270"/>
                <a:gd name="T4" fmla="*/ 1 w 421"/>
                <a:gd name="T5" fmla="*/ 211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1 h 270"/>
                <a:gd name="T12" fmla="*/ 13 w 421"/>
                <a:gd name="T13" fmla="*/ 238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4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7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7 h 270"/>
                <a:gd name="T42" fmla="*/ 374 w 421"/>
                <a:gd name="T43" fmla="*/ 264 h 270"/>
                <a:gd name="T44" fmla="*/ 381 w 421"/>
                <a:gd name="T45" fmla="*/ 261 h 270"/>
                <a:gd name="T46" fmla="*/ 387 w 421"/>
                <a:gd name="T47" fmla="*/ 257 h 270"/>
                <a:gd name="T48" fmla="*/ 393 w 421"/>
                <a:gd name="T49" fmla="*/ 253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8 h 270"/>
                <a:gd name="T56" fmla="*/ 411 w 421"/>
                <a:gd name="T57" fmla="*/ 231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6"/>
                  </a:moveTo>
                  <a:lnTo>
                    <a:pt x="0" y="203"/>
                  </a:lnTo>
                  <a:lnTo>
                    <a:pt x="1" y="211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1"/>
                  </a:lnTo>
                  <a:lnTo>
                    <a:pt x="13" y="238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4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7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7"/>
                  </a:lnTo>
                  <a:lnTo>
                    <a:pt x="374" y="264"/>
                  </a:lnTo>
                  <a:lnTo>
                    <a:pt x="381" y="261"/>
                  </a:lnTo>
                  <a:lnTo>
                    <a:pt x="387" y="257"/>
                  </a:lnTo>
                  <a:lnTo>
                    <a:pt x="393" y="253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8"/>
                  </a:lnTo>
                  <a:lnTo>
                    <a:pt x="411" y="231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Freeform 4747">
              <a:extLst>
                <a:ext uri="{FF2B5EF4-FFF2-40B4-BE49-F238E27FC236}">
                  <a16:creationId xmlns:a16="http://schemas.microsoft.com/office/drawing/2014/main" id="{29B54F52-E2CA-455A-9AA3-2B20BE88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137025"/>
              <a:ext cx="133350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2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10 w 421"/>
                <a:gd name="T11" fmla="*/ 230 h 270"/>
                <a:gd name="T12" fmla="*/ 13 w 421"/>
                <a:gd name="T13" fmla="*/ 237 h 270"/>
                <a:gd name="T14" fmla="*/ 18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40 w 421"/>
                <a:gd name="T23" fmla="*/ 262 h 270"/>
                <a:gd name="T24" fmla="*/ 46 w 421"/>
                <a:gd name="T25" fmla="*/ 264 h 270"/>
                <a:gd name="T26" fmla="*/ 53 w 421"/>
                <a:gd name="T27" fmla="*/ 266 h 270"/>
                <a:gd name="T28" fmla="*/ 61 w 421"/>
                <a:gd name="T29" fmla="*/ 269 h 270"/>
                <a:gd name="T30" fmla="*/ 68 w 421"/>
                <a:gd name="T31" fmla="*/ 270 h 270"/>
                <a:gd name="T32" fmla="*/ 76 w 421"/>
                <a:gd name="T33" fmla="*/ 270 h 270"/>
                <a:gd name="T34" fmla="*/ 346 w 421"/>
                <a:gd name="T35" fmla="*/ 270 h 270"/>
                <a:gd name="T36" fmla="*/ 354 w 421"/>
                <a:gd name="T37" fmla="*/ 270 h 270"/>
                <a:gd name="T38" fmla="*/ 361 w 421"/>
                <a:gd name="T39" fmla="*/ 269 h 270"/>
                <a:gd name="T40" fmla="*/ 368 w 421"/>
                <a:gd name="T41" fmla="*/ 266 h 270"/>
                <a:gd name="T42" fmla="*/ 375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2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20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2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10" y="230"/>
                  </a:lnTo>
                  <a:lnTo>
                    <a:pt x="13" y="237"/>
                  </a:lnTo>
                  <a:lnTo>
                    <a:pt x="18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40" y="262"/>
                  </a:lnTo>
                  <a:lnTo>
                    <a:pt x="46" y="264"/>
                  </a:lnTo>
                  <a:lnTo>
                    <a:pt x="53" y="266"/>
                  </a:lnTo>
                  <a:lnTo>
                    <a:pt x="61" y="269"/>
                  </a:lnTo>
                  <a:lnTo>
                    <a:pt x="68" y="270"/>
                  </a:lnTo>
                  <a:lnTo>
                    <a:pt x="76" y="270"/>
                  </a:lnTo>
                  <a:lnTo>
                    <a:pt x="346" y="270"/>
                  </a:lnTo>
                  <a:lnTo>
                    <a:pt x="354" y="270"/>
                  </a:lnTo>
                  <a:lnTo>
                    <a:pt x="361" y="269"/>
                  </a:lnTo>
                  <a:lnTo>
                    <a:pt x="368" y="266"/>
                  </a:lnTo>
                  <a:lnTo>
                    <a:pt x="375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2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20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Freeform 4748">
              <a:extLst>
                <a:ext uri="{FF2B5EF4-FFF2-40B4-BE49-F238E27FC236}">
                  <a16:creationId xmlns:a16="http://schemas.microsoft.com/office/drawing/2014/main" id="{46C54F87-D686-45B0-AC4F-BD4AD01BD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613" y="4089400"/>
              <a:ext cx="133350" cy="38100"/>
            </a:xfrm>
            <a:custGeom>
              <a:avLst/>
              <a:gdLst>
                <a:gd name="T0" fmla="*/ 346 w 421"/>
                <a:gd name="T1" fmla="*/ 0 h 121"/>
                <a:gd name="T2" fmla="*/ 76 w 421"/>
                <a:gd name="T3" fmla="*/ 0 h 121"/>
                <a:gd name="T4" fmla="*/ 68 w 421"/>
                <a:gd name="T5" fmla="*/ 1 h 121"/>
                <a:gd name="T6" fmla="*/ 61 w 421"/>
                <a:gd name="T7" fmla="*/ 3 h 121"/>
                <a:gd name="T8" fmla="*/ 53 w 421"/>
                <a:gd name="T9" fmla="*/ 4 h 121"/>
                <a:gd name="T10" fmla="*/ 46 w 421"/>
                <a:gd name="T11" fmla="*/ 6 h 121"/>
                <a:gd name="T12" fmla="*/ 40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8 w 421"/>
                <a:gd name="T21" fmla="*/ 28 h 121"/>
                <a:gd name="T22" fmla="*/ 13 w 421"/>
                <a:gd name="T23" fmla="*/ 34 h 121"/>
                <a:gd name="T24" fmla="*/ 10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2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20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2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5 w 421"/>
                <a:gd name="T65" fmla="*/ 6 h 121"/>
                <a:gd name="T66" fmla="*/ 368 w 421"/>
                <a:gd name="T67" fmla="*/ 4 h 121"/>
                <a:gd name="T68" fmla="*/ 361 w 421"/>
                <a:gd name="T69" fmla="*/ 3 h 121"/>
                <a:gd name="T70" fmla="*/ 354 w 421"/>
                <a:gd name="T71" fmla="*/ 1 h 121"/>
                <a:gd name="T72" fmla="*/ 346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6" y="0"/>
                  </a:moveTo>
                  <a:lnTo>
                    <a:pt x="76" y="0"/>
                  </a:lnTo>
                  <a:lnTo>
                    <a:pt x="68" y="1"/>
                  </a:lnTo>
                  <a:lnTo>
                    <a:pt x="61" y="3"/>
                  </a:lnTo>
                  <a:lnTo>
                    <a:pt x="53" y="4"/>
                  </a:lnTo>
                  <a:lnTo>
                    <a:pt x="46" y="6"/>
                  </a:lnTo>
                  <a:lnTo>
                    <a:pt x="40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8" y="28"/>
                  </a:lnTo>
                  <a:lnTo>
                    <a:pt x="13" y="34"/>
                  </a:lnTo>
                  <a:lnTo>
                    <a:pt x="10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2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20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2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5" y="6"/>
                  </a:lnTo>
                  <a:lnTo>
                    <a:pt x="368" y="4"/>
                  </a:lnTo>
                  <a:lnTo>
                    <a:pt x="361" y="3"/>
                  </a:lnTo>
                  <a:lnTo>
                    <a:pt x="354" y="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Freeform 4749">
              <a:extLst>
                <a:ext uri="{FF2B5EF4-FFF2-40B4-BE49-F238E27FC236}">
                  <a16:creationId xmlns:a16="http://schemas.microsoft.com/office/drawing/2014/main" id="{2AD4B2ED-3FF5-413A-9E75-6FD5885D4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137025"/>
              <a:ext cx="134938" cy="85725"/>
            </a:xfrm>
            <a:custGeom>
              <a:avLst/>
              <a:gdLst>
                <a:gd name="T0" fmla="*/ 0 w 421"/>
                <a:gd name="T1" fmla="*/ 194 h 270"/>
                <a:gd name="T2" fmla="*/ 0 w 421"/>
                <a:gd name="T3" fmla="*/ 203 h 270"/>
                <a:gd name="T4" fmla="*/ 1 w 421"/>
                <a:gd name="T5" fmla="*/ 209 h 270"/>
                <a:gd name="T6" fmla="*/ 4 w 421"/>
                <a:gd name="T7" fmla="*/ 218 h 270"/>
                <a:gd name="T8" fmla="*/ 6 w 421"/>
                <a:gd name="T9" fmla="*/ 225 h 270"/>
                <a:gd name="T10" fmla="*/ 9 w 421"/>
                <a:gd name="T11" fmla="*/ 230 h 270"/>
                <a:gd name="T12" fmla="*/ 13 w 421"/>
                <a:gd name="T13" fmla="*/ 237 h 270"/>
                <a:gd name="T14" fmla="*/ 17 w 421"/>
                <a:gd name="T15" fmla="*/ 243 h 270"/>
                <a:gd name="T16" fmla="*/ 22 w 421"/>
                <a:gd name="T17" fmla="*/ 248 h 270"/>
                <a:gd name="T18" fmla="*/ 27 w 421"/>
                <a:gd name="T19" fmla="*/ 252 h 270"/>
                <a:gd name="T20" fmla="*/ 33 w 421"/>
                <a:gd name="T21" fmla="*/ 257 h 270"/>
                <a:gd name="T22" fmla="*/ 39 w 421"/>
                <a:gd name="T23" fmla="*/ 262 h 270"/>
                <a:gd name="T24" fmla="*/ 45 w 421"/>
                <a:gd name="T25" fmla="*/ 264 h 270"/>
                <a:gd name="T26" fmla="*/ 52 w 421"/>
                <a:gd name="T27" fmla="*/ 266 h 270"/>
                <a:gd name="T28" fmla="*/ 60 w 421"/>
                <a:gd name="T29" fmla="*/ 269 h 270"/>
                <a:gd name="T30" fmla="*/ 67 w 421"/>
                <a:gd name="T31" fmla="*/ 270 h 270"/>
                <a:gd name="T32" fmla="*/ 75 w 421"/>
                <a:gd name="T33" fmla="*/ 270 h 270"/>
                <a:gd name="T34" fmla="*/ 345 w 421"/>
                <a:gd name="T35" fmla="*/ 270 h 270"/>
                <a:gd name="T36" fmla="*/ 353 w 421"/>
                <a:gd name="T37" fmla="*/ 270 h 270"/>
                <a:gd name="T38" fmla="*/ 360 w 421"/>
                <a:gd name="T39" fmla="*/ 269 h 270"/>
                <a:gd name="T40" fmla="*/ 367 w 421"/>
                <a:gd name="T41" fmla="*/ 266 h 270"/>
                <a:gd name="T42" fmla="*/ 374 w 421"/>
                <a:gd name="T43" fmla="*/ 264 h 270"/>
                <a:gd name="T44" fmla="*/ 381 w 421"/>
                <a:gd name="T45" fmla="*/ 260 h 270"/>
                <a:gd name="T46" fmla="*/ 387 w 421"/>
                <a:gd name="T47" fmla="*/ 257 h 270"/>
                <a:gd name="T48" fmla="*/ 393 w 421"/>
                <a:gd name="T49" fmla="*/ 252 h 270"/>
                <a:gd name="T50" fmla="*/ 399 w 421"/>
                <a:gd name="T51" fmla="*/ 248 h 270"/>
                <a:gd name="T52" fmla="*/ 403 w 421"/>
                <a:gd name="T53" fmla="*/ 243 h 270"/>
                <a:gd name="T54" fmla="*/ 408 w 421"/>
                <a:gd name="T55" fmla="*/ 237 h 270"/>
                <a:gd name="T56" fmla="*/ 411 w 421"/>
                <a:gd name="T57" fmla="*/ 230 h 270"/>
                <a:gd name="T58" fmla="*/ 415 w 421"/>
                <a:gd name="T59" fmla="*/ 225 h 270"/>
                <a:gd name="T60" fmla="*/ 417 w 421"/>
                <a:gd name="T61" fmla="*/ 218 h 270"/>
                <a:gd name="T62" fmla="*/ 419 w 421"/>
                <a:gd name="T63" fmla="*/ 211 h 270"/>
                <a:gd name="T64" fmla="*/ 421 w 421"/>
                <a:gd name="T65" fmla="*/ 203 h 270"/>
                <a:gd name="T66" fmla="*/ 421 w 421"/>
                <a:gd name="T67" fmla="*/ 196 h 270"/>
                <a:gd name="T68" fmla="*/ 421 w 421"/>
                <a:gd name="T69" fmla="*/ 0 h 270"/>
                <a:gd name="T70" fmla="*/ 0 w 421"/>
                <a:gd name="T71" fmla="*/ 0 h 270"/>
                <a:gd name="T72" fmla="*/ 0 w 421"/>
                <a:gd name="T73" fmla="*/ 19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270">
                  <a:moveTo>
                    <a:pt x="0" y="194"/>
                  </a:moveTo>
                  <a:lnTo>
                    <a:pt x="0" y="203"/>
                  </a:lnTo>
                  <a:lnTo>
                    <a:pt x="1" y="209"/>
                  </a:lnTo>
                  <a:lnTo>
                    <a:pt x="4" y="218"/>
                  </a:lnTo>
                  <a:lnTo>
                    <a:pt x="6" y="225"/>
                  </a:lnTo>
                  <a:lnTo>
                    <a:pt x="9" y="230"/>
                  </a:lnTo>
                  <a:lnTo>
                    <a:pt x="13" y="237"/>
                  </a:lnTo>
                  <a:lnTo>
                    <a:pt x="17" y="243"/>
                  </a:lnTo>
                  <a:lnTo>
                    <a:pt x="22" y="248"/>
                  </a:lnTo>
                  <a:lnTo>
                    <a:pt x="27" y="252"/>
                  </a:lnTo>
                  <a:lnTo>
                    <a:pt x="33" y="257"/>
                  </a:lnTo>
                  <a:lnTo>
                    <a:pt x="39" y="262"/>
                  </a:lnTo>
                  <a:lnTo>
                    <a:pt x="45" y="264"/>
                  </a:lnTo>
                  <a:lnTo>
                    <a:pt x="52" y="266"/>
                  </a:lnTo>
                  <a:lnTo>
                    <a:pt x="60" y="269"/>
                  </a:lnTo>
                  <a:lnTo>
                    <a:pt x="67" y="270"/>
                  </a:lnTo>
                  <a:lnTo>
                    <a:pt x="75" y="270"/>
                  </a:lnTo>
                  <a:lnTo>
                    <a:pt x="345" y="270"/>
                  </a:lnTo>
                  <a:lnTo>
                    <a:pt x="353" y="270"/>
                  </a:lnTo>
                  <a:lnTo>
                    <a:pt x="360" y="269"/>
                  </a:lnTo>
                  <a:lnTo>
                    <a:pt x="367" y="266"/>
                  </a:lnTo>
                  <a:lnTo>
                    <a:pt x="374" y="264"/>
                  </a:lnTo>
                  <a:lnTo>
                    <a:pt x="381" y="260"/>
                  </a:lnTo>
                  <a:lnTo>
                    <a:pt x="387" y="257"/>
                  </a:lnTo>
                  <a:lnTo>
                    <a:pt x="393" y="252"/>
                  </a:lnTo>
                  <a:lnTo>
                    <a:pt x="399" y="248"/>
                  </a:lnTo>
                  <a:lnTo>
                    <a:pt x="403" y="243"/>
                  </a:lnTo>
                  <a:lnTo>
                    <a:pt x="408" y="237"/>
                  </a:lnTo>
                  <a:lnTo>
                    <a:pt x="411" y="230"/>
                  </a:lnTo>
                  <a:lnTo>
                    <a:pt x="415" y="225"/>
                  </a:lnTo>
                  <a:lnTo>
                    <a:pt x="417" y="218"/>
                  </a:lnTo>
                  <a:lnTo>
                    <a:pt x="419" y="211"/>
                  </a:lnTo>
                  <a:lnTo>
                    <a:pt x="421" y="203"/>
                  </a:lnTo>
                  <a:lnTo>
                    <a:pt x="421" y="196"/>
                  </a:lnTo>
                  <a:lnTo>
                    <a:pt x="421" y="0"/>
                  </a:lnTo>
                  <a:lnTo>
                    <a:pt x="0" y="0"/>
                  </a:lnTo>
                  <a:lnTo>
                    <a:pt x="0" y="1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4750">
              <a:extLst>
                <a:ext uri="{FF2B5EF4-FFF2-40B4-BE49-F238E27FC236}">
                  <a16:creationId xmlns:a16="http://schemas.microsoft.com/office/drawing/2014/main" id="{C94F299B-31F2-4CA4-A270-5E5DDD6CE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013" y="4089400"/>
              <a:ext cx="134938" cy="38100"/>
            </a:xfrm>
            <a:custGeom>
              <a:avLst/>
              <a:gdLst>
                <a:gd name="T0" fmla="*/ 345 w 421"/>
                <a:gd name="T1" fmla="*/ 0 h 121"/>
                <a:gd name="T2" fmla="*/ 75 w 421"/>
                <a:gd name="T3" fmla="*/ 0 h 121"/>
                <a:gd name="T4" fmla="*/ 67 w 421"/>
                <a:gd name="T5" fmla="*/ 1 h 121"/>
                <a:gd name="T6" fmla="*/ 60 w 421"/>
                <a:gd name="T7" fmla="*/ 3 h 121"/>
                <a:gd name="T8" fmla="*/ 52 w 421"/>
                <a:gd name="T9" fmla="*/ 4 h 121"/>
                <a:gd name="T10" fmla="*/ 45 w 421"/>
                <a:gd name="T11" fmla="*/ 6 h 121"/>
                <a:gd name="T12" fmla="*/ 39 w 421"/>
                <a:gd name="T13" fmla="*/ 10 h 121"/>
                <a:gd name="T14" fmla="*/ 33 w 421"/>
                <a:gd name="T15" fmla="*/ 13 h 121"/>
                <a:gd name="T16" fmla="*/ 27 w 421"/>
                <a:gd name="T17" fmla="*/ 18 h 121"/>
                <a:gd name="T18" fmla="*/ 22 w 421"/>
                <a:gd name="T19" fmla="*/ 22 h 121"/>
                <a:gd name="T20" fmla="*/ 17 w 421"/>
                <a:gd name="T21" fmla="*/ 28 h 121"/>
                <a:gd name="T22" fmla="*/ 13 w 421"/>
                <a:gd name="T23" fmla="*/ 34 h 121"/>
                <a:gd name="T24" fmla="*/ 9 w 421"/>
                <a:gd name="T25" fmla="*/ 40 h 121"/>
                <a:gd name="T26" fmla="*/ 6 w 421"/>
                <a:gd name="T27" fmla="*/ 47 h 121"/>
                <a:gd name="T28" fmla="*/ 4 w 421"/>
                <a:gd name="T29" fmla="*/ 54 h 121"/>
                <a:gd name="T30" fmla="*/ 1 w 421"/>
                <a:gd name="T31" fmla="*/ 61 h 121"/>
                <a:gd name="T32" fmla="*/ 0 w 421"/>
                <a:gd name="T33" fmla="*/ 67 h 121"/>
                <a:gd name="T34" fmla="*/ 0 w 421"/>
                <a:gd name="T35" fmla="*/ 76 h 121"/>
                <a:gd name="T36" fmla="*/ 0 w 421"/>
                <a:gd name="T37" fmla="*/ 121 h 121"/>
                <a:gd name="T38" fmla="*/ 421 w 421"/>
                <a:gd name="T39" fmla="*/ 121 h 121"/>
                <a:gd name="T40" fmla="*/ 421 w 421"/>
                <a:gd name="T41" fmla="*/ 76 h 121"/>
                <a:gd name="T42" fmla="*/ 421 w 421"/>
                <a:gd name="T43" fmla="*/ 67 h 121"/>
                <a:gd name="T44" fmla="*/ 419 w 421"/>
                <a:gd name="T45" fmla="*/ 61 h 121"/>
                <a:gd name="T46" fmla="*/ 417 w 421"/>
                <a:gd name="T47" fmla="*/ 54 h 121"/>
                <a:gd name="T48" fmla="*/ 415 w 421"/>
                <a:gd name="T49" fmla="*/ 47 h 121"/>
                <a:gd name="T50" fmla="*/ 411 w 421"/>
                <a:gd name="T51" fmla="*/ 40 h 121"/>
                <a:gd name="T52" fmla="*/ 408 w 421"/>
                <a:gd name="T53" fmla="*/ 34 h 121"/>
                <a:gd name="T54" fmla="*/ 403 w 421"/>
                <a:gd name="T55" fmla="*/ 28 h 121"/>
                <a:gd name="T56" fmla="*/ 399 w 421"/>
                <a:gd name="T57" fmla="*/ 22 h 121"/>
                <a:gd name="T58" fmla="*/ 393 w 421"/>
                <a:gd name="T59" fmla="*/ 18 h 121"/>
                <a:gd name="T60" fmla="*/ 387 w 421"/>
                <a:gd name="T61" fmla="*/ 13 h 121"/>
                <a:gd name="T62" fmla="*/ 381 w 421"/>
                <a:gd name="T63" fmla="*/ 10 h 121"/>
                <a:gd name="T64" fmla="*/ 374 w 421"/>
                <a:gd name="T65" fmla="*/ 6 h 121"/>
                <a:gd name="T66" fmla="*/ 367 w 421"/>
                <a:gd name="T67" fmla="*/ 4 h 121"/>
                <a:gd name="T68" fmla="*/ 360 w 421"/>
                <a:gd name="T69" fmla="*/ 3 h 121"/>
                <a:gd name="T70" fmla="*/ 353 w 421"/>
                <a:gd name="T71" fmla="*/ 1 h 121"/>
                <a:gd name="T72" fmla="*/ 345 w 421"/>
                <a:gd name="T73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1" h="121">
                  <a:moveTo>
                    <a:pt x="345" y="0"/>
                  </a:moveTo>
                  <a:lnTo>
                    <a:pt x="75" y="0"/>
                  </a:lnTo>
                  <a:lnTo>
                    <a:pt x="67" y="1"/>
                  </a:lnTo>
                  <a:lnTo>
                    <a:pt x="60" y="3"/>
                  </a:lnTo>
                  <a:lnTo>
                    <a:pt x="52" y="4"/>
                  </a:lnTo>
                  <a:lnTo>
                    <a:pt x="45" y="6"/>
                  </a:lnTo>
                  <a:lnTo>
                    <a:pt x="39" y="10"/>
                  </a:lnTo>
                  <a:lnTo>
                    <a:pt x="33" y="13"/>
                  </a:lnTo>
                  <a:lnTo>
                    <a:pt x="27" y="18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0"/>
                  </a:lnTo>
                  <a:lnTo>
                    <a:pt x="6" y="47"/>
                  </a:lnTo>
                  <a:lnTo>
                    <a:pt x="4" y="54"/>
                  </a:lnTo>
                  <a:lnTo>
                    <a:pt x="1" y="61"/>
                  </a:lnTo>
                  <a:lnTo>
                    <a:pt x="0" y="67"/>
                  </a:lnTo>
                  <a:lnTo>
                    <a:pt x="0" y="76"/>
                  </a:lnTo>
                  <a:lnTo>
                    <a:pt x="0" y="121"/>
                  </a:lnTo>
                  <a:lnTo>
                    <a:pt x="421" y="121"/>
                  </a:lnTo>
                  <a:lnTo>
                    <a:pt x="421" y="76"/>
                  </a:lnTo>
                  <a:lnTo>
                    <a:pt x="421" y="67"/>
                  </a:lnTo>
                  <a:lnTo>
                    <a:pt x="419" y="61"/>
                  </a:lnTo>
                  <a:lnTo>
                    <a:pt x="417" y="54"/>
                  </a:lnTo>
                  <a:lnTo>
                    <a:pt x="415" y="47"/>
                  </a:lnTo>
                  <a:lnTo>
                    <a:pt x="411" y="40"/>
                  </a:lnTo>
                  <a:lnTo>
                    <a:pt x="408" y="34"/>
                  </a:lnTo>
                  <a:lnTo>
                    <a:pt x="403" y="28"/>
                  </a:lnTo>
                  <a:lnTo>
                    <a:pt x="399" y="22"/>
                  </a:lnTo>
                  <a:lnTo>
                    <a:pt x="393" y="18"/>
                  </a:lnTo>
                  <a:lnTo>
                    <a:pt x="387" y="13"/>
                  </a:lnTo>
                  <a:lnTo>
                    <a:pt x="381" y="10"/>
                  </a:lnTo>
                  <a:lnTo>
                    <a:pt x="374" y="6"/>
                  </a:lnTo>
                  <a:lnTo>
                    <a:pt x="367" y="4"/>
                  </a:lnTo>
                  <a:lnTo>
                    <a:pt x="360" y="3"/>
                  </a:lnTo>
                  <a:lnTo>
                    <a:pt x="353" y="1"/>
                  </a:lnTo>
                  <a:lnTo>
                    <a:pt x="3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1" name="Group 100" descr="Icon of mobile phone and speech bubble.">
            <a:extLst>
              <a:ext uri="{FF2B5EF4-FFF2-40B4-BE49-F238E27FC236}">
                <a16:creationId xmlns:a16="http://schemas.microsoft.com/office/drawing/2014/main" id="{67EBF40E-2836-4B56-82CA-B0AE5592616F}"/>
              </a:ext>
            </a:extLst>
          </p:cNvPr>
          <p:cNvGrpSpPr/>
          <p:nvPr/>
        </p:nvGrpSpPr>
        <p:grpSpPr>
          <a:xfrm>
            <a:off x="6564709" y="1373740"/>
            <a:ext cx="277813" cy="276225"/>
            <a:chOff x="6105525" y="1922463"/>
            <a:chExt cx="277813" cy="276225"/>
          </a:xfrm>
          <a:solidFill>
            <a:schemeClr val="bg1"/>
          </a:solidFill>
        </p:grpSpPr>
        <p:sp>
          <p:nvSpPr>
            <p:cNvPr id="102" name="Freeform 2023">
              <a:extLst>
                <a:ext uri="{FF2B5EF4-FFF2-40B4-BE49-F238E27FC236}">
                  <a16:creationId xmlns:a16="http://schemas.microsoft.com/office/drawing/2014/main" id="{8A677BB9-7FF5-46F1-AA35-A8280C80A6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1960563"/>
              <a:ext cx="96838" cy="47625"/>
            </a:xfrm>
            <a:custGeom>
              <a:avLst/>
              <a:gdLst>
                <a:gd name="T0" fmla="*/ 195 w 303"/>
                <a:gd name="T1" fmla="*/ 105 h 150"/>
                <a:gd name="T2" fmla="*/ 165 w 303"/>
                <a:gd name="T3" fmla="*/ 105 h 150"/>
                <a:gd name="T4" fmla="*/ 162 w 303"/>
                <a:gd name="T5" fmla="*/ 105 h 150"/>
                <a:gd name="T6" fmla="*/ 160 w 303"/>
                <a:gd name="T7" fmla="*/ 104 h 150"/>
                <a:gd name="T8" fmla="*/ 157 w 303"/>
                <a:gd name="T9" fmla="*/ 103 h 150"/>
                <a:gd name="T10" fmla="*/ 155 w 303"/>
                <a:gd name="T11" fmla="*/ 101 h 150"/>
                <a:gd name="T12" fmla="*/ 153 w 303"/>
                <a:gd name="T13" fmla="*/ 98 h 150"/>
                <a:gd name="T14" fmla="*/ 151 w 303"/>
                <a:gd name="T15" fmla="*/ 96 h 150"/>
                <a:gd name="T16" fmla="*/ 151 w 303"/>
                <a:gd name="T17" fmla="*/ 93 h 150"/>
                <a:gd name="T18" fmla="*/ 150 w 303"/>
                <a:gd name="T19" fmla="*/ 90 h 150"/>
                <a:gd name="T20" fmla="*/ 151 w 303"/>
                <a:gd name="T21" fmla="*/ 88 h 150"/>
                <a:gd name="T22" fmla="*/ 151 w 303"/>
                <a:gd name="T23" fmla="*/ 85 h 150"/>
                <a:gd name="T24" fmla="*/ 153 w 303"/>
                <a:gd name="T25" fmla="*/ 82 h 150"/>
                <a:gd name="T26" fmla="*/ 155 w 303"/>
                <a:gd name="T27" fmla="*/ 80 h 150"/>
                <a:gd name="T28" fmla="*/ 157 w 303"/>
                <a:gd name="T29" fmla="*/ 78 h 150"/>
                <a:gd name="T30" fmla="*/ 160 w 303"/>
                <a:gd name="T31" fmla="*/ 77 h 150"/>
                <a:gd name="T32" fmla="*/ 162 w 303"/>
                <a:gd name="T33" fmla="*/ 76 h 150"/>
                <a:gd name="T34" fmla="*/ 165 w 303"/>
                <a:gd name="T35" fmla="*/ 75 h 150"/>
                <a:gd name="T36" fmla="*/ 195 w 303"/>
                <a:gd name="T37" fmla="*/ 75 h 150"/>
                <a:gd name="T38" fmla="*/ 199 w 303"/>
                <a:gd name="T39" fmla="*/ 76 h 150"/>
                <a:gd name="T40" fmla="*/ 202 w 303"/>
                <a:gd name="T41" fmla="*/ 77 h 150"/>
                <a:gd name="T42" fmla="*/ 204 w 303"/>
                <a:gd name="T43" fmla="*/ 78 h 150"/>
                <a:gd name="T44" fmla="*/ 206 w 303"/>
                <a:gd name="T45" fmla="*/ 80 h 150"/>
                <a:gd name="T46" fmla="*/ 208 w 303"/>
                <a:gd name="T47" fmla="*/ 82 h 150"/>
                <a:gd name="T48" fmla="*/ 209 w 303"/>
                <a:gd name="T49" fmla="*/ 85 h 150"/>
                <a:gd name="T50" fmla="*/ 210 w 303"/>
                <a:gd name="T51" fmla="*/ 88 h 150"/>
                <a:gd name="T52" fmla="*/ 210 w 303"/>
                <a:gd name="T53" fmla="*/ 90 h 150"/>
                <a:gd name="T54" fmla="*/ 210 w 303"/>
                <a:gd name="T55" fmla="*/ 93 h 150"/>
                <a:gd name="T56" fmla="*/ 209 w 303"/>
                <a:gd name="T57" fmla="*/ 96 h 150"/>
                <a:gd name="T58" fmla="*/ 208 w 303"/>
                <a:gd name="T59" fmla="*/ 98 h 150"/>
                <a:gd name="T60" fmla="*/ 206 w 303"/>
                <a:gd name="T61" fmla="*/ 101 h 150"/>
                <a:gd name="T62" fmla="*/ 204 w 303"/>
                <a:gd name="T63" fmla="*/ 103 h 150"/>
                <a:gd name="T64" fmla="*/ 202 w 303"/>
                <a:gd name="T65" fmla="*/ 104 h 150"/>
                <a:gd name="T66" fmla="*/ 199 w 303"/>
                <a:gd name="T67" fmla="*/ 105 h 150"/>
                <a:gd name="T68" fmla="*/ 195 w 303"/>
                <a:gd name="T69" fmla="*/ 105 h 150"/>
                <a:gd name="T70" fmla="*/ 195 w 303"/>
                <a:gd name="T71" fmla="*/ 105 h 150"/>
                <a:gd name="T72" fmla="*/ 300 w 303"/>
                <a:gd name="T73" fmla="*/ 135 h 150"/>
                <a:gd name="T74" fmla="*/ 300 w 303"/>
                <a:gd name="T75" fmla="*/ 0 h 150"/>
                <a:gd name="T76" fmla="*/ 90 w 303"/>
                <a:gd name="T77" fmla="*/ 0 h 150"/>
                <a:gd name="T78" fmla="*/ 82 w 303"/>
                <a:gd name="T79" fmla="*/ 1 h 150"/>
                <a:gd name="T80" fmla="*/ 72 w 303"/>
                <a:gd name="T81" fmla="*/ 2 h 150"/>
                <a:gd name="T82" fmla="*/ 63 w 303"/>
                <a:gd name="T83" fmla="*/ 4 h 150"/>
                <a:gd name="T84" fmla="*/ 55 w 303"/>
                <a:gd name="T85" fmla="*/ 7 h 150"/>
                <a:gd name="T86" fmla="*/ 47 w 303"/>
                <a:gd name="T87" fmla="*/ 10 h 150"/>
                <a:gd name="T88" fmla="*/ 40 w 303"/>
                <a:gd name="T89" fmla="*/ 15 h 150"/>
                <a:gd name="T90" fmla="*/ 32 w 303"/>
                <a:gd name="T91" fmla="*/ 20 h 150"/>
                <a:gd name="T92" fmla="*/ 27 w 303"/>
                <a:gd name="T93" fmla="*/ 27 h 150"/>
                <a:gd name="T94" fmla="*/ 20 w 303"/>
                <a:gd name="T95" fmla="*/ 33 h 150"/>
                <a:gd name="T96" fmla="*/ 15 w 303"/>
                <a:gd name="T97" fmla="*/ 39 h 150"/>
                <a:gd name="T98" fmla="*/ 11 w 303"/>
                <a:gd name="T99" fmla="*/ 47 h 150"/>
                <a:gd name="T100" fmla="*/ 8 w 303"/>
                <a:gd name="T101" fmla="*/ 54 h 150"/>
                <a:gd name="T102" fmla="*/ 4 w 303"/>
                <a:gd name="T103" fmla="*/ 63 h 150"/>
                <a:gd name="T104" fmla="*/ 2 w 303"/>
                <a:gd name="T105" fmla="*/ 72 h 150"/>
                <a:gd name="T106" fmla="*/ 1 w 303"/>
                <a:gd name="T107" fmla="*/ 81 h 150"/>
                <a:gd name="T108" fmla="*/ 0 w 303"/>
                <a:gd name="T109" fmla="*/ 90 h 150"/>
                <a:gd name="T110" fmla="*/ 0 w 303"/>
                <a:gd name="T111" fmla="*/ 150 h 150"/>
                <a:gd name="T112" fmla="*/ 303 w 303"/>
                <a:gd name="T113" fmla="*/ 150 h 150"/>
                <a:gd name="T114" fmla="*/ 301 w 303"/>
                <a:gd name="T115" fmla="*/ 144 h 150"/>
                <a:gd name="T116" fmla="*/ 300 w 303"/>
                <a:gd name="T117" fmla="*/ 135 h 150"/>
                <a:gd name="T118" fmla="*/ 300 w 303"/>
                <a:gd name="T119" fmla="*/ 13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3" h="150">
                  <a:moveTo>
                    <a:pt x="195" y="105"/>
                  </a:moveTo>
                  <a:lnTo>
                    <a:pt x="165" y="105"/>
                  </a:lnTo>
                  <a:lnTo>
                    <a:pt x="162" y="105"/>
                  </a:lnTo>
                  <a:lnTo>
                    <a:pt x="160" y="104"/>
                  </a:lnTo>
                  <a:lnTo>
                    <a:pt x="157" y="103"/>
                  </a:lnTo>
                  <a:lnTo>
                    <a:pt x="155" y="101"/>
                  </a:lnTo>
                  <a:lnTo>
                    <a:pt x="153" y="98"/>
                  </a:lnTo>
                  <a:lnTo>
                    <a:pt x="151" y="96"/>
                  </a:lnTo>
                  <a:lnTo>
                    <a:pt x="151" y="93"/>
                  </a:lnTo>
                  <a:lnTo>
                    <a:pt x="150" y="90"/>
                  </a:lnTo>
                  <a:lnTo>
                    <a:pt x="151" y="88"/>
                  </a:lnTo>
                  <a:lnTo>
                    <a:pt x="151" y="85"/>
                  </a:lnTo>
                  <a:lnTo>
                    <a:pt x="153" y="82"/>
                  </a:lnTo>
                  <a:lnTo>
                    <a:pt x="155" y="80"/>
                  </a:lnTo>
                  <a:lnTo>
                    <a:pt x="157" y="78"/>
                  </a:lnTo>
                  <a:lnTo>
                    <a:pt x="160" y="77"/>
                  </a:lnTo>
                  <a:lnTo>
                    <a:pt x="162" y="76"/>
                  </a:lnTo>
                  <a:lnTo>
                    <a:pt x="165" y="75"/>
                  </a:lnTo>
                  <a:lnTo>
                    <a:pt x="195" y="75"/>
                  </a:lnTo>
                  <a:lnTo>
                    <a:pt x="199" y="76"/>
                  </a:lnTo>
                  <a:lnTo>
                    <a:pt x="202" y="77"/>
                  </a:lnTo>
                  <a:lnTo>
                    <a:pt x="204" y="78"/>
                  </a:lnTo>
                  <a:lnTo>
                    <a:pt x="206" y="80"/>
                  </a:lnTo>
                  <a:lnTo>
                    <a:pt x="208" y="82"/>
                  </a:lnTo>
                  <a:lnTo>
                    <a:pt x="209" y="85"/>
                  </a:lnTo>
                  <a:lnTo>
                    <a:pt x="210" y="88"/>
                  </a:lnTo>
                  <a:lnTo>
                    <a:pt x="210" y="90"/>
                  </a:lnTo>
                  <a:lnTo>
                    <a:pt x="210" y="93"/>
                  </a:lnTo>
                  <a:lnTo>
                    <a:pt x="209" y="96"/>
                  </a:lnTo>
                  <a:lnTo>
                    <a:pt x="208" y="98"/>
                  </a:lnTo>
                  <a:lnTo>
                    <a:pt x="206" y="101"/>
                  </a:lnTo>
                  <a:lnTo>
                    <a:pt x="204" y="103"/>
                  </a:lnTo>
                  <a:lnTo>
                    <a:pt x="202" y="104"/>
                  </a:lnTo>
                  <a:lnTo>
                    <a:pt x="199" y="105"/>
                  </a:lnTo>
                  <a:lnTo>
                    <a:pt x="195" y="105"/>
                  </a:lnTo>
                  <a:lnTo>
                    <a:pt x="195" y="105"/>
                  </a:lnTo>
                  <a:close/>
                  <a:moveTo>
                    <a:pt x="300" y="135"/>
                  </a:moveTo>
                  <a:lnTo>
                    <a:pt x="300" y="0"/>
                  </a:lnTo>
                  <a:lnTo>
                    <a:pt x="90" y="0"/>
                  </a:lnTo>
                  <a:lnTo>
                    <a:pt x="82" y="1"/>
                  </a:lnTo>
                  <a:lnTo>
                    <a:pt x="72" y="2"/>
                  </a:lnTo>
                  <a:lnTo>
                    <a:pt x="63" y="4"/>
                  </a:lnTo>
                  <a:lnTo>
                    <a:pt x="55" y="7"/>
                  </a:lnTo>
                  <a:lnTo>
                    <a:pt x="47" y="10"/>
                  </a:lnTo>
                  <a:lnTo>
                    <a:pt x="40" y="15"/>
                  </a:lnTo>
                  <a:lnTo>
                    <a:pt x="32" y="20"/>
                  </a:lnTo>
                  <a:lnTo>
                    <a:pt x="27" y="27"/>
                  </a:lnTo>
                  <a:lnTo>
                    <a:pt x="20" y="33"/>
                  </a:lnTo>
                  <a:lnTo>
                    <a:pt x="15" y="39"/>
                  </a:lnTo>
                  <a:lnTo>
                    <a:pt x="11" y="47"/>
                  </a:lnTo>
                  <a:lnTo>
                    <a:pt x="8" y="54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1"/>
                  </a:lnTo>
                  <a:lnTo>
                    <a:pt x="0" y="90"/>
                  </a:lnTo>
                  <a:lnTo>
                    <a:pt x="0" y="150"/>
                  </a:lnTo>
                  <a:lnTo>
                    <a:pt x="303" y="150"/>
                  </a:lnTo>
                  <a:lnTo>
                    <a:pt x="301" y="144"/>
                  </a:lnTo>
                  <a:lnTo>
                    <a:pt x="300" y="135"/>
                  </a:lnTo>
                  <a:lnTo>
                    <a:pt x="300" y="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2024">
              <a:extLst>
                <a:ext uri="{FF2B5EF4-FFF2-40B4-BE49-F238E27FC236}">
                  <a16:creationId xmlns:a16="http://schemas.microsoft.com/office/drawing/2014/main" id="{A089C24C-3669-4556-BCE2-1150BE6C0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5525" y="2151063"/>
              <a:ext cx="142875" cy="47625"/>
            </a:xfrm>
            <a:custGeom>
              <a:avLst/>
              <a:gdLst>
                <a:gd name="T0" fmla="*/ 231 w 451"/>
                <a:gd name="T1" fmla="*/ 25 h 150"/>
                <a:gd name="T2" fmla="*/ 242 w 451"/>
                <a:gd name="T3" fmla="*/ 31 h 150"/>
                <a:gd name="T4" fmla="*/ 252 w 451"/>
                <a:gd name="T5" fmla="*/ 39 h 150"/>
                <a:gd name="T6" fmla="*/ 258 w 451"/>
                <a:gd name="T7" fmla="*/ 52 h 150"/>
                <a:gd name="T8" fmla="*/ 258 w 451"/>
                <a:gd name="T9" fmla="*/ 65 h 150"/>
                <a:gd name="T10" fmla="*/ 252 w 451"/>
                <a:gd name="T11" fmla="*/ 78 h 150"/>
                <a:gd name="T12" fmla="*/ 242 w 451"/>
                <a:gd name="T13" fmla="*/ 86 h 150"/>
                <a:gd name="T14" fmla="*/ 231 w 451"/>
                <a:gd name="T15" fmla="*/ 92 h 150"/>
                <a:gd name="T16" fmla="*/ 217 w 451"/>
                <a:gd name="T17" fmla="*/ 92 h 150"/>
                <a:gd name="T18" fmla="*/ 205 w 451"/>
                <a:gd name="T19" fmla="*/ 86 h 150"/>
                <a:gd name="T20" fmla="*/ 195 w 451"/>
                <a:gd name="T21" fmla="*/ 78 h 150"/>
                <a:gd name="T22" fmla="*/ 190 w 451"/>
                <a:gd name="T23" fmla="*/ 66 h 150"/>
                <a:gd name="T24" fmla="*/ 190 w 451"/>
                <a:gd name="T25" fmla="*/ 52 h 150"/>
                <a:gd name="T26" fmla="*/ 195 w 451"/>
                <a:gd name="T27" fmla="*/ 39 h 150"/>
                <a:gd name="T28" fmla="*/ 205 w 451"/>
                <a:gd name="T29" fmla="*/ 31 h 150"/>
                <a:gd name="T30" fmla="*/ 217 w 451"/>
                <a:gd name="T31" fmla="*/ 25 h 150"/>
                <a:gd name="T32" fmla="*/ 224 w 451"/>
                <a:gd name="T33" fmla="*/ 24 h 150"/>
                <a:gd name="T34" fmla="*/ 1 w 451"/>
                <a:gd name="T35" fmla="*/ 68 h 150"/>
                <a:gd name="T36" fmla="*/ 4 w 451"/>
                <a:gd name="T37" fmla="*/ 85 h 150"/>
                <a:gd name="T38" fmla="*/ 11 w 451"/>
                <a:gd name="T39" fmla="*/ 102 h 150"/>
                <a:gd name="T40" fmla="*/ 20 w 451"/>
                <a:gd name="T41" fmla="*/ 116 h 150"/>
                <a:gd name="T42" fmla="*/ 33 w 451"/>
                <a:gd name="T43" fmla="*/ 129 h 150"/>
                <a:gd name="T44" fmla="*/ 47 w 451"/>
                <a:gd name="T45" fmla="*/ 139 h 150"/>
                <a:gd name="T46" fmla="*/ 63 w 451"/>
                <a:gd name="T47" fmla="*/ 145 h 150"/>
                <a:gd name="T48" fmla="*/ 82 w 451"/>
                <a:gd name="T49" fmla="*/ 149 h 150"/>
                <a:gd name="T50" fmla="*/ 360 w 451"/>
                <a:gd name="T51" fmla="*/ 150 h 150"/>
                <a:gd name="T52" fmla="*/ 379 w 451"/>
                <a:gd name="T53" fmla="*/ 148 h 150"/>
                <a:gd name="T54" fmla="*/ 395 w 451"/>
                <a:gd name="T55" fmla="*/ 143 h 150"/>
                <a:gd name="T56" fmla="*/ 409 w 451"/>
                <a:gd name="T57" fmla="*/ 135 h 150"/>
                <a:gd name="T58" fmla="*/ 422 w 451"/>
                <a:gd name="T59" fmla="*/ 124 h 150"/>
                <a:gd name="T60" fmla="*/ 433 w 451"/>
                <a:gd name="T61" fmla="*/ 111 h 150"/>
                <a:gd name="T62" fmla="*/ 442 w 451"/>
                <a:gd name="T63" fmla="*/ 96 h 150"/>
                <a:gd name="T64" fmla="*/ 447 w 451"/>
                <a:gd name="T65" fmla="*/ 79 h 150"/>
                <a:gd name="T66" fmla="*/ 451 w 451"/>
                <a:gd name="T67" fmla="*/ 60 h 150"/>
                <a:gd name="T68" fmla="*/ 0 w 451"/>
                <a:gd name="T6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1" h="150">
                  <a:moveTo>
                    <a:pt x="224" y="24"/>
                  </a:moveTo>
                  <a:lnTo>
                    <a:pt x="231" y="25"/>
                  </a:lnTo>
                  <a:lnTo>
                    <a:pt x="237" y="27"/>
                  </a:lnTo>
                  <a:lnTo>
                    <a:pt x="242" y="31"/>
                  </a:lnTo>
                  <a:lnTo>
                    <a:pt x="248" y="35"/>
                  </a:lnTo>
                  <a:lnTo>
                    <a:pt x="252" y="39"/>
                  </a:lnTo>
                  <a:lnTo>
                    <a:pt x="255" y="46"/>
                  </a:lnTo>
                  <a:lnTo>
                    <a:pt x="258" y="52"/>
                  </a:lnTo>
                  <a:lnTo>
                    <a:pt x="258" y="59"/>
                  </a:lnTo>
                  <a:lnTo>
                    <a:pt x="258" y="65"/>
                  </a:lnTo>
                  <a:lnTo>
                    <a:pt x="255" y="71"/>
                  </a:lnTo>
                  <a:lnTo>
                    <a:pt x="252" y="78"/>
                  </a:lnTo>
                  <a:lnTo>
                    <a:pt x="248" y="83"/>
                  </a:lnTo>
                  <a:lnTo>
                    <a:pt x="242" y="86"/>
                  </a:lnTo>
                  <a:lnTo>
                    <a:pt x="237" y="90"/>
                  </a:lnTo>
                  <a:lnTo>
                    <a:pt x="231" y="92"/>
                  </a:lnTo>
                  <a:lnTo>
                    <a:pt x="224" y="93"/>
                  </a:lnTo>
                  <a:lnTo>
                    <a:pt x="217" y="92"/>
                  </a:lnTo>
                  <a:lnTo>
                    <a:pt x="210" y="90"/>
                  </a:lnTo>
                  <a:lnTo>
                    <a:pt x="205" y="86"/>
                  </a:lnTo>
                  <a:lnTo>
                    <a:pt x="200" y="83"/>
                  </a:lnTo>
                  <a:lnTo>
                    <a:pt x="195" y="78"/>
                  </a:lnTo>
                  <a:lnTo>
                    <a:pt x="192" y="71"/>
                  </a:lnTo>
                  <a:lnTo>
                    <a:pt x="190" y="66"/>
                  </a:lnTo>
                  <a:lnTo>
                    <a:pt x="190" y="59"/>
                  </a:lnTo>
                  <a:lnTo>
                    <a:pt x="190" y="52"/>
                  </a:lnTo>
                  <a:lnTo>
                    <a:pt x="192" y="46"/>
                  </a:lnTo>
                  <a:lnTo>
                    <a:pt x="195" y="39"/>
                  </a:lnTo>
                  <a:lnTo>
                    <a:pt x="200" y="35"/>
                  </a:lnTo>
                  <a:lnTo>
                    <a:pt x="205" y="31"/>
                  </a:lnTo>
                  <a:lnTo>
                    <a:pt x="210" y="27"/>
                  </a:lnTo>
                  <a:lnTo>
                    <a:pt x="217" y="25"/>
                  </a:lnTo>
                  <a:lnTo>
                    <a:pt x="224" y="24"/>
                  </a:lnTo>
                  <a:lnTo>
                    <a:pt x="224" y="24"/>
                  </a:lnTo>
                  <a:close/>
                  <a:moveTo>
                    <a:pt x="0" y="59"/>
                  </a:moveTo>
                  <a:lnTo>
                    <a:pt x="1" y="68"/>
                  </a:lnTo>
                  <a:lnTo>
                    <a:pt x="2" y="77"/>
                  </a:lnTo>
                  <a:lnTo>
                    <a:pt x="4" y="85"/>
                  </a:lnTo>
                  <a:lnTo>
                    <a:pt x="8" y="94"/>
                  </a:lnTo>
                  <a:lnTo>
                    <a:pt x="11" y="102"/>
                  </a:lnTo>
                  <a:lnTo>
                    <a:pt x="16" y="109"/>
                  </a:lnTo>
                  <a:lnTo>
                    <a:pt x="20" y="116"/>
                  </a:lnTo>
                  <a:lnTo>
                    <a:pt x="27" y="123"/>
                  </a:lnTo>
                  <a:lnTo>
                    <a:pt x="33" y="129"/>
                  </a:lnTo>
                  <a:lnTo>
                    <a:pt x="40" y="134"/>
                  </a:lnTo>
                  <a:lnTo>
                    <a:pt x="47" y="139"/>
                  </a:lnTo>
                  <a:lnTo>
                    <a:pt x="56" y="142"/>
                  </a:lnTo>
                  <a:lnTo>
                    <a:pt x="63" y="145"/>
                  </a:lnTo>
                  <a:lnTo>
                    <a:pt x="72" y="148"/>
                  </a:lnTo>
                  <a:lnTo>
                    <a:pt x="82" y="149"/>
                  </a:lnTo>
                  <a:lnTo>
                    <a:pt x="90" y="150"/>
                  </a:lnTo>
                  <a:lnTo>
                    <a:pt x="360" y="150"/>
                  </a:lnTo>
                  <a:lnTo>
                    <a:pt x="370" y="149"/>
                  </a:lnTo>
                  <a:lnTo>
                    <a:pt x="379" y="148"/>
                  </a:lnTo>
                  <a:lnTo>
                    <a:pt x="386" y="145"/>
                  </a:lnTo>
                  <a:lnTo>
                    <a:pt x="395" y="143"/>
                  </a:lnTo>
                  <a:lnTo>
                    <a:pt x="402" y="139"/>
                  </a:lnTo>
                  <a:lnTo>
                    <a:pt x="409" y="135"/>
                  </a:lnTo>
                  <a:lnTo>
                    <a:pt x="415" y="130"/>
                  </a:lnTo>
                  <a:lnTo>
                    <a:pt x="422" y="124"/>
                  </a:lnTo>
                  <a:lnTo>
                    <a:pt x="428" y="117"/>
                  </a:lnTo>
                  <a:lnTo>
                    <a:pt x="433" y="111"/>
                  </a:lnTo>
                  <a:lnTo>
                    <a:pt x="438" y="104"/>
                  </a:lnTo>
                  <a:lnTo>
                    <a:pt x="442" y="96"/>
                  </a:lnTo>
                  <a:lnTo>
                    <a:pt x="445" y="87"/>
                  </a:lnTo>
                  <a:lnTo>
                    <a:pt x="447" y="79"/>
                  </a:lnTo>
                  <a:lnTo>
                    <a:pt x="449" y="69"/>
                  </a:lnTo>
                  <a:lnTo>
                    <a:pt x="451" y="60"/>
                  </a:lnTo>
                  <a:lnTo>
                    <a:pt x="451" y="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2025">
              <a:extLst>
                <a:ext uri="{FF2B5EF4-FFF2-40B4-BE49-F238E27FC236}">
                  <a16:creationId xmlns:a16="http://schemas.microsoft.com/office/drawing/2014/main" id="{AD44BCFE-381C-4084-BB3E-AC4E2D2D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2017713"/>
              <a:ext cx="142875" cy="123825"/>
            </a:xfrm>
            <a:custGeom>
              <a:avLst/>
              <a:gdLst>
                <a:gd name="T0" fmla="*/ 318 w 451"/>
                <a:gd name="T1" fmla="*/ 0 h 390"/>
                <a:gd name="T2" fmla="*/ 30 w 451"/>
                <a:gd name="T3" fmla="*/ 0 h 390"/>
                <a:gd name="T4" fmla="*/ 0 w 451"/>
                <a:gd name="T5" fmla="*/ 0 h 390"/>
                <a:gd name="T6" fmla="*/ 0 w 451"/>
                <a:gd name="T7" fmla="*/ 390 h 390"/>
                <a:gd name="T8" fmla="*/ 451 w 451"/>
                <a:gd name="T9" fmla="*/ 390 h 390"/>
                <a:gd name="T10" fmla="*/ 451 w 451"/>
                <a:gd name="T11" fmla="*/ 30 h 390"/>
                <a:gd name="T12" fmla="*/ 375 w 451"/>
                <a:gd name="T13" fmla="*/ 30 h 390"/>
                <a:gd name="T14" fmla="*/ 367 w 451"/>
                <a:gd name="T15" fmla="*/ 29 h 390"/>
                <a:gd name="T16" fmla="*/ 359 w 451"/>
                <a:gd name="T17" fmla="*/ 27 h 390"/>
                <a:gd name="T18" fmla="*/ 351 w 451"/>
                <a:gd name="T19" fmla="*/ 25 h 390"/>
                <a:gd name="T20" fmla="*/ 343 w 451"/>
                <a:gd name="T21" fmla="*/ 21 h 390"/>
                <a:gd name="T22" fmla="*/ 336 w 451"/>
                <a:gd name="T23" fmla="*/ 17 h 390"/>
                <a:gd name="T24" fmla="*/ 329 w 451"/>
                <a:gd name="T25" fmla="*/ 12 h 390"/>
                <a:gd name="T26" fmla="*/ 323 w 451"/>
                <a:gd name="T27" fmla="*/ 6 h 390"/>
                <a:gd name="T28" fmla="*/ 318 w 451"/>
                <a:gd name="T29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1" h="390">
                  <a:moveTo>
                    <a:pt x="318" y="0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0" y="390"/>
                  </a:lnTo>
                  <a:lnTo>
                    <a:pt x="451" y="390"/>
                  </a:lnTo>
                  <a:lnTo>
                    <a:pt x="451" y="30"/>
                  </a:lnTo>
                  <a:lnTo>
                    <a:pt x="375" y="30"/>
                  </a:lnTo>
                  <a:lnTo>
                    <a:pt x="367" y="29"/>
                  </a:lnTo>
                  <a:lnTo>
                    <a:pt x="359" y="27"/>
                  </a:lnTo>
                  <a:lnTo>
                    <a:pt x="351" y="25"/>
                  </a:lnTo>
                  <a:lnTo>
                    <a:pt x="343" y="21"/>
                  </a:lnTo>
                  <a:lnTo>
                    <a:pt x="336" y="17"/>
                  </a:lnTo>
                  <a:lnTo>
                    <a:pt x="329" y="12"/>
                  </a:lnTo>
                  <a:lnTo>
                    <a:pt x="323" y="6"/>
                  </a:lnTo>
                  <a:lnTo>
                    <a:pt x="3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2026">
              <a:extLst>
                <a:ext uri="{FF2B5EF4-FFF2-40B4-BE49-F238E27FC236}">
                  <a16:creationId xmlns:a16="http://schemas.microsoft.com/office/drawing/2014/main" id="{53FDEEB6-B7E5-4317-BF5C-105279C6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0300" y="1922463"/>
              <a:ext cx="173038" cy="127000"/>
            </a:xfrm>
            <a:custGeom>
              <a:avLst/>
              <a:gdLst>
                <a:gd name="T0" fmla="*/ 360 w 542"/>
                <a:gd name="T1" fmla="*/ 172 h 400"/>
                <a:gd name="T2" fmla="*/ 351 w 542"/>
                <a:gd name="T3" fmla="*/ 166 h 400"/>
                <a:gd name="T4" fmla="*/ 348 w 542"/>
                <a:gd name="T5" fmla="*/ 155 h 400"/>
                <a:gd name="T6" fmla="*/ 351 w 542"/>
                <a:gd name="T7" fmla="*/ 144 h 400"/>
                <a:gd name="T8" fmla="*/ 360 w 542"/>
                <a:gd name="T9" fmla="*/ 138 h 400"/>
                <a:gd name="T10" fmla="*/ 372 w 542"/>
                <a:gd name="T11" fmla="*/ 137 h 400"/>
                <a:gd name="T12" fmla="*/ 381 w 542"/>
                <a:gd name="T13" fmla="*/ 142 h 400"/>
                <a:gd name="T14" fmla="*/ 385 w 542"/>
                <a:gd name="T15" fmla="*/ 152 h 400"/>
                <a:gd name="T16" fmla="*/ 384 w 542"/>
                <a:gd name="T17" fmla="*/ 163 h 400"/>
                <a:gd name="T18" fmla="*/ 378 w 542"/>
                <a:gd name="T19" fmla="*/ 171 h 400"/>
                <a:gd name="T20" fmla="*/ 367 w 542"/>
                <a:gd name="T21" fmla="*/ 174 h 400"/>
                <a:gd name="T22" fmla="*/ 269 w 542"/>
                <a:gd name="T23" fmla="*/ 174 h 400"/>
                <a:gd name="T24" fmla="*/ 259 w 542"/>
                <a:gd name="T25" fmla="*/ 169 h 400"/>
                <a:gd name="T26" fmla="*/ 254 w 542"/>
                <a:gd name="T27" fmla="*/ 159 h 400"/>
                <a:gd name="T28" fmla="*/ 256 w 542"/>
                <a:gd name="T29" fmla="*/ 148 h 400"/>
                <a:gd name="T30" fmla="*/ 262 w 542"/>
                <a:gd name="T31" fmla="*/ 140 h 400"/>
                <a:gd name="T32" fmla="*/ 273 w 542"/>
                <a:gd name="T33" fmla="*/ 137 h 400"/>
                <a:gd name="T34" fmla="*/ 284 w 542"/>
                <a:gd name="T35" fmla="*/ 140 h 400"/>
                <a:gd name="T36" fmla="*/ 290 w 542"/>
                <a:gd name="T37" fmla="*/ 148 h 400"/>
                <a:gd name="T38" fmla="*/ 291 w 542"/>
                <a:gd name="T39" fmla="*/ 159 h 400"/>
                <a:gd name="T40" fmla="*/ 286 w 542"/>
                <a:gd name="T41" fmla="*/ 169 h 400"/>
                <a:gd name="T42" fmla="*/ 276 w 542"/>
                <a:gd name="T43" fmla="*/ 174 h 400"/>
                <a:gd name="T44" fmla="*/ 177 w 542"/>
                <a:gd name="T45" fmla="*/ 174 h 400"/>
                <a:gd name="T46" fmla="*/ 168 w 542"/>
                <a:gd name="T47" fmla="*/ 171 h 400"/>
                <a:gd name="T48" fmla="*/ 160 w 542"/>
                <a:gd name="T49" fmla="*/ 163 h 400"/>
                <a:gd name="T50" fmla="*/ 159 w 542"/>
                <a:gd name="T51" fmla="*/ 152 h 400"/>
                <a:gd name="T52" fmla="*/ 165 w 542"/>
                <a:gd name="T53" fmla="*/ 142 h 400"/>
                <a:gd name="T54" fmla="*/ 174 w 542"/>
                <a:gd name="T55" fmla="*/ 137 h 400"/>
                <a:gd name="T56" fmla="*/ 185 w 542"/>
                <a:gd name="T57" fmla="*/ 138 h 400"/>
                <a:gd name="T58" fmla="*/ 193 w 542"/>
                <a:gd name="T59" fmla="*/ 144 h 400"/>
                <a:gd name="T60" fmla="*/ 197 w 542"/>
                <a:gd name="T61" fmla="*/ 155 h 400"/>
                <a:gd name="T62" fmla="*/ 193 w 542"/>
                <a:gd name="T63" fmla="*/ 166 h 400"/>
                <a:gd name="T64" fmla="*/ 185 w 542"/>
                <a:gd name="T65" fmla="*/ 173 h 400"/>
                <a:gd name="T66" fmla="*/ 177 w 542"/>
                <a:gd name="T67" fmla="*/ 174 h 400"/>
                <a:gd name="T68" fmla="*/ 37 w 542"/>
                <a:gd name="T69" fmla="*/ 1 h 400"/>
                <a:gd name="T70" fmla="*/ 14 w 542"/>
                <a:gd name="T71" fmla="*/ 14 h 400"/>
                <a:gd name="T72" fmla="*/ 2 w 542"/>
                <a:gd name="T73" fmla="*/ 36 h 400"/>
                <a:gd name="T74" fmla="*/ 2 w 542"/>
                <a:gd name="T75" fmla="*/ 264 h 400"/>
                <a:gd name="T76" fmla="*/ 14 w 542"/>
                <a:gd name="T77" fmla="*/ 287 h 400"/>
                <a:gd name="T78" fmla="*/ 37 w 542"/>
                <a:gd name="T79" fmla="*/ 300 h 400"/>
                <a:gd name="T80" fmla="*/ 91 w 542"/>
                <a:gd name="T81" fmla="*/ 301 h 400"/>
                <a:gd name="T82" fmla="*/ 172 w 542"/>
                <a:gd name="T83" fmla="*/ 302 h 400"/>
                <a:gd name="T84" fmla="*/ 178 w 542"/>
                <a:gd name="T85" fmla="*/ 307 h 400"/>
                <a:gd name="T86" fmla="*/ 182 w 542"/>
                <a:gd name="T87" fmla="*/ 316 h 400"/>
                <a:gd name="T88" fmla="*/ 280 w 542"/>
                <a:gd name="T89" fmla="*/ 303 h 400"/>
                <a:gd name="T90" fmla="*/ 288 w 542"/>
                <a:gd name="T91" fmla="*/ 301 h 400"/>
                <a:gd name="T92" fmla="*/ 513 w 542"/>
                <a:gd name="T93" fmla="*/ 297 h 400"/>
                <a:gd name="T94" fmla="*/ 533 w 542"/>
                <a:gd name="T95" fmla="*/ 280 h 400"/>
                <a:gd name="T96" fmla="*/ 542 w 542"/>
                <a:gd name="T97" fmla="*/ 255 h 400"/>
                <a:gd name="T98" fmla="*/ 538 w 542"/>
                <a:gd name="T99" fmla="*/ 29 h 400"/>
                <a:gd name="T100" fmla="*/ 522 w 542"/>
                <a:gd name="T101" fmla="*/ 8 h 400"/>
                <a:gd name="T102" fmla="*/ 497 w 542"/>
                <a:gd name="T10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42" h="400">
                  <a:moveTo>
                    <a:pt x="367" y="174"/>
                  </a:moveTo>
                  <a:lnTo>
                    <a:pt x="364" y="174"/>
                  </a:lnTo>
                  <a:lnTo>
                    <a:pt x="360" y="172"/>
                  </a:lnTo>
                  <a:lnTo>
                    <a:pt x="357" y="171"/>
                  </a:lnTo>
                  <a:lnTo>
                    <a:pt x="354" y="169"/>
                  </a:lnTo>
                  <a:lnTo>
                    <a:pt x="351" y="166"/>
                  </a:lnTo>
                  <a:lnTo>
                    <a:pt x="350" y="163"/>
                  </a:lnTo>
                  <a:lnTo>
                    <a:pt x="349" y="159"/>
                  </a:lnTo>
                  <a:lnTo>
                    <a:pt x="348" y="155"/>
                  </a:lnTo>
                  <a:lnTo>
                    <a:pt x="349" y="152"/>
                  </a:lnTo>
                  <a:lnTo>
                    <a:pt x="350" y="148"/>
                  </a:lnTo>
                  <a:lnTo>
                    <a:pt x="351" y="144"/>
                  </a:lnTo>
                  <a:lnTo>
                    <a:pt x="354" y="142"/>
                  </a:lnTo>
                  <a:lnTo>
                    <a:pt x="357" y="140"/>
                  </a:lnTo>
                  <a:lnTo>
                    <a:pt x="360" y="138"/>
                  </a:lnTo>
                  <a:lnTo>
                    <a:pt x="364" y="137"/>
                  </a:lnTo>
                  <a:lnTo>
                    <a:pt x="367" y="137"/>
                  </a:lnTo>
                  <a:lnTo>
                    <a:pt x="372" y="137"/>
                  </a:lnTo>
                  <a:lnTo>
                    <a:pt x="375" y="138"/>
                  </a:lnTo>
                  <a:lnTo>
                    <a:pt x="378" y="140"/>
                  </a:lnTo>
                  <a:lnTo>
                    <a:pt x="381" y="142"/>
                  </a:lnTo>
                  <a:lnTo>
                    <a:pt x="383" y="144"/>
                  </a:lnTo>
                  <a:lnTo>
                    <a:pt x="384" y="148"/>
                  </a:lnTo>
                  <a:lnTo>
                    <a:pt x="385" y="152"/>
                  </a:lnTo>
                  <a:lnTo>
                    <a:pt x="387" y="155"/>
                  </a:lnTo>
                  <a:lnTo>
                    <a:pt x="385" y="159"/>
                  </a:lnTo>
                  <a:lnTo>
                    <a:pt x="384" y="163"/>
                  </a:lnTo>
                  <a:lnTo>
                    <a:pt x="383" y="166"/>
                  </a:lnTo>
                  <a:lnTo>
                    <a:pt x="381" y="169"/>
                  </a:lnTo>
                  <a:lnTo>
                    <a:pt x="378" y="171"/>
                  </a:lnTo>
                  <a:lnTo>
                    <a:pt x="375" y="173"/>
                  </a:lnTo>
                  <a:lnTo>
                    <a:pt x="372" y="174"/>
                  </a:lnTo>
                  <a:lnTo>
                    <a:pt x="367" y="174"/>
                  </a:lnTo>
                  <a:lnTo>
                    <a:pt x="367" y="174"/>
                  </a:lnTo>
                  <a:close/>
                  <a:moveTo>
                    <a:pt x="273" y="174"/>
                  </a:moveTo>
                  <a:lnTo>
                    <a:pt x="269" y="174"/>
                  </a:lnTo>
                  <a:lnTo>
                    <a:pt x="265" y="172"/>
                  </a:lnTo>
                  <a:lnTo>
                    <a:pt x="262" y="171"/>
                  </a:lnTo>
                  <a:lnTo>
                    <a:pt x="259" y="169"/>
                  </a:lnTo>
                  <a:lnTo>
                    <a:pt x="257" y="166"/>
                  </a:lnTo>
                  <a:lnTo>
                    <a:pt x="256" y="163"/>
                  </a:lnTo>
                  <a:lnTo>
                    <a:pt x="254" y="159"/>
                  </a:lnTo>
                  <a:lnTo>
                    <a:pt x="254" y="155"/>
                  </a:lnTo>
                  <a:lnTo>
                    <a:pt x="254" y="152"/>
                  </a:lnTo>
                  <a:lnTo>
                    <a:pt x="256" y="148"/>
                  </a:lnTo>
                  <a:lnTo>
                    <a:pt x="257" y="144"/>
                  </a:lnTo>
                  <a:lnTo>
                    <a:pt x="259" y="142"/>
                  </a:lnTo>
                  <a:lnTo>
                    <a:pt x="262" y="140"/>
                  </a:lnTo>
                  <a:lnTo>
                    <a:pt x="265" y="138"/>
                  </a:lnTo>
                  <a:lnTo>
                    <a:pt x="269" y="137"/>
                  </a:lnTo>
                  <a:lnTo>
                    <a:pt x="273" y="137"/>
                  </a:lnTo>
                  <a:lnTo>
                    <a:pt x="276" y="137"/>
                  </a:lnTo>
                  <a:lnTo>
                    <a:pt x="280" y="138"/>
                  </a:lnTo>
                  <a:lnTo>
                    <a:pt x="284" y="140"/>
                  </a:lnTo>
                  <a:lnTo>
                    <a:pt x="286" y="142"/>
                  </a:lnTo>
                  <a:lnTo>
                    <a:pt x="288" y="144"/>
                  </a:lnTo>
                  <a:lnTo>
                    <a:pt x="290" y="148"/>
                  </a:lnTo>
                  <a:lnTo>
                    <a:pt x="291" y="152"/>
                  </a:lnTo>
                  <a:lnTo>
                    <a:pt x="291" y="155"/>
                  </a:lnTo>
                  <a:lnTo>
                    <a:pt x="291" y="159"/>
                  </a:lnTo>
                  <a:lnTo>
                    <a:pt x="290" y="163"/>
                  </a:lnTo>
                  <a:lnTo>
                    <a:pt x="288" y="166"/>
                  </a:lnTo>
                  <a:lnTo>
                    <a:pt x="286" y="169"/>
                  </a:lnTo>
                  <a:lnTo>
                    <a:pt x="284" y="171"/>
                  </a:lnTo>
                  <a:lnTo>
                    <a:pt x="280" y="173"/>
                  </a:lnTo>
                  <a:lnTo>
                    <a:pt x="276" y="174"/>
                  </a:lnTo>
                  <a:lnTo>
                    <a:pt x="273" y="174"/>
                  </a:lnTo>
                  <a:lnTo>
                    <a:pt x="273" y="174"/>
                  </a:lnTo>
                  <a:close/>
                  <a:moveTo>
                    <a:pt x="177" y="174"/>
                  </a:moveTo>
                  <a:lnTo>
                    <a:pt x="174" y="174"/>
                  </a:lnTo>
                  <a:lnTo>
                    <a:pt x="171" y="172"/>
                  </a:lnTo>
                  <a:lnTo>
                    <a:pt x="168" y="171"/>
                  </a:lnTo>
                  <a:lnTo>
                    <a:pt x="165" y="169"/>
                  </a:lnTo>
                  <a:lnTo>
                    <a:pt x="162" y="166"/>
                  </a:lnTo>
                  <a:lnTo>
                    <a:pt x="160" y="163"/>
                  </a:lnTo>
                  <a:lnTo>
                    <a:pt x="159" y="159"/>
                  </a:lnTo>
                  <a:lnTo>
                    <a:pt x="159" y="155"/>
                  </a:lnTo>
                  <a:lnTo>
                    <a:pt x="159" y="152"/>
                  </a:lnTo>
                  <a:lnTo>
                    <a:pt x="160" y="148"/>
                  </a:lnTo>
                  <a:lnTo>
                    <a:pt x="162" y="144"/>
                  </a:lnTo>
                  <a:lnTo>
                    <a:pt x="165" y="142"/>
                  </a:lnTo>
                  <a:lnTo>
                    <a:pt x="168" y="140"/>
                  </a:lnTo>
                  <a:lnTo>
                    <a:pt x="171" y="138"/>
                  </a:lnTo>
                  <a:lnTo>
                    <a:pt x="174" y="137"/>
                  </a:lnTo>
                  <a:lnTo>
                    <a:pt x="177" y="137"/>
                  </a:lnTo>
                  <a:lnTo>
                    <a:pt x="182" y="137"/>
                  </a:lnTo>
                  <a:lnTo>
                    <a:pt x="185" y="138"/>
                  </a:lnTo>
                  <a:lnTo>
                    <a:pt x="188" y="140"/>
                  </a:lnTo>
                  <a:lnTo>
                    <a:pt x="191" y="142"/>
                  </a:lnTo>
                  <a:lnTo>
                    <a:pt x="193" y="144"/>
                  </a:lnTo>
                  <a:lnTo>
                    <a:pt x="196" y="148"/>
                  </a:lnTo>
                  <a:lnTo>
                    <a:pt x="197" y="152"/>
                  </a:lnTo>
                  <a:lnTo>
                    <a:pt x="197" y="155"/>
                  </a:lnTo>
                  <a:lnTo>
                    <a:pt x="197" y="159"/>
                  </a:lnTo>
                  <a:lnTo>
                    <a:pt x="196" y="163"/>
                  </a:lnTo>
                  <a:lnTo>
                    <a:pt x="193" y="166"/>
                  </a:lnTo>
                  <a:lnTo>
                    <a:pt x="191" y="169"/>
                  </a:lnTo>
                  <a:lnTo>
                    <a:pt x="188" y="171"/>
                  </a:lnTo>
                  <a:lnTo>
                    <a:pt x="185" y="173"/>
                  </a:lnTo>
                  <a:lnTo>
                    <a:pt x="182" y="174"/>
                  </a:lnTo>
                  <a:lnTo>
                    <a:pt x="177" y="174"/>
                  </a:lnTo>
                  <a:lnTo>
                    <a:pt x="177" y="174"/>
                  </a:lnTo>
                  <a:close/>
                  <a:moveTo>
                    <a:pt x="497" y="0"/>
                  </a:moveTo>
                  <a:lnTo>
                    <a:pt x="45" y="0"/>
                  </a:lnTo>
                  <a:lnTo>
                    <a:pt x="37" y="1"/>
                  </a:lnTo>
                  <a:lnTo>
                    <a:pt x="29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9" y="21"/>
                  </a:lnTo>
                  <a:lnTo>
                    <a:pt x="5" y="29"/>
                  </a:lnTo>
                  <a:lnTo>
                    <a:pt x="2" y="36"/>
                  </a:lnTo>
                  <a:lnTo>
                    <a:pt x="0" y="45"/>
                  </a:lnTo>
                  <a:lnTo>
                    <a:pt x="0" y="255"/>
                  </a:lnTo>
                  <a:lnTo>
                    <a:pt x="2" y="264"/>
                  </a:lnTo>
                  <a:lnTo>
                    <a:pt x="5" y="272"/>
                  </a:lnTo>
                  <a:lnTo>
                    <a:pt x="9" y="280"/>
                  </a:lnTo>
                  <a:lnTo>
                    <a:pt x="14" y="287"/>
                  </a:lnTo>
                  <a:lnTo>
                    <a:pt x="22" y="292"/>
                  </a:lnTo>
                  <a:lnTo>
                    <a:pt x="29" y="297"/>
                  </a:lnTo>
                  <a:lnTo>
                    <a:pt x="37" y="300"/>
                  </a:lnTo>
                  <a:lnTo>
                    <a:pt x="45" y="301"/>
                  </a:lnTo>
                  <a:lnTo>
                    <a:pt x="76" y="301"/>
                  </a:lnTo>
                  <a:lnTo>
                    <a:pt x="91" y="301"/>
                  </a:lnTo>
                  <a:lnTo>
                    <a:pt x="167" y="301"/>
                  </a:lnTo>
                  <a:lnTo>
                    <a:pt x="169" y="301"/>
                  </a:lnTo>
                  <a:lnTo>
                    <a:pt x="172" y="302"/>
                  </a:lnTo>
                  <a:lnTo>
                    <a:pt x="174" y="303"/>
                  </a:lnTo>
                  <a:lnTo>
                    <a:pt x="176" y="305"/>
                  </a:lnTo>
                  <a:lnTo>
                    <a:pt x="178" y="307"/>
                  </a:lnTo>
                  <a:lnTo>
                    <a:pt x="180" y="310"/>
                  </a:lnTo>
                  <a:lnTo>
                    <a:pt x="181" y="313"/>
                  </a:lnTo>
                  <a:lnTo>
                    <a:pt x="182" y="316"/>
                  </a:lnTo>
                  <a:lnTo>
                    <a:pt x="182" y="400"/>
                  </a:lnTo>
                  <a:lnTo>
                    <a:pt x="278" y="305"/>
                  </a:lnTo>
                  <a:lnTo>
                    <a:pt x="280" y="303"/>
                  </a:lnTo>
                  <a:lnTo>
                    <a:pt x="283" y="302"/>
                  </a:lnTo>
                  <a:lnTo>
                    <a:pt x="286" y="301"/>
                  </a:lnTo>
                  <a:lnTo>
                    <a:pt x="288" y="301"/>
                  </a:lnTo>
                  <a:lnTo>
                    <a:pt x="497" y="301"/>
                  </a:lnTo>
                  <a:lnTo>
                    <a:pt x="506" y="300"/>
                  </a:lnTo>
                  <a:lnTo>
                    <a:pt x="513" y="297"/>
                  </a:lnTo>
                  <a:lnTo>
                    <a:pt x="522" y="292"/>
                  </a:lnTo>
                  <a:lnTo>
                    <a:pt x="528" y="287"/>
                  </a:lnTo>
                  <a:lnTo>
                    <a:pt x="533" y="280"/>
                  </a:lnTo>
                  <a:lnTo>
                    <a:pt x="538" y="272"/>
                  </a:lnTo>
                  <a:lnTo>
                    <a:pt x="541" y="264"/>
                  </a:lnTo>
                  <a:lnTo>
                    <a:pt x="542" y="255"/>
                  </a:lnTo>
                  <a:lnTo>
                    <a:pt x="542" y="45"/>
                  </a:lnTo>
                  <a:lnTo>
                    <a:pt x="541" y="36"/>
                  </a:lnTo>
                  <a:lnTo>
                    <a:pt x="538" y="29"/>
                  </a:lnTo>
                  <a:lnTo>
                    <a:pt x="533" y="21"/>
                  </a:lnTo>
                  <a:lnTo>
                    <a:pt x="528" y="14"/>
                  </a:lnTo>
                  <a:lnTo>
                    <a:pt x="522" y="8"/>
                  </a:lnTo>
                  <a:lnTo>
                    <a:pt x="513" y="4"/>
                  </a:lnTo>
                  <a:lnTo>
                    <a:pt x="506" y="1"/>
                  </a:lnTo>
                  <a:lnTo>
                    <a:pt x="497" y="0"/>
                  </a:lnTo>
                  <a:lnTo>
                    <a:pt x="4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06" name="Group 105" descr="Icon of paper. ">
            <a:extLst>
              <a:ext uri="{FF2B5EF4-FFF2-40B4-BE49-F238E27FC236}">
                <a16:creationId xmlns:a16="http://schemas.microsoft.com/office/drawing/2014/main" id="{5A7B4376-F48C-4D8D-B85C-E30B7B3E6434}"/>
              </a:ext>
            </a:extLst>
          </p:cNvPr>
          <p:cNvGrpSpPr/>
          <p:nvPr/>
        </p:nvGrpSpPr>
        <p:grpSpPr>
          <a:xfrm>
            <a:off x="8841182" y="1368977"/>
            <a:ext cx="220663" cy="285750"/>
            <a:chOff x="4926013" y="796925"/>
            <a:chExt cx="220663" cy="285750"/>
          </a:xfrm>
          <a:solidFill>
            <a:schemeClr val="bg1"/>
          </a:solidFill>
        </p:grpSpPr>
        <p:sp>
          <p:nvSpPr>
            <p:cNvPr id="107" name="Rectangle 946">
              <a:extLst>
                <a:ext uri="{FF2B5EF4-FFF2-40B4-BE49-F238E27FC236}">
                  <a16:creationId xmlns:a16="http://schemas.microsoft.com/office/drawing/2014/main" id="{E782BD69-3279-4D29-AD06-A103E2126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6025" y="996950"/>
              <a:ext cx="30163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Rectangle 947">
              <a:extLst>
                <a:ext uri="{FF2B5EF4-FFF2-40B4-BE49-F238E27FC236}">
                  <a16:creationId xmlns:a16="http://schemas.microsoft.com/office/drawing/2014/main" id="{F640AD22-6F68-4745-898A-0D4AADEA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125" y="930275"/>
              <a:ext cx="28575" cy="952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Rectangle 948">
              <a:extLst>
                <a:ext uri="{FF2B5EF4-FFF2-40B4-BE49-F238E27FC236}">
                  <a16:creationId xmlns:a16="http://schemas.microsoft.com/office/drawing/2014/main" id="{78786D45-C595-4A69-9D2B-EB0280EF2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7925" y="977900"/>
              <a:ext cx="28575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949">
              <a:extLst>
                <a:ext uri="{FF2B5EF4-FFF2-40B4-BE49-F238E27FC236}">
                  <a16:creationId xmlns:a16="http://schemas.microsoft.com/office/drawing/2014/main" id="{CF9052AD-F144-4CD7-B6F9-E2E57C7EB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6013" y="796925"/>
              <a:ext cx="220663" cy="285750"/>
            </a:xfrm>
            <a:custGeom>
              <a:avLst/>
              <a:gdLst>
                <a:gd name="T0" fmla="*/ 349 w 553"/>
                <a:gd name="T1" fmla="*/ 11 h 722"/>
                <a:gd name="T2" fmla="*/ 349 w 553"/>
                <a:gd name="T3" fmla="*/ 204 h 722"/>
                <a:gd name="T4" fmla="*/ 445 w 553"/>
                <a:gd name="T5" fmla="*/ 590 h 722"/>
                <a:gd name="T6" fmla="*/ 445 w 553"/>
                <a:gd name="T7" fmla="*/ 590 h 722"/>
                <a:gd name="T8" fmla="*/ 444 w 553"/>
                <a:gd name="T9" fmla="*/ 595 h 722"/>
                <a:gd name="T10" fmla="*/ 438 w 553"/>
                <a:gd name="T11" fmla="*/ 601 h 722"/>
                <a:gd name="T12" fmla="*/ 145 w 553"/>
                <a:gd name="T13" fmla="*/ 602 h 722"/>
                <a:gd name="T14" fmla="*/ 135 w 553"/>
                <a:gd name="T15" fmla="*/ 599 h 722"/>
                <a:gd name="T16" fmla="*/ 132 w 553"/>
                <a:gd name="T17" fmla="*/ 590 h 722"/>
                <a:gd name="T18" fmla="*/ 133 w 553"/>
                <a:gd name="T19" fmla="*/ 236 h 722"/>
                <a:gd name="T20" fmla="*/ 139 w 553"/>
                <a:gd name="T21" fmla="*/ 230 h 722"/>
                <a:gd name="T22" fmla="*/ 149 w 553"/>
                <a:gd name="T23" fmla="*/ 230 h 722"/>
                <a:gd name="T24" fmla="*/ 155 w 553"/>
                <a:gd name="T25" fmla="*/ 236 h 722"/>
                <a:gd name="T26" fmla="*/ 156 w 553"/>
                <a:gd name="T27" fmla="*/ 434 h 722"/>
                <a:gd name="T28" fmla="*/ 238 w 553"/>
                <a:gd name="T29" fmla="*/ 434 h 722"/>
                <a:gd name="T30" fmla="*/ 239 w 553"/>
                <a:gd name="T31" fmla="*/ 434 h 722"/>
                <a:gd name="T32" fmla="*/ 246 w 553"/>
                <a:gd name="T33" fmla="*/ 435 h 722"/>
                <a:gd name="T34" fmla="*/ 252 w 553"/>
                <a:gd name="T35" fmla="*/ 441 h 722"/>
                <a:gd name="T36" fmla="*/ 253 w 553"/>
                <a:gd name="T37" fmla="*/ 481 h 722"/>
                <a:gd name="T38" fmla="*/ 325 w 553"/>
                <a:gd name="T39" fmla="*/ 324 h 722"/>
                <a:gd name="T40" fmla="*/ 328 w 553"/>
                <a:gd name="T41" fmla="*/ 316 h 722"/>
                <a:gd name="T42" fmla="*/ 337 w 553"/>
                <a:gd name="T43" fmla="*/ 313 h 722"/>
                <a:gd name="T44" fmla="*/ 438 w 553"/>
                <a:gd name="T45" fmla="*/ 314 h 722"/>
                <a:gd name="T46" fmla="*/ 444 w 553"/>
                <a:gd name="T47" fmla="*/ 320 h 722"/>
                <a:gd name="T48" fmla="*/ 445 w 553"/>
                <a:gd name="T49" fmla="*/ 590 h 722"/>
                <a:gd name="T50" fmla="*/ 358 w 553"/>
                <a:gd name="T51" fmla="*/ 3 h 722"/>
                <a:gd name="T52" fmla="*/ 349 w 553"/>
                <a:gd name="T53" fmla="*/ 0 h 722"/>
                <a:gd name="T54" fmla="*/ 7 w 553"/>
                <a:gd name="T55" fmla="*/ 1 h 722"/>
                <a:gd name="T56" fmla="*/ 1 w 553"/>
                <a:gd name="T57" fmla="*/ 7 h 722"/>
                <a:gd name="T58" fmla="*/ 0 w 553"/>
                <a:gd name="T59" fmla="*/ 710 h 722"/>
                <a:gd name="T60" fmla="*/ 3 w 553"/>
                <a:gd name="T61" fmla="*/ 719 h 722"/>
                <a:gd name="T62" fmla="*/ 12 w 553"/>
                <a:gd name="T63" fmla="*/ 722 h 722"/>
                <a:gd name="T64" fmla="*/ 546 w 553"/>
                <a:gd name="T65" fmla="*/ 721 h 722"/>
                <a:gd name="T66" fmla="*/ 552 w 553"/>
                <a:gd name="T67" fmla="*/ 715 h 722"/>
                <a:gd name="T68" fmla="*/ 553 w 553"/>
                <a:gd name="T69" fmla="*/ 204 h 722"/>
                <a:gd name="T70" fmla="*/ 550 w 553"/>
                <a:gd name="T71" fmla="*/ 19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3" h="722">
                  <a:moveTo>
                    <a:pt x="349" y="204"/>
                  </a:moveTo>
                  <a:lnTo>
                    <a:pt x="349" y="11"/>
                  </a:lnTo>
                  <a:lnTo>
                    <a:pt x="541" y="204"/>
                  </a:lnTo>
                  <a:lnTo>
                    <a:pt x="349" y="204"/>
                  </a:lnTo>
                  <a:close/>
                  <a:moveTo>
                    <a:pt x="445" y="590"/>
                  </a:move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5" y="590"/>
                  </a:lnTo>
                  <a:lnTo>
                    <a:pt x="444" y="595"/>
                  </a:lnTo>
                  <a:lnTo>
                    <a:pt x="441" y="599"/>
                  </a:lnTo>
                  <a:lnTo>
                    <a:pt x="438" y="601"/>
                  </a:lnTo>
                  <a:lnTo>
                    <a:pt x="433" y="602"/>
                  </a:lnTo>
                  <a:lnTo>
                    <a:pt x="145" y="602"/>
                  </a:lnTo>
                  <a:lnTo>
                    <a:pt x="139" y="601"/>
                  </a:lnTo>
                  <a:lnTo>
                    <a:pt x="135" y="599"/>
                  </a:lnTo>
                  <a:lnTo>
                    <a:pt x="133" y="595"/>
                  </a:lnTo>
                  <a:lnTo>
                    <a:pt x="132" y="590"/>
                  </a:lnTo>
                  <a:lnTo>
                    <a:pt x="132" y="241"/>
                  </a:lnTo>
                  <a:lnTo>
                    <a:pt x="133" y="236"/>
                  </a:lnTo>
                  <a:lnTo>
                    <a:pt x="135" y="232"/>
                  </a:lnTo>
                  <a:lnTo>
                    <a:pt x="139" y="230"/>
                  </a:lnTo>
                  <a:lnTo>
                    <a:pt x="145" y="229"/>
                  </a:lnTo>
                  <a:lnTo>
                    <a:pt x="149" y="230"/>
                  </a:lnTo>
                  <a:lnTo>
                    <a:pt x="153" y="232"/>
                  </a:lnTo>
                  <a:lnTo>
                    <a:pt x="155" y="236"/>
                  </a:lnTo>
                  <a:lnTo>
                    <a:pt x="156" y="241"/>
                  </a:lnTo>
                  <a:lnTo>
                    <a:pt x="156" y="434"/>
                  </a:lnTo>
                  <a:lnTo>
                    <a:pt x="238" y="434"/>
                  </a:lnTo>
                  <a:lnTo>
                    <a:pt x="238" y="434"/>
                  </a:lnTo>
                  <a:lnTo>
                    <a:pt x="239" y="435"/>
                  </a:lnTo>
                  <a:lnTo>
                    <a:pt x="239" y="434"/>
                  </a:lnTo>
                  <a:lnTo>
                    <a:pt x="240" y="434"/>
                  </a:lnTo>
                  <a:lnTo>
                    <a:pt x="246" y="435"/>
                  </a:lnTo>
                  <a:lnTo>
                    <a:pt x="249" y="437"/>
                  </a:lnTo>
                  <a:lnTo>
                    <a:pt x="252" y="441"/>
                  </a:lnTo>
                  <a:lnTo>
                    <a:pt x="253" y="446"/>
                  </a:lnTo>
                  <a:lnTo>
                    <a:pt x="253" y="481"/>
                  </a:lnTo>
                  <a:lnTo>
                    <a:pt x="325" y="481"/>
                  </a:lnTo>
                  <a:lnTo>
                    <a:pt x="325" y="324"/>
                  </a:lnTo>
                  <a:lnTo>
                    <a:pt x="326" y="320"/>
                  </a:lnTo>
                  <a:lnTo>
                    <a:pt x="328" y="316"/>
                  </a:lnTo>
                  <a:lnTo>
                    <a:pt x="332" y="314"/>
                  </a:lnTo>
                  <a:lnTo>
                    <a:pt x="337" y="313"/>
                  </a:lnTo>
                  <a:lnTo>
                    <a:pt x="433" y="313"/>
                  </a:lnTo>
                  <a:lnTo>
                    <a:pt x="438" y="314"/>
                  </a:lnTo>
                  <a:lnTo>
                    <a:pt x="441" y="316"/>
                  </a:lnTo>
                  <a:lnTo>
                    <a:pt x="444" y="320"/>
                  </a:lnTo>
                  <a:lnTo>
                    <a:pt x="445" y="324"/>
                  </a:lnTo>
                  <a:lnTo>
                    <a:pt x="445" y="590"/>
                  </a:lnTo>
                  <a:close/>
                  <a:moveTo>
                    <a:pt x="550" y="196"/>
                  </a:moveTo>
                  <a:lnTo>
                    <a:pt x="358" y="3"/>
                  </a:lnTo>
                  <a:lnTo>
                    <a:pt x="354" y="0"/>
                  </a:lnTo>
                  <a:lnTo>
                    <a:pt x="349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710"/>
                  </a:lnTo>
                  <a:lnTo>
                    <a:pt x="1" y="715"/>
                  </a:lnTo>
                  <a:lnTo>
                    <a:pt x="3" y="719"/>
                  </a:lnTo>
                  <a:lnTo>
                    <a:pt x="7" y="721"/>
                  </a:lnTo>
                  <a:lnTo>
                    <a:pt x="12" y="722"/>
                  </a:lnTo>
                  <a:lnTo>
                    <a:pt x="541" y="722"/>
                  </a:lnTo>
                  <a:lnTo>
                    <a:pt x="546" y="721"/>
                  </a:lnTo>
                  <a:lnTo>
                    <a:pt x="550" y="719"/>
                  </a:lnTo>
                  <a:lnTo>
                    <a:pt x="552" y="715"/>
                  </a:lnTo>
                  <a:lnTo>
                    <a:pt x="553" y="710"/>
                  </a:lnTo>
                  <a:lnTo>
                    <a:pt x="553" y="204"/>
                  </a:lnTo>
                  <a:lnTo>
                    <a:pt x="552" y="200"/>
                  </a:lnTo>
                  <a:lnTo>
                    <a:pt x="550" y="1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1" name="Group 110" descr="Icon of symbol representing email.">
            <a:extLst>
              <a:ext uri="{FF2B5EF4-FFF2-40B4-BE49-F238E27FC236}">
                <a16:creationId xmlns:a16="http://schemas.microsoft.com/office/drawing/2014/main" id="{20CE09B7-A9E8-4791-ABE4-6FEC5916661D}"/>
              </a:ext>
            </a:extLst>
          </p:cNvPr>
          <p:cNvGrpSpPr/>
          <p:nvPr/>
        </p:nvGrpSpPr>
        <p:grpSpPr>
          <a:xfrm>
            <a:off x="7698977" y="1368977"/>
            <a:ext cx="285750" cy="285750"/>
            <a:chOff x="11028363" y="771525"/>
            <a:chExt cx="285750" cy="285750"/>
          </a:xfrm>
          <a:solidFill>
            <a:schemeClr val="bg1"/>
          </a:solidFill>
        </p:grpSpPr>
        <p:sp>
          <p:nvSpPr>
            <p:cNvPr id="112" name="Freeform 3620">
              <a:extLst>
                <a:ext uri="{FF2B5EF4-FFF2-40B4-BE49-F238E27FC236}">
                  <a16:creationId xmlns:a16="http://schemas.microsoft.com/office/drawing/2014/main" id="{849DA0EF-7528-4EE0-8C56-4F1997586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33125" y="776288"/>
              <a:ext cx="277812" cy="276225"/>
            </a:xfrm>
            <a:custGeom>
              <a:avLst/>
              <a:gdLst>
                <a:gd name="T0" fmla="*/ 158 w 697"/>
                <a:gd name="T1" fmla="*/ 510 h 698"/>
                <a:gd name="T2" fmla="*/ 133 w 697"/>
                <a:gd name="T3" fmla="*/ 481 h 698"/>
                <a:gd name="T4" fmla="*/ 136 w 697"/>
                <a:gd name="T5" fmla="*/ 237 h 698"/>
                <a:gd name="T6" fmla="*/ 167 w 697"/>
                <a:gd name="T7" fmla="*/ 208 h 698"/>
                <a:gd name="T8" fmla="*/ 517 w 697"/>
                <a:gd name="T9" fmla="*/ 206 h 698"/>
                <a:gd name="T10" fmla="*/ 555 w 697"/>
                <a:gd name="T11" fmla="*/ 225 h 698"/>
                <a:gd name="T12" fmla="*/ 565 w 697"/>
                <a:gd name="T13" fmla="*/ 469 h 698"/>
                <a:gd name="T14" fmla="*/ 548 w 697"/>
                <a:gd name="T15" fmla="*/ 504 h 698"/>
                <a:gd name="T16" fmla="*/ 505 w 697"/>
                <a:gd name="T17" fmla="*/ 518 h 698"/>
                <a:gd name="T18" fmla="*/ 550 w 697"/>
                <a:gd name="T19" fmla="*/ 533 h 698"/>
                <a:gd name="T20" fmla="*/ 571 w 697"/>
                <a:gd name="T21" fmla="*/ 533 h 698"/>
                <a:gd name="T22" fmla="*/ 633 w 697"/>
                <a:gd name="T23" fmla="*/ 550 h 698"/>
                <a:gd name="T24" fmla="*/ 669 w 697"/>
                <a:gd name="T25" fmla="*/ 484 h 698"/>
                <a:gd name="T26" fmla="*/ 688 w 697"/>
                <a:gd name="T27" fmla="*/ 427 h 698"/>
                <a:gd name="T28" fmla="*/ 696 w 697"/>
                <a:gd name="T29" fmla="*/ 365 h 698"/>
                <a:gd name="T30" fmla="*/ 693 w 697"/>
                <a:gd name="T31" fmla="*/ 302 h 698"/>
                <a:gd name="T32" fmla="*/ 681 w 697"/>
                <a:gd name="T33" fmla="*/ 242 h 698"/>
                <a:gd name="T34" fmla="*/ 656 w 697"/>
                <a:gd name="T35" fmla="*/ 187 h 698"/>
                <a:gd name="T36" fmla="*/ 582 w 697"/>
                <a:gd name="T37" fmla="*/ 158 h 698"/>
                <a:gd name="T38" fmla="*/ 560 w 697"/>
                <a:gd name="T39" fmla="*/ 167 h 698"/>
                <a:gd name="T40" fmla="*/ 539 w 697"/>
                <a:gd name="T41" fmla="*/ 158 h 698"/>
                <a:gd name="T42" fmla="*/ 530 w 697"/>
                <a:gd name="T43" fmla="*/ 136 h 698"/>
                <a:gd name="T44" fmla="*/ 539 w 697"/>
                <a:gd name="T45" fmla="*/ 116 h 698"/>
                <a:gd name="T46" fmla="*/ 511 w 697"/>
                <a:gd name="T47" fmla="*/ 41 h 698"/>
                <a:gd name="T48" fmla="*/ 456 w 697"/>
                <a:gd name="T49" fmla="*/ 17 h 698"/>
                <a:gd name="T50" fmla="*/ 395 w 697"/>
                <a:gd name="T51" fmla="*/ 4 h 698"/>
                <a:gd name="T52" fmla="*/ 333 w 697"/>
                <a:gd name="T53" fmla="*/ 2 h 698"/>
                <a:gd name="T54" fmla="*/ 271 w 697"/>
                <a:gd name="T55" fmla="*/ 9 h 698"/>
                <a:gd name="T56" fmla="*/ 213 w 697"/>
                <a:gd name="T57" fmla="*/ 29 h 698"/>
                <a:gd name="T58" fmla="*/ 148 w 697"/>
                <a:gd name="T59" fmla="*/ 65 h 698"/>
                <a:gd name="T60" fmla="*/ 164 w 697"/>
                <a:gd name="T61" fmla="*/ 126 h 698"/>
                <a:gd name="T62" fmla="*/ 164 w 697"/>
                <a:gd name="T63" fmla="*/ 148 h 698"/>
                <a:gd name="T64" fmla="*/ 148 w 697"/>
                <a:gd name="T65" fmla="*/ 165 h 698"/>
                <a:gd name="T66" fmla="*/ 124 w 697"/>
                <a:gd name="T67" fmla="*/ 165 h 698"/>
                <a:gd name="T68" fmla="*/ 63 w 697"/>
                <a:gd name="T69" fmla="*/ 148 h 698"/>
                <a:gd name="T70" fmla="*/ 27 w 697"/>
                <a:gd name="T71" fmla="*/ 214 h 698"/>
                <a:gd name="T72" fmla="*/ 9 w 697"/>
                <a:gd name="T73" fmla="*/ 271 h 698"/>
                <a:gd name="T74" fmla="*/ 0 w 697"/>
                <a:gd name="T75" fmla="*/ 333 h 698"/>
                <a:gd name="T76" fmla="*/ 2 w 697"/>
                <a:gd name="T77" fmla="*/ 396 h 698"/>
                <a:gd name="T78" fmla="*/ 17 w 697"/>
                <a:gd name="T79" fmla="*/ 456 h 698"/>
                <a:gd name="T80" fmla="*/ 40 w 697"/>
                <a:gd name="T81" fmla="*/ 511 h 698"/>
                <a:gd name="T82" fmla="*/ 115 w 697"/>
                <a:gd name="T83" fmla="*/ 540 h 698"/>
                <a:gd name="T84" fmla="*/ 136 w 697"/>
                <a:gd name="T85" fmla="*/ 532 h 698"/>
                <a:gd name="T86" fmla="*/ 158 w 697"/>
                <a:gd name="T87" fmla="*/ 540 h 698"/>
                <a:gd name="T88" fmla="*/ 167 w 697"/>
                <a:gd name="T89" fmla="*/ 562 h 698"/>
                <a:gd name="T90" fmla="*/ 158 w 697"/>
                <a:gd name="T91" fmla="*/ 582 h 698"/>
                <a:gd name="T92" fmla="*/ 186 w 697"/>
                <a:gd name="T93" fmla="*/ 658 h 698"/>
                <a:gd name="T94" fmla="*/ 241 w 697"/>
                <a:gd name="T95" fmla="*/ 681 h 698"/>
                <a:gd name="T96" fmla="*/ 302 w 697"/>
                <a:gd name="T97" fmla="*/ 695 h 698"/>
                <a:gd name="T98" fmla="*/ 365 w 697"/>
                <a:gd name="T99" fmla="*/ 698 h 698"/>
                <a:gd name="T100" fmla="*/ 426 w 697"/>
                <a:gd name="T101" fmla="*/ 689 h 698"/>
                <a:gd name="T102" fmla="*/ 484 w 697"/>
                <a:gd name="T103" fmla="*/ 671 h 698"/>
                <a:gd name="T104" fmla="*/ 550 w 697"/>
                <a:gd name="T105" fmla="*/ 635 h 698"/>
                <a:gd name="T106" fmla="*/ 533 w 697"/>
                <a:gd name="T107" fmla="*/ 573 h 698"/>
                <a:gd name="T108" fmla="*/ 533 w 697"/>
                <a:gd name="T109" fmla="*/ 55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97" h="698">
                  <a:moveTo>
                    <a:pt x="193" y="518"/>
                  </a:moveTo>
                  <a:lnTo>
                    <a:pt x="180" y="517"/>
                  </a:lnTo>
                  <a:lnTo>
                    <a:pt x="168" y="514"/>
                  </a:lnTo>
                  <a:lnTo>
                    <a:pt x="158" y="510"/>
                  </a:lnTo>
                  <a:lnTo>
                    <a:pt x="149" y="504"/>
                  </a:lnTo>
                  <a:lnTo>
                    <a:pt x="141" y="497"/>
                  </a:lnTo>
                  <a:lnTo>
                    <a:pt x="136" y="490"/>
                  </a:lnTo>
                  <a:lnTo>
                    <a:pt x="133" y="481"/>
                  </a:lnTo>
                  <a:lnTo>
                    <a:pt x="132" y="470"/>
                  </a:lnTo>
                  <a:lnTo>
                    <a:pt x="132" y="258"/>
                  </a:lnTo>
                  <a:lnTo>
                    <a:pt x="133" y="247"/>
                  </a:lnTo>
                  <a:lnTo>
                    <a:pt x="136" y="237"/>
                  </a:lnTo>
                  <a:lnTo>
                    <a:pt x="141" y="228"/>
                  </a:lnTo>
                  <a:lnTo>
                    <a:pt x="149" y="220"/>
                  </a:lnTo>
                  <a:lnTo>
                    <a:pt x="157" y="214"/>
                  </a:lnTo>
                  <a:lnTo>
                    <a:pt x="167" y="208"/>
                  </a:lnTo>
                  <a:lnTo>
                    <a:pt x="178" y="206"/>
                  </a:lnTo>
                  <a:lnTo>
                    <a:pt x="193" y="205"/>
                  </a:lnTo>
                  <a:lnTo>
                    <a:pt x="505" y="205"/>
                  </a:lnTo>
                  <a:lnTo>
                    <a:pt x="517" y="206"/>
                  </a:lnTo>
                  <a:lnTo>
                    <a:pt x="529" y="208"/>
                  </a:lnTo>
                  <a:lnTo>
                    <a:pt x="539" y="212"/>
                  </a:lnTo>
                  <a:lnTo>
                    <a:pt x="548" y="219"/>
                  </a:lnTo>
                  <a:lnTo>
                    <a:pt x="555" y="225"/>
                  </a:lnTo>
                  <a:lnTo>
                    <a:pt x="560" y="234"/>
                  </a:lnTo>
                  <a:lnTo>
                    <a:pt x="564" y="243"/>
                  </a:lnTo>
                  <a:lnTo>
                    <a:pt x="565" y="253"/>
                  </a:lnTo>
                  <a:lnTo>
                    <a:pt x="565" y="469"/>
                  </a:lnTo>
                  <a:lnTo>
                    <a:pt x="564" y="479"/>
                  </a:lnTo>
                  <a:lnTo>
                    <a:pt x="560" y="490"/>
                  </a:lnTo>
                  <a:lnTo>
                    <a:pt x="555" y="497"/>
                  </a:lnTo>
                  <a:lnTo>
                    <a:pt x="548" y="504"/>
                  </a:lnTo>
                  <a:lnTo>
                    <a:pt x="539" y="510"/>
                  </a:lnTo>
                  <a:lnTo>
                    <a:pt x="529" y="514"/>
                  </a:lnTo>
                  <a:lnTo>
                    <a:pt x="517" y="517"/>
                  </a:lnTo>
                  <a:lnTo>
                    <a:pt x="505" y="518"/>
                  </a:lnTo>
                  <a:lnTo>
                    <a:pt x="193" y="518"/>
                  </a:lnTo>
                  <a:close/>
                  <a:moveTo>
                    <a:pt x="539" y="540"/>
                  </a:moveTo>
                  <a:lnTo>
                    <a:pt x="544" y="536"/>
                  </a:lnTo>
                  <a:lnTo>
                    <a:pt x="550" y="533"/>
                  </a:lnTo>
                  <a:lnTo>
                    <a:pt x="555" y="532"/>
                  </a:lnTo>
                  <a:lnTo>
                    <a:pt x="560" y="532"/>
                  </a:lnTo>
                  <a:lnTo>
                    <a:pt x="566" y="532"/>
                  </a:lnTo>
                  <a:lnTo>
                    <a:pt x="571" y="533"/>
                  </a:lnTo>
                  <a:lnTo>
                    <a:pt x="577" y="536"/>
                  </a:lnTo>
                  <a:lnTo>
                    <a:pt x="582" y="540"/>
                  </a:lnTo>
                  <a:lnTo>
                    <a:pt x="615" y="573"/>
                  </a:lnTo>
                  <a:lnTo>
                    <a:pt x="633" y="550"/>
                  </a:lnTo>
                  <a:lnTo>
                    <a:pt x="650" y="524"/>
                  </a:lnTo>
                  <a:lnTo>
                    <a:pt x="656" y="511"/>
                  </a:lnTo>
                  <a:lnTo>
                    <a:pt x="664" y="499"/>
                  </a:lnTo>
                  <a:lnTo>
                    <a:pt x="669" y="484"/>
                  </a:lnTo>
                  <a:lnTo>
                    <a:pt x="675" y="470"/>
                  </a:lnTo>
                  <a:lnTo>
                    <a:pt x="681" y="456"/>
                  </a:lnTo>
                  <a:lnTo>
                    <a:pt x="684" y="442"/>
                  </a:lnTo>
                  <a:lnTo>
                    <a:pt x="688" y="427"/>
                  </a:lnTo>
                  <a:lnTo>
                    <a:pt x="691" y="411"/>
                  </a:lnTo>
                  <a:lnTo>
                    <a:pt x="693" y="396"/>
                  </a:lnTo>
                  <a:lnTo>
                    <a:pt x="696" y="380"/>
                  </a:lnTo>
                  <a:lnTo>
                    <a:pt x="696" y="365"/>
                  </a:lnTo>
                  <a:lnTo>
                    <a:pt x="697" y="350"/>
                  </a:lnTo>
                  <a:lnTo>
                    <a:pt x="696" y="333"/>
                  </a:lnTo>
                  <a:lnTo>
                    <a:pt x="696" y="318"/>
                  </a:lnTo>
                  <a:lnTo>
                    <a:pt x="693" y="302"/>
                  </a:lnTo>
                  <a:lnTo>
                    <a:pt x="691" y="287"/>
                  </a:lnTo>
                  <a:lnTo>
                    <a:pt x="688" y="271"/>
                  </a:lnTo>
                  <a:lnTo>
                    <a:pt x="684" y="257"/>
                  </a:lnTo>
                  <a:lnTo>
                    <a:pt x="681" y="242"/>
                  </a:lnTo>
                  <a:lnTo>
                    <a:pt x="675" y="228"/>
                  </a:lnTo>
                  <a:lnTo>
                    <a:pt x="669" y="214"/>
                  </a:lnTo>
                  <a:lnTo>
                    <a:pt x="664" y="201"/>
                  </a:lnTo>
                  <a:lnTo>
                    <a:pt x="656" y="187"/>
                  </a:lnTo>
                  <a:lnTo>
                    <a:pt x="650" y="174"/>
                  </a:lnTo>
                  <a:lnTo>
                    <a:pt x="633" y="148"/>
                  </a:lnTo>
                  <a:lnTo>
                    <a:pt x="615" y="125"/>
                  </a:lnTo>
                  <a:lnTo>
                    <a:pt x="582" y="158"/>
                  </a:lnTo>
                  <a:lnTo>
                    <a:pt x="577" y="162"/>
                  </a:lnTo>
                  <a:lnTo>
                    <a:pt x="571" y="165"/>
                  </a:lnTo>
                  <a:lnTo>
                    <a:pt x="566" y="167"/>
                  </a:lnTo>
                  <a:lnTo>
                    <a:pt x="560" y="167"/>
                  </a:lnTo>
                  <a:lnTo>
                    <a:pt x="555" y="166"/>
                  </a:lnTo>
                  <a:lnTo>
                    <a:pt x="550" y="165"/>
                  </a:lnTo>
                  <a:lnTo>
                    <a:pt x="544" y="162"/>
                  </a:lnTo>
                  <a:lnTo>
                    <a:pt x="539" y="158"/>
                  </a:lnTo>
                  <a:lnTo>
                    <a:pt x="535" y="153"/>
                  </a:lnTo>
                  <a:lnTo>
                    <a:pt x="533" y="148"/>
                  </a:lnTo>
                  <a:lnTo>
                    <a:pt x="532" y="143"/>
                  </a:lnTo>
                  <a:lnTo>
                    <a:pt x="530" y="136"/>
                  </a:lnTo>
                  <a:lnTo>
                    <a:pt x="532" y="131"/>
                  </a:lnTo>
                  <a:lnTo>
                    <a:pt x="533" y="126"/>
                  </a:lnTo>
                  <a:lnTo>
                    <a:pt x="535" y="121"/>
                  </a:lnTo>
                  <a:lnTo>
                    <a:pt x="539" y="116"/>
                  </a:lnTo>
                  <a:lnTo>
                    <a:pt x="573" y="83"/>
                  </a:lnTo>
                  <a:lnTo>
                    <a:pt x="550" y="65"/>
                  </a:lnTo>
                  <a:lnTo>
                    <a:pt x="524" y="48"/>
                  </a:lnTo>
                  <a:lnTo>
                    <a:pt x="511" y="41"/>
                  </a:lnTo>
                  <a:lnTo>
                    <a:pt x="497" y="34"/>
                  </a:lnTo>
                  <a:lnTo>
                    <a:pt x="484" y="29"/>
                  </a:lnTo>
                  <a:lnTo>
                    <a:pt x="470" y="22"/>
                  </a:lnTo>
                  <a:lnTo>
                    <a:pt x="456" y="17"/>
                  </a:lnTo>
                  <a:lnTo>
                    <a:pt x="440" y="13"/>
                  </a:lnTo>
                  <a:lnTo>
                    <a:pt x="426" y="9"/>
                  </a:lnTo>
                  <a:lnTo>
                    <a:pt x="411" y="7"/>
                  </a:lnTo>
                  <a:lnTo>
                    <a:pt x="395" y="4"/>
                  </a:lnTo>
                  <a:lnTo>
                    <a:pt x="380" y="2"/>
                  </a:lnTo>
                  <a:lnTo>
                    <a:pt x="365" y="2"/>
                  </a:lnTo>
                  <a:lnTo>
                    <a:pt x="348" y="0"/>
                  </a:lnTo>
                  <a:lnTo>
                    <a:pt x="333" y="2"/>
                  </a:lnTo>
                  <a:lnTo>
                    <a:pt x="317" y="2"/>
                  </a:lnTo>
                  <a:lnTo>
                    <a:pt x="302" y="4"/>
                  </a:lnTo>
                  <a:lnTo>
                    <a:pt x="286" y="7"/>
                  </a:lnTo>
                  <a:lnTo>
                    <a:pt x="271" y="9"/>
                  </a:lnTo>
                  <a:lnTo>
                    <a:pt x="255" y="13"/>
                  </a:lnTo>
                  <a:lnTo>
                    <a:pt x="241" y="17"/>
                  </a:lnTo>
                  <a:lnTo>
                    <a:pt x="227" y="22"/>
                  </a:lnTo>
                  <a:lnTo>
                    <a:pt x="213" y="29"/>
                  </a:lnTo>
                  <a:lnTo>
                    <a:pt x="199" y="34"/>
                  </a:lnTo>
                  <a:lnTo>
                    <a:pt x="186" y="41"/>
                  </a:lnTo>
                  <a:lnTo>
                    <a:pt x="173" y="48"/>
                  </a:lnTo>
                  <a:lnTo>
                    <a:pt x="148" y="65"/>
                  </a:lnTo>
                  <a:lnTo>
                    <a:pt x="124" y="83"/>
                  </a:lnTo>
                  <a:lnTo>
                    <a:pt x="158" y="116"/>
                  </a:lnTo>
                  <a:lnTo>
                    <a:pt x="162" y="121"/>
                  </a:lnTo>
                  <a:lnTo>
                    <a:pt x="164" y="126"/>
                  </a:lnTo>
                  <a:lnTo>
                    <a:pt x="166" y="131"/>
                  </a:lnTo>
                  <a:lnTo>
                    <a:pt x="167" y="136"/>
                  </a:lnTo>
                  <a:lnTo>
                    <a:pt x="166" y="143"/>
                  </a:lnTo>
                  <a:lnTo>
                    <a:pt x="164" y="148"/>
                  </a:lnTo>
                  <a:lnTo>
                    <a:pt x="162" y="153"/>
                  </a:lnTo>
                  <a:lnTo>
                    <a:pt x="158" y="158"/>
                  </a:lnTo>
                  <a:lnTo>
                    <a:pt x="153" y="162"/>
                  </a:lnTo>
                  <a:lnTo>
                    <a:pt x="148" y="165"/>
                  </a:lnTo>
                  <a:lnTo>
                    <a:pt x="142" y="167"/>
                  </a:lnTo>
                  <a:lnTo>
                    <a:pt x="136" y="167"/>
                  </a:lnTo>
                  <a:lnTo>
                    <a:pt x="131" y="166"/>
                  </a:lnTo>
                  <a:lnTo>
                    <a:pt x="124" y="165"/>
                  </a:lnTo>
                  <a:lnTo>
                    <a:pt x="119" y="162"/>
                  </a:lnTo>
                  <a:lnTo>
                    <a:pt x="115" y="158"/>
                  </a:lnTo>
                  <a:lnTo>
                    <a:pt x="82" y="125"/>
                  </a:lnTo>
                  <a:lnTo>
                    <a:pt x="63" y="148"/>
                  </a:lnTo>
                  <a:lnTo>
                    <a:pt x="47" y="174"/>
                  </a:lnTo>
                  <a:lnTo>
                    <a:pt x="40" y="187"/>
                  </a:lnTo>
                  <a:lnTo>
                    <a:pt x="33" y="201"/>
                  </a:lnTo>
                  <a:lnTo>
                    <a:pt x="27" y="214"/>
                  </a:lnTo>
                  <a:lnTo>
                    <a:pt x="22" y="228"/>
                  </a:lnTo>
                  <a:lnTo>
                    <a:pt x="17" y="242"/>
                  </a:lnTo>
                  <a:lnTo>
                    <a:pt x="13" y="257"/>
                  </a:lnTo>
                  <a:lnTo>
                    <a:pt x="9" y="271"/>
                  </a:lnTo>
                  <a:lnTo>
                    <a:pt x="5" y="287"/>
                  </a:lnTo>
                  <a:lnTo>
                    <a:pt x="2" y="302"/>
                  </a:lnTo>
                  <a:lnTo>
                    <a:pt x="1" y="318"/>
                  </a:lnTo>
                  <a:lnTo>
                    <a:pt x="0" y="333"/>
                  </a:lnTo>
                  <a:lnTo>
                    <a:pt x="0" y="350"/>
                  </a:lnTo>
                  <a:lnTo>
                    <a:pt x="0" y="365"/>
                  </a:lnTo>
                  <a:lnTo>
                    <a:pt x="1" y="380"/>
                  </a:lnTo>
                  <a:lnTo>
                    <a:pt x="2" y="396"/>
                  </a:lnTo>
                  <a:lnTo>
                    <a:pt x="5" y="411"/>
                  </a:lnTo>
                  <a:lnTo>
                    <a:pt x="9" y="427"/>
                  </a:lnTo>
                  <a:lnTo>
                    <a:pt x="13" y="442"/>
                  </a:lnTo>
                  <a:lnTo>
                    <a:pt x="17" y="456"/>
                  </a:lnTo>
                  <a:lnTo>
                    <a:pt x="22" y="470"/>
                  </a:lnTo>
                  <a:lnTo>
                    <a:pt x="27" y="484"/>
                  </a:lnTo>
                  <a:lnTo>
                    <a:pt x="33" y="499"/>
                  </a:lnTo>
                  <a:lnTo>
                    <a:pt x="40" y="511"/>
                  </a:lnTo>
                  <a:lnTo>
                    <a:pt x="47" y="524"/>
                  </a:lnTo>
                  <a:lnTo>
                    <a:pt x="63" y="550"/>
                  </a:lnTo>
                  <a:lnTo>
                    <a:pt x="82" y="573"/>
                  </a:lnTo>
                  <a:lnTo>
                    <a:pt x="115" y="540"/>
                  </a:lnTo>
                  <a:lnTo>
                    <a:pt x="119" y="536"/>
                  </a:lnTo>
                  <a:lnTo>
                    <a:pt x="124" y="533"/>
                  </a:lnTo>
                  <a:lnTo>
                    <a:pt x="131" y="532"/>
                  </a:lnTo>
                  <a:lnTo>
                    <a:pt x="136" y="532"/>
                  </a:lnTo>
                  <a:lnTo>
                    <a:pt x="142" y="532"/>
                  </a:lnTo>
                  <a:lnTo>
                    <a:pt x="148" y="533"/>
                  </a:lnTo>
                  <a:lnTo>
                    <a:pt x="153" y="536"/>
                  </a:lnTo>
                  <a:lnTo>
                    <a:pt x="158" y="540"/>
                  </a:lnTo>
                  <a:lnTo>
                    <a:pt x="162" y="545"/>
                  </a:lnTo>
                  <a:lnTo>
                    <a:pt x="164" y="550"/>
                  </a:lnTo>
                  <a:lnTo>
                    <a:pt x="166" y="555"/>
                  </a:lnTo>
                  <a:lnTo>
                    <a:pt x="167" y="562"/>
                  </a:lnTo>
                  <a:lnTo>
                    <a:pt x="166" y="567"/>
                  </a:lnTo>
                  <a:lnTo>
                    <a:pt x="164" y="573"/>
                  </a:lnTo>
                  <a:lnTo>
                    <a:pt x="162" y="578"/>
                  </a:lnTo>
                  <a:lnTo>
                    <a:pt x="158" y="582"/>
                  </a:lnTo>
                  <a:lnTo>
                    <a:pt x="124" y="615"/>
                  </a:lnTo>
                  <a:lnTo>
                    <a:pt x="148" y="635"/>
                  </a:lnTo>
                  <a:lnTo>
                    <a:pt x="173" y="650"/>
                  </a:lnTo>
                  <a:lnTo>
                    <a:pt x="186" y="658"/>
                  </a:lnTo>
                  <a:lnTo>
                    <a:pt x="199" y="664"/>
                  </a:lnTo>
                  <a:lnTo>
                    <a:pt x="213" y="671"/>
                  </a:lnTo>
                  <a:lnTo>
                    <a:pt x="227" y="676"/>
                  </a:lnTo>
                  <a:lnTo>
                    <a:pt x="241" y="681"/>
                  </a:lnTo>
                  <a:lnTo>
                    <a:pt x="255" y="685"/>
                  </a:lnTo>
                  <a:lnTo>
                    <a:pt x="271" y="689"/>
                  </a:lnTo>
                  <a:lnTo>
                    <a:pt x="286" y="693"/>
                  </a:lnTo>
                  <a:lnTo>
                    <a:pt x="302" y="695"/>
                  </a:lnTo>
                  <a:lnTo>
                    <a:pt x="317" y="696"/>
                  </a:lnTo>
                  <a:lnTo>
                    <a:pt x="333" y="698"/>
                  </a:lnTo>
                  <a:lnTo>
                    <a:pt x="348" y="698"/>
                  </a:lnTo>
                  <a:lnTo>
                    <a:pt x="365" y="698"/>
                  </a:lnTo>
                  <a:lnTo>
                    <a:pt x="380" y="696"/>
                  </a:lnTo>
                  <a:lnTo>
                    <a:pt x="395" y="695"/>
                  </a:lnTo>
                  <a:lnTo>
                    <a:pt x="411" y="693"/>
                  </a:lnTo>
                  <a:lnTo>
                    <a:pt x="426" y="689"/>
                  </a:lnTo>
                  <a:lnTo>
                    <a:pt x="440" y="685"/>
                  </a:lnTo>
                  <a:lnTo>
                    <a:pt x="456" y="681"/>
                  </a:lnTo>
                  <a:lnTo>
                    <a:pt x="470" y="676"/>
                  </a:lnTo>
                  <a:lnTo>
                    <a:pt x="484" y="671"/>
                  </a:lnTo>
                  <a:lnTo>
                    <a:pt x="497" y="664"/>
                  </a:lnTo>
                  <a:lnTo>
                    <a:pt x="511" y="658"/>
                  </a:lnTo>
                  <a:lnTo>
                    <a:pt x="524" y="650"/>
                  </a:lnTo>
                  <a:lnTo>
                    <a:pt x="550" y="635"/>
                  </a:lnTo>
                  <a:lnTo>
                    <a:pt x="573" y="615"/>
                  </a:lnTo>
                  <a:lnTo>
                    <a:pt x="539" y="582"/>
                  </a:lnTo>
                  <a:lnTo>
                    <a:pt x="535" y="578"/>
                  </a:lnTo>
                  <a:lnTo>
                    <a:pt x="533" y="573"/>
                  </a:lnTo>
                  <a:lnTo>
                    <a:pt x="532" y="567"/>
                  </a:lnTo>
                  <a:lnTo>
                    <a:pt x="530" y="562"/>
                  </a:lnTo>
                  <a:lnTo>
                    <a:pt x="532" y="555"/>
                  </a:lnTo>
                  <a:lnTo>
                    <a:pt x="533" y="550"/>
                  </a:lnTo>
                  <a:lnTo>
                    <a:pt x="535" y="545"/>
                  </a:lnTo>
                  <a:lnTo>
                    <a:pt x="539" y="5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3" name="Freeform 3621">
              <a:extLst>
                <a:ext uri="{FF2B5EF4-FFF2-40B4-BE49-F238E27FC236}">
                  <a16:creationId xmlns:a16="http://schemas.microsoft.com/office/drawing/2014/main" id="{AD76D8F2-24A8-45C7-93D1-4E507EA2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885825"/>
              <a:ext cx="123825" cy="71438"/>
            </a:xfrm>
            <a:custGeom>
              <a:avLst/>
              <a:gdLst>
                <a:gd name="T0" fmla="*/ 220 w 312"/>
                <a:gd name="T1" fmla="*/ 82 h 180"/>
                <a:gd name="T2" fmla="*/ 295 w 312"/>
                <a:gd name="T3" fmla="*/ 20 h 180"/>
                <a:gd name="T4" fmla="*/ 299 w 312"/>
                <a:gd name="T5" fmla="*/ 16 h 180"/>
                <a:gd name="T6" fmla="*/ 300 w 312"/>
                <a:gd name="T7" fmla="*/ 13 h 180"/>
                <a:gd name="T8" fmla="*/ 299 w 312"/>
                <a:gd name="T9" fmla="*/ 7 h 180"/>
                <a:gd name="T10" fmla="*/ 296 w 312"/>
                <a:gd name="T11" fmla="*/ 4 h 180"/>
                <a:gd name="T12" fmla="*/ 294 w 312"/>
                <a:gd name="T13" fmla="*/ 1 h 180"/>
                <a:gd name="T14" fmla="*/ 288 w 312"/>
                <a:gd name="T15" fmla="*/ 0 h 180"/>
                <a:gd name="T16" fmla="*/ 285 w 312"/>
                <a:gd name="T17" fmla="*/ 0 h 180"/>
                <a:gd name="T18" fmla="*/ 279 w 312"/>
                <a:gd name="T19" fmla="*/ 2 h 180"/>
                <a:gd name="T20" fmla="*/ 155 w 312"/>
                <a:gd name="T21" fmla="*/ 104 h 180"/>
                <a:gd name="T22" fmla="*/ 30 w 312"/>
                <a:gd name="T23" fmla="*/ 2 h 180"/>
                <a:gd name="T24" fmla="*/ 26 w 312"/>
                <a:gd name="T25" fmla="*/ 0 h 180"/>
                <a:gd name="T26" fmla="*/ 21 w 312"/>
                <a:gd name="T27" fmla="*/ 0 h 180"/>
                <a:gd name="T28" fmla="*/ 18 w 312"/>
                <a:gd name="T29" fmla="*/ 1 h 180"/>
                <a:gd name="T30" fmla="*/ 14 w 312"/>
                <a:gd name="T31" fmla="*/ 4 h 180"/>
                <a:gd name="T32" fmla="*/ 11 w 312"/>
                <a:gd name="T33" fmla="*/ 7 h 180"/>
                <a:gd name="T34" fmla="*/ 11 w 312"/>
                <a:gd name="T35" fmla="*/ 13 h 180"/>
                <a:gd name="T36" fmla="*/ 12 w 312"/>
                <a:gd name="T37" fmla="*/ 16 h 180"/>
                <a:gd name="T38" fmla="*/ 15 w 312"/>
                <a:gd name="T39" fmla="*/ 20 h 180"/>
                <a:gd name="T40" fmla="*/ 91 w 312"/>
                <a:gd name="T41" fmla="*/ 82 h 180"/>
                <a:gd name="T42" fmla="*/ 3 w 312"/>
                <a:gd name="T43" fmla="*/ 159 h 180"/>
                <a:gd name="T44" fmla="*/ 1 w 312"/>
                <a:gd name="T45" fmla="*/ 162 h 180"/>
                <a:gd name="T46" fmla="*/ 0 w 312"/>
                <a:gd name="T47" fmla="*/ 167 h 180"/>
                <a:gd name="T48" fmla="*/ 0 w 312"/>
                <a:gd name="T49" fmla="*/ 172 h 180"/>
                <a:gd name="T50" fmla="*/ 2 w 312"/>
                <a:gd name="T51" fmla="*/ 176 h 180"/>
                <a:gd name="T52" fmla="*/ 6 w 312"/>
                <a:gd name="T53" fmla="*/ 178 h 180"/>
                <a:gd name="T54" fmla="*/ 11 w 312"/>
                <a:gd name="T55" fmla="*/ 180 h 180"/>
                <a:gd name="T56" fmla="*/ 15 w 312"/>
                <a:gd name="T57" fmla="*/ 178 h 180"/>
                <a:gd name="T58" fmla="*/ 19 w 312"/>
                <a:gd name="T59" fmla="*/ 177 h 180"/>
                <a:gd name="T60" fmla="*/ 110 w 312"/>
                <a:gd name="T61" fmla="*/ 97 h 180"/>
                <a:gd name="T62" fmla="*/ 147 w 312"/>
                <a:gd name="T63" fmla="*/ 128 h 180"/>
                <a:gd name="T64" fmla="*/ 151 w 312"/>
                <a:gd name="T65" fmla="*/ 131 h 180"/>
                <a:gd name="T66" fmla="*/ 155 w 312"/>
                <a:gd name="T67" fmla="*/ 132 h 180"/>
                <a:gd name="T68" fmla="*/ 159 w 312"/>
                <a:gd name="T69" fmla="*/ 131 h 180"/>
                <a:gd name="T70" fmla="*/ 163 w 312"/>
                <a:gd name="T71" fmla="*/ 128 h 180"/>
                <a:gd name="T72" fmla="*/ 201 w 312"/>
                <a:gd name="T73" fmla="*/ 97 h 180"/>
                <a:gd name="T74" fmla="*/ 291 w 312"/>
                <a:gd name="T75" fmla="*/ 177 h 180"/>
                <a:gd name="T76" fmla="*/ 295 w 312"/>
                <a:gd name="T77" fmla="*/ 178 h 180"/>
                <a:gd name="T78" fmla="*/ 300 w 312"/>
                <a:gd name="T79" fmla="*/ 180 h 180"/>
                <a:gd name="T80" fmla="*/ 304 w 312"/>
                <a:gd name="T81" fmla="*/ 178 h 180"/>
                <a:gd name="T82" fmla="*/ 309 w 312"/>
                <a:gd name="T83" fmla="*/ 176 h 180"/>
                <a:gd name="T84" fmla="*/ 310 w 312"/>
                <a:gd name="T85" fmla="*/ 172 h 180"/>
                <a:gd name="T86" fmla="*/ 312 w 312"/>
                <a:gd name="T87" fmla="*/ 167 h 180"/>
                <a:gd name="T88" fmla="*/ 310 w 312"/>
                <a:gd name="T89" fmla="*/ 162 h 180"/>
                <a:gd name="T90" fmla="*/ 308 w 312"/>
                <a:gd name="T91" fmla="*/ 159 h 180"/>
                <a:gd name="T92" fmla="*/ 220 w 312"/>
                <a:gd name="T93" fmla="*/ 82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12" h="180">
                  <a:moveTo>
                    <a:pt x="220" y="82"/>
                  </a:moveTo>
                  <a:lnTo>
                    <a:pt x="295" y="20"/>
                  </a:lnTo>
                  <a:lnTo>
                    <a:pt x="299" y="16"/>
                  </a:lnTo>
                  <a:lnTo>
                    <a:pt x="300" y="13"/>
                  </a:lnTo>
                  <a:lnTo>
                    <a:pt x="299" y="7"/>
                  </a:lnTo>
                  <a:lnTo>
                    <a:pt x="296" y="4"/>
                  </a:lnTo>
                  <a:lnTo>
                    <a:pt x="294" y="1"/>
                  </a:lnTo>
                  <a:lnTo>
                    <a:pt x="288" y="0"/>
                  </a:lnTo>
                  <a:lnTo>
                    <a:pt x="285" y="0"/>
                  </a:lnTo>
                  <a:lnTo>
                    <a:pt x="279" y="2"/>
                  </a:lnTo>
                  <a:lnTo>
                    <a:pt x="155" y="10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1" y="0"/>
                  </a:lnTo>
                  <a:lnTo>
                    <a:pt x="18" y="1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11" y="13"/>
                  </a:lnTo>
                  <a:lnTo>
                    <a:pt x="12" y="16"/>
                  </a:lnTo>
                  <a:lnTo>
                    <a:pt x="15" y="20"/>
                  </a:lnTo>
                  <a:lnTo>
                    <a:pt x="91" y="82"/>
                  </a:lnTo>
                  <a:lnTo>
                    <a:pt x="3" y="159"/>
                  </a:lnTo>
                  <a:lnTo>
                    <a:pt x="1" y="162"/>
                  </a:lnTo>
                  <a:lnTo>
                    <a:pt x="0" y="167"/>
                  </a:lnTo>
                  <a:lnTo>
                    <a:pt x="0" y="172"/>
                  </a:lnTo>
                  <a:lnTo>
                    <a:pt x="2" y="176"/>
                  </a:lnTo>
                  <a:lnTo>
                    <a:pt x="6" y="178"/>
                  </a:lnTo>
                  <a:lnTo>
                    <a:pt x="11" y="180"/>
                  </a:lnTo>
                  <a:lnTo>
                    <a:pt x="15" y="178"/>
                  </a:lnTo>
                  <a:lnTo>
                    <a:pt x="19" y="177"/>
                  </a:lnTo>
                  <a:lnTo>
                    <a:pt x="110" y="97"/>
                  </a:lnTo>
                  <a:lnTo>
                    <a:pt x="147" y="128"/>
                  </a:lnTo>
                  <a:lnTo>
                    <a:pt x="151" y="131"/>
                  </a:lnTo>
                  <a:lnTo>
                    <a:pt x="155" y="132"/>
                  </a:lnTo>
                  <a:lnTo>
                    <a:pt x="159" y="131"/>
                  </a:lnTo>
                  <a:lnTo>
                    <a:pt x="163" y="128"/>
                  </a:lnTo>
                  <a:lnTo>
                    <a:pt x="201" y="97"/>
                  </a:lnTo>
                  <a:lnTo>
                    <a:pt x="291" y="177"/>
                  </a:lnTo>
                  <a:lnTo>
                    <a:pt x="295" y="178"/>
                  </a:lnTo>
                  <a:lnTo>
                    <a:pt x="300" y="180"/>
                  </a:lnTo>
                  <a:lnTo>
                    <a:pt x="304" y="178"/>
                  </a:lnTo>
                  <a:lnTo>
                    <a:pt x="309" y="176"/>
                  </a:lnTo>
                  <a:lnTo>
                    <a:pt x="310" y="172"/>
                  </a:lnTo>
                  <a:lnTo>
                    <a:pt x="312" y="167"/>
                  </a:lnTo>
                  <a:lnTo>
                    <a:pt x="310" y="162"/>
                  </a:lnTo>
                  <a:lnTo>
                    <a:pt x="308" y="159"/>
                  </a:lnTo>
                  <a:lnTo>
                    <a:pt x="220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4" name="Freeform 3622">
              <a:extLst>
                <a:ext uri="{FF2B5EF4-FFF2-40B4-BE49-F238E27FC236}">
                  <a16:creationId xmlns:a16="http://schemas.microsoft.com/office/drawing/2014/main" id="{BFC5AFB5-B934-4878-815B-12196286A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993775"/>
              <a:ext cx="63500" cy="63500"/>
            </a:xfrm>
            <a:custGeom>
              <a:avLst/>
              <a:gdLst>
                <a:gd name="T0" fmla="*/ 21 w 161"/>
                <a:gd name="T1" fmla="*/ 3 h 159"/>
                <a:gd name="T2" fmla="*/ 17 w 161"/>
                <a:gd name="T3" fmla="*/ 0 h 159"/>
                <a:gd name="T4" fmla="*/ 13 w 161"/>
                <a:gd name="T5" fmla="*/ 0 h 159"/>
                <a:gd name="T6" fmla="*/ 8 w 161"/>
                <a:gd name="T7" fmla="*/ 0 h 159"/>
                <a:gd name="T8" fmla="*/ 4 w 161"/>
                <a:gd name="T9" fmla="*/ 3 h 159"/>
                <a:gd name="T10" fmla="*/ 2 w 161"/>
                <a:gd name="T11" fmla="*/ 6 h 159"/>
                <a:gd name="T12" fmla="*/ 0 w 161"/>
                <a:gd name="T13" fmla="*/ 12 h 159"/>
                <a:gd name="T14" fmla="*/ 2 w 161"/>
                <a:gd name="T15" fmla="*/ 15 h 159"/>
                <a:gd name="T16" fmla="*/ 4 w 161"/>
                <a:gd name="T17" fmla="*/ 21 h 159"/>
                <a:gd name="T18" fmla="*/ 140 w 161"/>
                <a:gd name="T19" fmla="*/ 157 h 159"/>
                <a:gd name="T20" fmla="*/ 144 w 161"/>
                <a:gd name="T21" fmla="*/ 159 h 159"/>
                <a:gd name="T22" fmla="*/ 149 w 161"/>
                <a:gd name="T23" fmla="*/ 159 h 159"/>
                <a:gd name="T24" fmla="*/ 153 w 161"/>
                <a:gd name="T25" fmla="*/ 159 h 159"/>
                <a:gd name="T26" fmla="*/ 157 w 161"/>
                <a:gd name="T27" fmla="*/ 157 h 159"/>
                <a:gd name="T28" fmla="*/ 160 w 161"/>
                <a:gd name="T29" fmla="*/ 153 h 159"/>
                <a:gd name="T30" fmla="*/ 161 w 161"/>
                <a:gd name="T31" fmla="*/ 148 h 159"/>
                <a:gd name="T32" fmla="*/ 160 w 161"/>
                <a:gd name="T33" fmla="*/ 144 h 159"/>
                <a:gd name="T34" fmla="*/ 157 w 161"/>
                <a:gd name="T35" fmla="*/ 139 h 159"/>
                <a:gd name="T36" fmla="*/ 21 w 161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59">
                  <a:moveTo>
                    <a:pt x="21" y="3"/>
                  </a:moveTo>
                  <a:lnTo>
                    <a:pt x="17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2"/>
                  </a:lnTo>
                  <a:lnTo>
                    <a:pt x="2" y="15"/>
                  </a:lnTo>
                  <a:lnTo>
                    <a:pt x="4" y="21"/>
                  </a:lnTo>
                  <a:lnTo>
                    <a:pt x="140" y="157"/>
                  </a:lnTo>
                  <a:lnTo>
                    <a:pt x="144" y="159"/>
                  </a:lnTo>
                  <a:lnTo>
                    <a:pt x="149" y="159"/>
                  </a:lnTo>
                  <a:lnTo>
                    <a:pt x="153" y="159"/>
                  </a:lnTo>
                  <a:lnTo>
                    <a:pt x="157" y="157"/>
                  </a:lnTo>
                  <a:lnTo>
                    <a:pt x="160" y="153"/>
                  </a:lnTo>
                  <a:lnTo>
                    <a:pt x="161" y="148"/>
                  </a:lnTo>
                  <a:lnTo>
                    <a:pt x="160" y="144"/>
                  </a:lnTo>
                  <a:lnTo>
                    <a:pt x="157" y="139"/>
                  </a:lnTo>
                  <a:lnTo>
                    <a:pt x="2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Freeform 3623">
              <a:extLst>
                <a:ext uri="{FF2B5EF4-FFF2-40B4-BE49-F238E27FC236}">
                  <a16:creationId xmlns:a16="http://schemas.microsoft.com/office/drawing/2014/main" id="{6FEA2310-F55A-42DA-913D-4342D4C4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993775"/>
              <a:ext cx="63500" cy="63500"/>
            </a:xfrm>
            <a:custGeom>
              <a:avLst/>
              <a:gdLst>
                <a:gd name="T0" fmla="*/ 157 w 160"/>
                <a:gd name="T1" fmla="*/ 3 h 159"/>
                <a:gd name="T2" fmla="*/ 153 w 160"/>
                <a:gd name="T3" fmla="*/ 0 h 159"/>
                <a:gd name="T4" fmla="*/ 148 w 160"/>
                <a:gd name="T5" fmla="*/ 0 h 159"/>
                <a:gd name="T6" fmla="*/ 144 w 160"/>
                <a:gd name="T7" fmla="*/ 0 h 159"/>
                <a:gd name="T8" fmla="*/ 139 w 160"/>
                <a:gd name="T9" fmla="*/ 3 h 159"/>
                <a:gd name="T10" fmla="*/ 3 w 160"/>
                <a:gd name="T11" fmla="*/ 139 h 159"/>
                <a:gd name="T12" fmla="*/ 0 w 160"/>
                <a:gd name="T13" fmla="*/ 144 h 159"/>
                <a:gd name="T14" fmla="*/ 0 w 160"/>
                <a:gd name="T15" fmla="*/ 148 h 159"/>
                <a:gd name="T16" fmla="*/ 0 w 160"/>
                <a:gd name="T17" fmla="*/ 153 h 159"/>
                <a:gd name="T18" fmla="*/ 3 w 160"/>
                <a:gd name="T19" fmla="*/ 157 h 159"/>
                <a:gd name="T20" fmla="*/ 7 w 160"/>
                <a:gd name="T21" fmla="*/ 159 h 159"/>
                <a:gd name="T22" fmla="*/ 12 w 160"/>
                <a:gd name="T23" fmla="*/ 159 h 159"/>
                <a:gd name="T24" fmla="*/ 16 w 160"/>
                <a:gd name="T25" fmla="*/ 159 h 159"/>
                <a:gd name="T26" fmla="*/ 21 w 160"/>
                <a:gd name="T27" fmla="*/ 157 h 159"/>
                <a:gd name="T28" fmla="*/ 157 w 160"/>
                <a:gd name="T29" fmla="*/ 21 h 159"/>
                <a:gd name="T30" fmla="*/ 160 w 160"/>
                <a:gd name="T31" fmla="*/ 15 h 159"/>
                <a:gd name="T32" fmla="*/ 160 w 160"/>
                <a:gd name="T33" fmla="*/ 12 h 159"/>
                <a:gd name="T34" fmla="*/ 160 w 160"/>
                <a:gd name="T35" fmla="*/ 6 h 159"/>
                <a:gd name="T36" fmla="*/ 157 w 160"/>
                <a:gd name="T37" fmla="*/ 3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59">
                  <a:moveTo>
                    <a:pt x="157" y="3"/>
                  </a:moveTo>
                  <a:lnTo>
                    <a:pt x="153" y="0"/>
                  </a:lnTo>
                  <a:lnTo>
                    <a:pt x="148" y="0"/>
                  </a:lnTo>
                  <a:lnTo>
                    <a:pt x="144" y="0"/>
                  </a:lnTo>
                  <a:lnTo>
                    <a:pt x="139" y="3"/>
                  </a:lnTo>
                  <a:lnTo>
                    <a:pt x="3" y="139"/>
                  </a:lnTo>
                  <a:lnTo>
                    <a:pt x="0" y="144"/>
                  </a:lnTo>
                  <a:lnTo>
                    <a:pt x="0" y="148"/>
                  </a:lnTo>
                  <a:lnTo>
                    <a:pt x="0" y="153"/>
                  </a:lnTo>
                  <a:lnTo>
                    <a:pt x="3" y="157"/>
                  </a:lnTo>
                  <a:lnTo>
                    <a:pt x="7" y="159"/>
                  </a:lnTo>
                  <a:lnTo>
                    <a:pt x="12" y="159"/>
                  </a:lnTo>
                  <a:lnTo>
                    <a:pt x="16" y="159"/>
                  </a:lnTo>
                  <a:lnTo>
                    <a:pt x="21" y="157"/>
                  </a:lnTo>
                  <a:lnTo>
                    <a:pt x="157" y="21"/>
                  </a:lnTo>
                  <a:lnTo>
                    <a:pt x="160" y="15"/>
                  </a:lnTo>
                  <a:lnTo>
                    <a:pt x="160" y="12"/>
                  </a:lnTo>
                  <a:lnTo>
                    <a:pt x="160" y="6"/>
                  </a:lnTo>
                  <a:lnTo>
                    <a:pt x="157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Freeform 3624">
              <a:extLst>
                <a:ext uri="{FF2B5EF4-FFF2-40B4-BE49-F238E27FC236}">
                  <a16:creationId xmlns:a16="http://schemas.microsoft.com/office/drawing/2014/main" id="{A80953AC-975D-4E59-BEC4-4B21BEA8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0613" y="771525"/>
              <a:ext cx="63500" cy="63500"/>
            </a:xfrm>
            <a:custGeom>
              <a:avLst/>
              <a:gdLst>
                <a:gd name="T0" fmla="*/ 4 w 161"/>
                <a:gd name="T1" fmla="*/ 156 h 160"/>
                <a:gd name="T2" fmla="*/ 8 w 161"/>
                <a:gd name="T3" fmla="*/ 159 h 160"/>
                <a:gd name="T4" fmla="*/ 12 w 161"/>
                <a:gd name="T5" fmla="*/ 160 h 160"/>
                <a:gd name="T6" fmla="*/ 17 w 161"/>
                <a:gd name="T7" fmla="*/ 159 h 160"/>
                <a:gd name="T8" fmla="*/ 21 w 161"/>
                <a:gd name="T9" fmla="*/ 156 h 160"/>
                <a:gd name="T10" fmla="*/ 157 w 161"/>
                <a:gd name="T11" fmla="*/ 20 h 160"/>
                <a:gd name="T12" fmla="*/ 160 w 161"/>
                <a:gd name="T13" fmla="*/ 16 h 160"/>
                <a:gd name="T14" fmla="*/ 161 w 161"/>
                <a:gd name="T15" fmla="*/ 11 h 160"/>
                <a:gd name="T16" fmla="*/ 160 w 161"/>
                <a:gd name="T17" fmla="*/ 7 h 160"/>
                <a:gd name="T18" fmla="*/ 157 w 161"/>
                <a:gd name="T19" fmla="*/ 4 h 160"/>
                <a:gd name="T20" fmla="*/ 153 w 161"/>
                <a:gd name="T21" fmla="*/ 1 h 160"/>
                <a:gd name="T22" fmla="*/ 149 w 161"/>
                <a:gd name="T23" fmla="*/ 0 h 160"/>
                <a:gd name="T24" fmla="*/ 144 w 161"/>
                <a:gd name="T25" fmla="*/ 1 h 160"/>
                <a:gd name="T26" fmla="*/ 140 w 161"/>
                <a:gd name="T27" fmla="*/ 4 h 160"/>
                <a:gd name="T28" fmla="*/ 4 w 161"/>
                <a:gd name="T29" fmla="*/ 140 h 160"/>
                <a:gd name="T30" fmla="*/ 2 w 161"/>
                <a:gd name="T31" fmla="*/ 144 h 160"/>
                <a:gd name="T32" fmla="*/ 0 w 161"/>
                <a:gd name="T33" fmla="*/ 147 h 160"/>
                <a:gd name="T34" fmla="*/ 2 w 161"/>
                <a:gd name="T35" fmla="*/ 153 h 160"/>
                <a:gd name="T36" fmla="*/ 4 w 161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1" h="160">
                  <a:moveTo>
                    <a:pt x="4" y="156"/>
                  </a:moveTo>
                  <a:lnTo>
                    <a:pt x="8" y="159"/>
                  </a:lnTo>
                  <a:lnTo>
                    <a:pt x="12" y="160"/>
                  </a:lnTo>
                  <a:lnTo>
                    <a:pt x="17" y="159"/>
                  </a:lnTo>
                  <a:lnTo>
                    <a:pt x="21" y="156"/>
                  </a:lnTo>
                  <a:lnTo>
                    <a:pt x="157" y="20"/>
                  </a:lnTo>
                  <a:lnTo>
                    <a:pt x="160" y="16"/>
                  </a:lnTo>
                  <a:lnTo>
                    <a:pt x="161" y="11"/>
                  </a:lnTo>
                  <a:lnTo>
                    <a:pt x="160" y="7"/>
                  </a:lnTo>
                  <a:lnTo>
                    <a:pt x="157" y="4"/>
                  </a:lnTo>
                  <a:lnTo>
                    <a:pt x="153" y="1"/>
                  </a:lnTo>
                  <a:lnTo>
                    <a:pt x="149" y="0"/>
                  </a:lnTo>
                  <a:lnTo>
                    <a:pt x="144" y="1"/>
                  </a:lnTo>
                  <a:lnTo>
                    <a:pt x="140" y="4"/>
                  </a:lnTo>
                  <a:lnTo>
                    <a:pt x="4" y="140"/>
                  </a:lnTo>
                  <a:lnTo>
                    <a:pt x="2" y="144"/>
                  </a:lnTo>
                  <a:lnTo>
                    <a:pt x="0" y="147"/>
                  </a:lnTo>
                  <a:lnTo>
                    <a:pt x="2" y="153"/>
                  </a:lnTo>
                  <a:lnTo>
                    <a:pt x="4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Freeform 3625">
              <a:extLst>
                <a:ext uri="{FF2B5EF4-FFF2-40B4-BE49-F238E27FC236}">
                  <a16:creationId xmlns:a16="http://schemas.microsoft.com/office/drawing/2014/main" id="{DCEEE9E8-A5B3-4D81-814B-3132C0A5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3" y="771525"/>
              <a:ext cx="63500" cy="63500"/>
            </a:xfrm>
            <a:custGeom>
              <a:avLst/>
              <a:gdLst>
                <a:gd name="T0" fmla="*/ 139 w 160"/>
                <a:gd name="T1" fmla="*/ 156 h 160"/>
                <a:gd name="T2" fmla="*/ 144 w 160"/>
                <a:gd name="T3" fmla="*/ 159 h 160"/>
                <a:gd name="T4" fmla="*/ 148 w 160"/>
                <a:gd name="T5" fmla="*/ 160 h 160"/>
                <a:gd name="T6" fmla="*/ 153 w 160"/>
                <a:gd name="T7" fmla="*/ 159 h 160"/>
                <a:gd name="T8" fmla="*/ 157 w 160"/>
                <a:gd name="T9" fmla="*/ 156 h 160"/>
                <a:gd name="T10" fmla="*/ 160 w 160"/>
                <a:gd name="T11" fmla="*/ 153 h 160"/>
                <a:gd name="T12" fmla="*/ 160 w 160"/>
                <a:gd name="T13" fmla="*/ 149 h 160"/>
                <a:gd name="T14" fmla="*/ 160 w 160"/>
                <a:gd name="T15" fmla="*/ 144 h 160"/>
                <a:gd name="T16" fmla="*/ 157 w 160"/>
                <a:gd name="T17" fmla="*/ 140 h 160"/>
                <a:gd name="T18" fmla="*/ 21 w 160"/>
                <a:gd name="T19" fmla="*/ 4 h 160"/>
                <a:gd name="T20" fmla="*/ 16 w 160"/>
                <a:gd name="T21" fmla="*/ 1 h 160"/>
                <a:gd name="T22" fmla="*/ 12 w 160"/>
                <a:gd name="T23" fmla="*/ 0 h 160"/>
                <a:gd name="T24" fmla="*/ 7 w 160"/>
                <a:gd name="T25" fmla="*/ 1 h 160"/>
                <a:gd name="T26" fmla="*/ 3 w 160"/>
                <a:gd name="T27" fmla="*/ 4 h 160"/>
                <a:gd name="T28" fmla="*/ 0 w 160"/>
                <a:gd name="T29" fmla="*/ 7 h 160"/>
                <a:gd name="T30" fmla="*/ 0 w 160"/>
                <a:gd name="T31" fmla="*/ 11 h 160"/>
                <a:gd name="T32" fmla="*/ 0 w 160"/>
                <a:gd name="T33" fmla="*/ 16 h 160"/>
                <a:gd name="T34" fmla="*/ 3 w 160"/>
                <a:gd name="T35" fmla="*/ 20 h 160"/>
                <a:gd name="T36" fmla="*/ 139 w 160"/>
                <a:gd name="T37" fmla="*/ 15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160">
                  <a:moveTo>
                    <a:pt x="139" y="156"/>
                  </a:moveTo>
                  <a:lnTo>
                    <a:pt x="144" y="159"/>
                  </a:lnTo>
                  <a:lnTo>
                    <a:pt x="148" y="160"/>
                  </a:lnTo>
                  <a:lnTo>
                    <a:pt x="153" y="159"/>
                  </a:lnTo>
                  <a:lnTo>
                    <a:pt x="157" y="156"/>
                  </a:lnTo>
                  <a:lnTo>
                    <a:pt x="160" y="153"/>
                  </a:lnTo>
                  <a:lnTo>
                    <a:pt x="160" y="149"/>
                  </a:lnTo>
                  <a:lnTo>
                    <a:pt x="160" y="144"/>
                  </a:lnTo>
                  <a:lnTo>
                    <a:pt x="157" y="140"/>
                  </a:lnTo>
                  <a:lnTo>
                    <a:pt x="21" y="4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4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139" y="15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18" name="Group 117" descr="Icon of boxes. ">
            <a:extLst>
              <a:ext uri="{FF2B5EF4-FFF2-40B4-BE49-F238E27FC236}">
                <a16:creationId xmlns:a16="http://schemas.microsoft.com/office/drawing/2014/main" id="{75BF619E-615D-4C1A-A3A1-04DFC90E2F3F}"/>
              </a:ext>
            </a:extLst>
          </p:cNvPr>
          <p:cNvGrpSpPr/>
          <p:nvPr/>
        </p:nvGrpSpPr>
        <p:grpSpPr>
          <a:xfrm>
            <a:off x="11058919" y="1368977"/>
            <a:ext cx="287337" cy="285750"/>
            <a:chOff x="5465763" y="3068638"/>
            <a:chExt cx="287337" cy="285750"/>
          </a:xfrm>
          <a:solidFill>
            <a:schemeClr val="bg1"/>
          </a:solidFill>
        </p:grpSpPr>
        <p:sp>
          <p:nvSpPr>
            <p:cNvPr id="119" name="Freeform 617">
              <a:extLst>
                <a:ext uri="{FF2B5EF4-FFF2-40B4-BE49-F238E27FC236}">
                  <a16:creationId xmlns:a16="http://schemas.microsoft.com/office/drawing/2014/main" id="{01C5157B-D811-44C7-8E5F-D3F25F98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Freeform 618">
              <a:extLst>
                <a:ext uri="{FF2B5EF4-FFF2-40B4-BE49-F238E27FC236}">
                  <a16:creationId xmlns:a16="http://schemas.microsoft.com/office/drawing/2014/main" id="{90385080-F77C-4175-BA14-BE696271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Freeform 619">
              <a:extLst>
                <a:ext uri="{FF2B5EF4-FFF2-40B4-BE49-F238E27FC236}">
                  <a16:creationId xmlns:a16="http://schemas.microsoft.com/office/drawing/2014/main" id="{B5ABC7AD-DBA6-420E-8EDC-F8D70A034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Freeform 620">
              <a:extLst>
                <a:ext uri="{FF2B5EF4-FFF2-40B4-BE49-F238E27FC236}">
                  <a16:creationId xmlns:a16="http://schemas.microsoft.com/office/drawing/2014/main" id="{9AF2E18D-3033-4D0D-B36E-B08820967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Freeform 621">
              <a:extLst>
                <a:ext uri="{FF2B5EF4-FFF2-40B4-BE49-F238E27FC236}">
                  <a16:creationId xmlns:a16="http://schemas.microsoft.com/office/drawing/2014/main" id="{10DED026-CA17-4314-AA7F-A291474A6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Freeform 622">
              <a:extLst>
                <a:ext uri="{FF2B5EF4-FFF2-40B4-BE49-F238E27FC236}">
                  <a16:creationId xmlns:a16="http://schemas.microsoft.com/office/drawing/2014/main" id="{AC238F9B-3904-4E03-9BCD-C8546D347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Freeform 623">
              <a:extLst>
                <a:ext uri="{FF2B5EF4-FFF2-40B4-BE49-F238E27FC236}">
                  <a16:creationId xmlns:a16="http://schemas.microsoft.com/office/drawing/2014/main" id="{19E2AFFE-6F2F-4A41-BE44-30D95498E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Freeform 624">
              <a:extLst>
                <a:ext uri="{FF2B5EF4-FFF2-40B4-BE49-F238E27FC236}">
                  <a16:creationId xmlns:a16="http://schemas.microsoft.com/office/drawing/2014/main" id="{5BB7C855-93D5-43D5-9ED8-FD815B08E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Freeform 625">
              <a:extLst>
                <a:ext uri="{FF2B5EF4-FFF2-40B4-BE49-F238E27FC236}">
                  <a16:creationId xmlns:a16="http://schemas.microsoft.com/office/drawing/2014/main" id="{AE6F08CF-736A-40B8-AEB8-D64B67F37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128" name="Group 127" descr="Icon of human being and speech bubble. ">
            <a:extLst>
              <a:ext uri="{FF2B5EF4-FFF2-40B4-BE49-F238E27FC236}">
                <a16:creationId xmlns:a16="http://schemas.microsoft.com/office/drawing/2014/main" id="{E7EE81F4-E278-4BA7-8923-0D6DD1FEBDFA}"/>
              </a:ext>
            </a:extLst>
          </p:cNvPr>
          <p:cNvGrpSpPr/>
          <p:nvPr/>
        </p:nvGrpSpPr>
        <p:grpSpPr>
          <a:xfrm>
            <a:off x="9918300" y="1368977"/>
            <a:ext cx="284163" cy="285751"/>
            <a:chOff x="3171788" y="779462"/>
            <a:chExt cx="284163" cy="285751"/>
          </a:xfrm>
          <a:solidFill>
            <a:schemeClr val="bg1"/>
          </a:solidFill>
        </p:grpSpPr>
        <p:sp>
          <p:nvSpPr>
            <p:cNvPr id="129" name="Freeform 2993">
              <a:extLst>
                <a:ext uri="{FF2B5EF4-FFF2-40B4-BE49-F238E27FC236}">
                  <a16:creationId xmlns:a16="http://schemas.microsoft.com/office/drawing/2014/main" id="{DA50A160-1A41-427D-BA06-CB32B8C49A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0851" y="779462"/>
              <a:ext cx="165100" cy="196850"/>
            </a:xfrm>
            <a:custGeom>
              <a:avLst/>
              <a:gdLst>
                <a:gd name="T0" fmla="*/ 291 w 416"/>
                <a:gd name="T1" fmla="*/ 221 h 493"/>
                <a:gd name="T2" fmla="*/ 339 w 416"/>
                <a:gd name="T3" fmla="*/ 173 h 493"/>
                <a:gd name="T4" fmla="*/ 242 w 416"/>
                <a:gd name="T5" fmla="*/ 221 h 493"/>
                <a:gd name="T6" fmla="*/ 195 w 416"/>
                <a:gd name="T7" fmla="*/ 173 h 493"/>
                <a:gd name="T8" fmla="*/ 242 w 416"/>
                <a:gd name="T9" fmla="*/ 221 h 493"/>
                <a:gd name="T10" fmla="*/ 99 w 416"/>
                <a:gd name="T11" fmla="*/ 221 h 493"/>
                <a:gd name="T12" fmla="*/ 147 w 416"/>
                <a:gd name="T13" fmla="*/ 173 h 493"/>
                <a:gd name="T14" fmla="*/ 208 w 416"/>
                <a:gd name="T15" fmla="*/ 0 h 493"/>
                <a:gd name="T16" fmla="*/ 166 w 416"/>
                <a:gd name="T17" fmla="*/ 3 h 493"/>
                <a:gd name="T18" fmla="*/ 127 w 416"/>
                <a:gd name="T19" fmla="*/ 15 h 493"/>
                <a:gd name="T20" fmla="*/ 92 w 416"/>
                <a:gd name="T21" fmla="*/ 33 h 493"/>
                <a:gd name="T22" fmla="*/ 61 w 416"/>
                <a:gd name="T23" fmla="*/ 57 h 493"/>
                <a:gd name="T24" fmla="*/ 35 w 416"/>
                <a:gd name="T25" fmla="*/ 85 h 493"/>
                <a:gd name="T26" fmla="*/ 16 w 416"/>
                <a:gd name="T27" fmla="*/ 117 h 493"/>
                <a:gd name="T28" fmla="*/ 4 w 416"/>
                <a:gd name="T29" fmla="*/ 153 h 493"/>
                <a:gd name="T30" fmla="*/ 0 w 416"/>
                <a:gd name="T31" fmla="*/ 192 h 493"/>
                <a:gd name="T32" fmla="*/ 0 w 416"/>
                <a:gd name="T33" fmla="*/ 194 h 493"/>
                <a:gd name="T34" fmla="*/ 26 w 416"/>
                <a:gd name="T35" fmla="*/ 204 h 493"/>
                <a:gd name="T36" fmla="*/ 47 w 416"/>
                <a:gd name="T37" fmla="*/ 220 h 493"/>
                <a:gd name="T38" fmla="*/ 64 w 416"/>
                <a:gd name="T39" fmla="*/ 238 h 493"/>
                <a:gd name="T40" fmla="*/ 72 w 416"/>
                <a:gd name="T41" fmla="*/ 260 h 493"/>
                <a:gd name="T42" fmla="*/ 76 w 416"/>
                <a:gd name="T43" fmla="*/ 277 h 493"/>
                <a:gd name="T44" fmla="*/ 76 w 416"/>
                <a:gd name="T45" fmla="*/ 293 h 493"/>
                <a:gd name="T46" fmla="*/ 73 w 416"/>
                <a:gd name="T47" fmla="*/ 311 h 493"/>
                <a:gd name="T48" fmla="*/ 67 w 416"/>
                <a:gd name="T49" fmla="*/ 330 h 493"/>
                <a:gd name="T50" fmla="*/ 70 w 416"/>
                <a:gd name="T51" fmla="*/ 333 h 493"/>
                <a:gd name="T52" fmla="*/ 77 w 416"/>
                <a:gd name="T53" fmla="*/ 349 h 493"/>
                <a:gd name="T54" fmla="*/ 94 w 416"/>
                <a:gd name="T55" fmla="*/ 361 h 493"/>
                <a:gd name="T56" fmla="*/ 114 w 416"/>
                <a:gd name="T57" fmla="*/ 371 h 493"/>
                <a:gd name="T58" fmla="*/ 132 w 416"/>
                <a:gd name="T59" fmla="*/ 378 h 493"/>
                <a:gd name="T60" fmla="*/ 153 w 416"/>
                <a:gd name="T61" fmla="*/ 383 h 493"/>
                <a:gd name="T62" fmla="*/ 153 w 416"/>
                <a:gd name="T63" fmla="*/ 428 h 493"/>
                <a:gd name="T64" fmla="*/ 153 w 416"/>
                <a:gd name="T65" fmla="*/ 465 h 493"/>
                <a:gd name="T66" fmla="*/ 173 w 416"/>
                <a:gd name="T67" fmla="*/ 473 h 493"/>
                <a:gd name="T68" fmla="*/ 203 w 416"/>
                <a:gd name="T69" fmla="*/ 446 h 493"/>
                <a:gd name="T70" fmla="*/ 249 w 416"/>
                <a:gd name="T71" fmla="*/ 406 h 493"/>
                <a:gd name="T72" fmla="*/ 274 w 416"/>
                <a:gd name="T73" fmla="*/ 385 h 493"/>
                <a:gd name="T74" fmla="*/ 290 w 416"/>
                <a:gd name="T75" fmla="*/ 371 h 493"/>
                <a:gd name="T76" fmla="*/ 317 w 416"/>
                <a:gd name="T77" fmla="*/ 358 h 493"/>
                <a:gd name="T78" fmla="*/ 342 w 416"/>
                <a:gd name="T79" fmla="*/ 341 h 493"/>
                <a:gd name="T80" fmla="*/ 364 w 416"/>
                <a:gd name="T81" fmla="*/ 321 h 493"/>
                <a:gd name="T82" fmla="*/ 383 w 416"/>
                <a:gd name="T83" fmla="*/ 299 h 493"/>
                <a:gd name="T84" fmla="*/ 397 w 416"/>
                <a:gd name="T85" fmla="*/ 276 h 493"/>
                <a:gd name="T86" fmla="*/ 408 w 416"/>
                <a:gd name="T87" fmla="*/ 249 h 493"/>
                <a:gd name="T88" fmla="*/ 415 w 416"/>
                <a:gd name="T89" fmla="*/ 222 h 493"/>
                <a:gd name="T90" fmla="*/ 416 w 416"/>
                <a:gd name="T91" fmla="*/ 192 h 493"/>
                <a:gd name="T92" fmla="*/ 412 w 416"/>
                <a:gd name="T93" fmla="*/ 154 h 493"/>
                <a:gd name="T94" fmla="*/ 400 w 416"/>
                <a:gd name="T95" fmla="*/ 117 h 493"/>
                <a:gd name="T96" fmla="*/ 381 w 416"/>
                <a:gd name="T97" fmla="*/ 85 h 493"/>
                <a:gd name="T98" fmla="*/ 355 w 416"/>
                <a:gd name="T99" fmla="*/ 57 h 493"/>
                <a:gd name="T100" fmla="*/ 324 w 416"/>
                <a:gd name="T101" fmla="*/ 33 h 493"/>
                <a:gd name="T102" fmla="*/ 289 w 416"/>
                <a:gd name="T103" fmla="*/ 15 h 493"/>
                <a:gd name="T104" fmla="*/ 251 w 416"/>
                <a:gd name="T105" fmla="*/ 3 h 493"/>
                <a:gd name="T106" fmla="*/ 208 w 416"/>
                <a:gd name="T107" fmla="*/ 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16" h="493">
                  <a:moveTo>
                    <a:pt x="339" y="221"/>
                  </a:moveTo>
                  <a:lnTo>
                    <a:pt x="291" y="221"/>
                  </a:lnTo>
                  <a:lnTo>
                    <a:pt x="291" y="173"/>
                  </a:lnTo>
                  <a:lnTo>
                    <a:pt x="339" y="173"/>
                  </a:lnTo>
                  <a:lnTo>
                    <a:pt x="339" y="221"/>
                  </a:lnTo>
                  <a:close/>
                  <a:moveTo>
                    <a:pt x="242" y="221"/>
                  </a:moveTo>
                  <a:lnTo>
                    <a:pt x="195" y="221"/>
                  </a:lnTo>
                  <a:lnTo>
                    <a:pt x="195" y="173"/>
                  </a:lnTo>
                  <a:lnTo>
                    <a:pt x="242" y="173"/>
                  </a:lnTo>
                  <a:lnTo>
                    <a:pt x="242" y="221"/>
                  </a:lnTo>
                  <a:close/>
                  <a:moveTo>
                    <a:pt x="147" y="221"/>
                  </a:moveTo>
                  <a:lnTo>
                    <a:pt x="99" y="221"/>
                  </a:lnTo>
                  <a:lnTo>
                    <a:pt x="99" y="173"/>
                  </a:lnTo>
                  <a:lnTo>
                    <a:pt x="147" y="173"/>
                  </a:lnTo>
                  <a:lnTo>
                    <a:pt x="147" y="221"/>
                  </a:lnTo>
                  <a:close/>
                  <a:moveTo>
                    <a:pt x="208" y="0"/>
                  </a:moveTo>
                  <a:lnTo>
                    <a:pt x="186" y="1"/>
                  </a:lnTo>
                  <a:lnTo>
                    <a:pt x="166" y="3"/>
                  </a:lnTo>
                  <a:lnTo>
                    <a:pt x="146" y="8"/>
                  </a:lnTo>
                  <a:lnTo>
                    <a:pt x="127" y="15"/>
                  </a:lnTo>
                  <a:lnTo>
                    <a:pt x="109" y="23"/>
                  </a:lnTo>
                  <a:lnTo>
                    <a:pt x="92" y="33"/>
                  </a:lnTo>
                  <a:lnTo>
                    <a:pt x="76" y="44"/>
                  </a:lnTo>
                  <a:lnTo>
                    <a:pt x="61" y="57"/>
                  </a:lnTo>
                  <a:lnTo>
                    <a:pt x="47" y="70"/>
                  </a:lnTo>
                  <a:lnTo>
                    <a:pt x="35" y="85"/>
                  </a:lnTo>
                  <a:lnTo>
                    <a:pt x="25" y="101"/>
                  </a:lnTo>
                  <a:lnTo>
                    <a:pt x="16" y="117"/>
                  </a:lnTo>
                  <a:lnTo>
                    <a:pt x="9" y="135"/>
                  </a:lnTo>
                  <a:lnTo>
                    <a:pt x="4" y="153"/>
                  </a:lnTo>
                  <a:lnTo>
                    <a:pt x="1" y="173"/>
                  </a:lnTo>
                  <a:lnTo>
                    <a:pt x="0" y="192"/>
                  </a:lnTo>
                  <a:lnTo>
                    <a:pt x="0" y="192"/>
                  </a:lnTo>
                  <a:lnTo>
                    <a:pt x="0" y="194"/>
                  </a:lnTo>
                  <a:lnTo>
                    <a:pt x="14" y="198"/>
                  </a:lnTo>
                  <a:lnTo>
                    <a:pt x="26" y="204"/>
                  </a:lnTo>
                  <a:lnTo>
                    <a:pt x="38" y="211"/>
                  </a:lnTo>
                  <a:lnTo>
                    <a:pt x="47" y="220"/>
                  </a:lnTo>
                  <a:lnTo>
                    <a:pt x="57" y="228"/>
                  </a:lnTo>
                  <a:lnTo>
                    <a:pt x="64" y="238"/>
                  </a:lnTo>
                  <a:lnTo>
                    <a:pt x="69" y="248"/>
                  </a:lnTo>
                  <a:lnTo>
                    <a:pt x="72" y="260"/>
                  </a:lnTo>
                  <a:lnTo>
                    <a:pt x="74" y="268"/>
                  </a:lnTo>
                  <a:lnTo>
                    <a:pt x="76" y="277"/>
                  </a:lnTo>
                  <a:lnTo>
                    <a:pt x="76" y="285"/>
                  </a:lnTo>
                  <a:lnTo>
                    <a:pt x="76" y="293"/>
                  </a:lnTo>
                  <a:lnTo>
                    <a:pt x="74" y="303"/>
                  </a:lnTo>
                  <a:lnTo>
                    <a:pt x="73" y="311"/>
                  </a:lnTo>
                  <a:lnTo>
                    <a:pt x="71" y="321"/>
                  </a:lnTo>
                  <a:lnTo>
                    <a:pt x="67" y="330"/>
                  </a:lnTo>
                  <a:lnTo>
                    <a:pt x="69" y="332"/>
                  </a:lnTo>
                  <a:lnTo>
                    <a:pt x="70" y="333"/>
                  </a:lnTo>
                  <a:lnTo>
                    <a:pt x="73" y="341"/>
                  </a:lnTo>
                  <a:lnTo>
                    <a:pt x="77" y="349"/>
                  </a:lnTo>
                  <a:lnTo>
                    <a:pt x="85" y="355"/>
                  </a:lnTo>
                  <a:lnTo>
                    <a:pt x="94" y="361"/>
                  </a:lnTo>
                  <a:lnTo>
                    <a:pt x="104" y="366"/>
                  </a:lnTo>
                  <a:lnTo>
                    <a:pt x="114" y="371"/>
                  </a:lnTo>
                  <a:lnTo>
                    <a:pt x="123" y="374"/>
                  </a:lnTo>
                  <a:lnTo>
                    <a:pt x="132" y="378"/>
                  </a:lnTo>
                  <a:lnTo>
                    <a:pt x="142" y="380"/>
                  </a:lnTo>
                  <a:lnTo>
                    <a:pt x="153" y="383"/>
                  </a:lnTo>
                  <a:lnTo>
                    <a:pt x="153" y="403"/>
                  </a:lnTo>
                  <a:lnTo>
                    <a:pt x="153" y="428"/>
                  </a:lnTo>
                  <a:lnTo>
                    <a:pt x="153" y="449"/>
                  </a:lnTo>
                  <a:lnTo>
                    <a:pt x="153" y="465"/>
                  </a:lnTo>
                  <a:lnTo>
                    <a:pt x="153" y="493"/>
                  </a:lnTo>
                  <a:lnTo>
                    <a:pt x="173" y="473"/>
                  </a:lnTo>
                  <a:lnTo>
                    <a:pt x="185" y="462"/>
                  </a:lnTo>
                  <a:lnTo>
                    <a:pt x="203" y="446"/>
                  </a:lnTo>
                  <a:lnTo>
                    <a:pt x="227" y="427"/>
                  </a:lnTo>
                  <a:lnTo>
                    <a:pt x="249" y="406"/>
                  </a:lnTo>
                  <a:lnTo>
                    <a:pt x="262" y="395"/>
                  </a:lnTo>
                  <a:lnTo>
                    <a:pt x="274" y="385"/>
                  </a:lnTo>
                  <a:lnTo>
                    <a:pt x="284" y="377"/>
                  </a:lnTo>
                  <a:lnTo>
                    <a:pt x="290" y="371"/>
                  </a:lnTo>
                  <a:lnTo>
                    <a:pt x="304" y="365"/>
                  </a:lnTo>
                  <a:lnTo>
                    <a:pt x="317" y="358"/>
                  </a:lnTo>
                  <a:lnTo>
                    <a:pt x="330" y="349"/>
                  </a:lnTo>
                  <a:lnTo>
                    <a:pt x="342" y="341"/>
                  </a:lnTo>
                  <a:lnTo>
                    <a:pt x="353" y="332"/>
                  </a:lnTo>
                  <a:lnTo>
                    <a:pt x="364" y="321"/>
                  </a:lnTo>
                  <a:lnTo>
                    <a:pt x="373" y="310"/>
                  </a:lnTo>
                  <a:lnTo>
                    <a:pt x="383" y="299"/>
                  </a:lnTo>
                  <a:lnTo>
                    <a:pt x="390" y="288"/>
                  </a:lnTo>
                  <a:lnTo>
                    <a:pt x="397" y="276"/>
                  </a:lnTo>
                  <a:lnTo>
                    <a:pt x="403" y="263"/>
                  </a:lnTo>
                  <a:lnTo>
                    <a:pt x="408" y="249"/>
                  </a:lnTo>
                  <a:lnTo>
                    <a:pt x="411" y="235"/>
                  </a:lnTo>
                  <a:lnTo>
                    <a:pt x="415" y="222"/>
                  </a:lnTo>
                  <a:lnTo>
                    <a:pt x="416" y="208"/>
                  </a:lnTo>
                  <a:lnTo>
                    <a:pt x="416" y="192"/>
                  </a:lnTo>
                  <a:lnTo>
                    <a:pt x="416" y="173"/>
                  </a:lnTo>
                  <a:lnTo>
                    <a:pt x="412" y="154"/>
                  </a:lnTo>
                  <a:lnTo>
                    <a:pt x="408" y="135"/>
                  </a:lnTo>
                  <a:lnTo>
                    <a:pt x="400" y="117"/>
                  </a:lnTo>
                  <a:lnTo>
                    <a:pt x="391" y="101"/>
                  </a:lnTo>
                  <a:lnTo>
                    <a:pt x="381" y="85"/>
                  </a:lnTo>
                  <a:lnTo>
                    <a:pt x="368" y="70"/>
                  </a:lnTo>
                  <a:lnTo>
                    <a:pt x="355" y="57"/>
                  </a:lnTo>
                  <a:lnTo>
                    <a:pt x="341" y="44"/>
                  </a:lnTo>
                  <a:lnTo>
                    <a:pt x="324" y="33"/>
                  </a:lnTo>
                  <a:lnTo>
                    <a:pt x="308" y="23"/>
                  </a:lnTo>
                  <a:lnTo>
                    <a:pt x="289" y="15"/>
                  </a:lnTo>
                  <a:lnTo>
                    <a:pt x="270" y="8"/>
                  </a:lnTo>
                  <a:lnTo>
                    <a:pt x="251" y="3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Freeform 2994">
              <a:extLst>
                <a:ext uri="{FF2B5EF4-FFF2-40B4-BE49-F238E27FC236}">
                  <a16:creationId xmlns:a16="http://schemas.microsoft.com/office/drawing/2014/main" id="{983071EF-DBDF-4331-848B-74957C821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788" y="863600"/>
              <a:ext cx="190500" cy="201613"/>
            </a:xfrm>
            <a:custGeom>
              <a:avLst/>
              <a:gdLst>
                <a:gd name="T0" fmla="*/ 393 w 480"/>
                <a:gd name="T1" fmla="*/ 357 h 507"/>
                <a:gd name="T2" fmla="*/ 312 w 480"/>
                <a:gd name="T3" fmla="*/ 312 h 507"/>
                <a:gd name="T4" fmla="*/ 320 w 480"/>
                <a:gd name="T5" fmla="*/ 267 h 507"/>
                <a:gd name="T6" fmla="*/ 324 w 480"/>
                <a:gd name="T7" fmla="*/ 261 h 507"/>
                <a:gd name="T8" fmla="*/ 329 w 480"/>
                <a:gd name="T9" fmla="*/ 254 h 507"/>
                <a:gd name="T10" fmla="*/ 332 w 480"/>
                <a:gd name="T11" fmla="*/ 244 h 507"/>
                <a:gd name="T12" fmla="*/ 336 w 480"/>
                <a:gd name="T13" fmla="*/ 231 h 507"/>
                <a:gd name="T14" fmla="*/ 338 w 480"/>
                <a:gd name="T15" fmla="*/ 219 h 507"/>
                <a:gd name="T16" fmla="*/ 339 w 480"/>
                <a:gd name="T17" fmla="*/ 203 h 507"/>
                <a:gd name="T18" fmla="*/ 350 w 480"/>
                <a:gd name="T19" fmla="*/ 190 h 507"/>
                <a:gd name="T20" fmla="*/ 354 w 480"/>
                <a:gd name="T21" fmla="*/ 185 h 507"/>
                <a:gd name="T22" fmla="*/ 356 w 480"/>
                <a:gd name="T23" fmla="*/ 179 h 507"/>
                <a:gd name="T24" fmla="*/ 357 w 480"/>
                <a:gd name="T25" fmla="*/ 173 h 507"/>
                <a:gd name="T26" fmla="*/ 358 w 480"/>
                <a:gd name="T27" fmla="*/ 166 h 507"/>
                <a:gd name="T28" fmla="*/ 357 w 480"/>
                <a:gd name="T29" fmla="*/ 149 h 507"/>
                <a:gd name="T30" fmla="*/ 354 w 480"/>
                <a:gd name="T31" fmla="*/ 140 h 507"/>
                <a:gd name="T32" fmla="*/ 350 w 480"/>
                <a:gd name="T33" fmla="*/ 131 h 507"/>
                <a:gd name="T34" fmla="*/ 343 w 480"/>
                <a:gd name="T35" fmla="*/ 125 h 507"/>
                <a:gd name="T36" fmla="*/ 355 w 480"/>
                <a:gd name="T37" fmla="*/ 84 h 507"/>
                <a:gd name="T38" fmla="*/ 353 w 480"/>
                <a:gd name="T39" fmla="*/ 54 h 507"/>
                <a:gd name="T40" fmla="*/ 336 w 480"/>
                <a:gd name="T41" fmla="*/ 28 h 507"/>
                <a:gd name="T42" fmla="*/ 305 w 480"/>
                <a:gd name="T43" fmla="*/ 9 h 507"/>
                <a:gd name="T44" fmla="*/ 286 w 480"/>
                <a:gd name="T45" fmla="*/ 4 h 507"/>
                <a:gd name="T46" fmla="*/ 267 w 480"/>
                <a:gd name="T47" fmla="*/ 0 h 507"/>
                <a:gd name="T48" fmla="*/ 251 w 480"/>
                <a:gd name="T49" fmla="*/ 0 h 507"/>
                <a:gd name="T50" fmla="*/ 232 w 480"/>
                <a:gd name="T51" fmla="*/ 2 h 507"/>
                <a:gd name="T52" fmla="*/ 217 w 480"/>
                <a:gd name="T53" fmla="*/ 4 h 507"/>
                <a:gd name="T54" fmla="*/ 203 w 480"/>
                <a:gd name="T55" fmla="*/ 8 h 507"/>
                <a:gd name="T56" fmla="*/ 192 w 480"/>
                <a:gd name="T57" fmla="*/ 11 h 507"/>
                <a:gd name="T58" fmla="*/ 157 w 480"/>
                <a:gd name="T59" fmla="*/ 38 h 507"/>
                <a:gd name="T60" fmla="*/ 154 w 480"/>
                <a:gd name="T61" fmla="*/ 44 h 507"/>
                <a:gd name="T62" fmla="*/ 140 w 480"/>
                <a:gd name="T63" fmla="*/ 46 h 507"/>
                <a:gd name="T64" fmla="*/ 131 w 480"/>
                <a:gd name="T65" fmla="*/ 48 h 507"/>
                <a:gd name="T66" fmla="*/ 126 w 480"/>
                <a:gd name="T67" fmla="*/ 53 h 507"/>
                <a:gd name="T68" fmla="*/ 123 w 480"/>
                <a:gd name="T69" fmla="*/ 56 h 507"/>
                <a:gd name="T70" fmla="*/ 118 w 480"/>
                <a:gd name="T71" fmla="*/ 66 h 507"/>
                <a:gd name="T72" fmla="*/ 118 w 480"/>
                <a:gd name="T73" fmla="*/ 75 h 507"/>
                <a:gd name="T74" fmla="*/ 118 w 480"/>
                <a:gd name="T75" fmla="*/ 84 h 507"/>
                <a:gd name="T76" fmla="*/ 121 w 480"/>
                <a:gd name="T77" fmla="*/ 92 h 507"/>
                <a:gd name="T78" fmla="*/ 123 w 480"/>
                <a:gd name="T79" fmla="*/ 100 h 507"/>
                <a:gd name="T80" fmla="*/ 125 w 480"/>
                <a:gd name="T81" fmla="*/ 109 h 507"/>
                <a:gd name="T82" fmla="*/ 132 w 480"/>
                <a:gd name="T83" fmla="*/ 125 h 507"/>
                <a:gd name="T84" fmla="*/ 116 w 480"/>
                <a:gd name="T85" fmla="*/ 148 h 507"/>
                <a:gd name="T86" fmla="*/ 115 w 480"/>
                <a:gd name="T87" fmla="*/ 174 h 507"/>
                <a:gd name="T88" fmla="*/ 118 w 480"/>
                <a:gd name="T89" fmla="*/ 185 h 507"/>
                <a:gd name="T90" fmla="*/ 124 w 480"/>
                <a:gd name="T91" fmla="*/ 193 h 507"/>
                <a:gd name="T92" fmla="*/ 130 w 480"/>
                <a:gd name="T93" fmla="*/ 199 h 507"/>
                <a:gd name="T94" fmla="*/ 138 w 480"/>
                <a:gd name="T95" fmla="*/ 216 h 507"/>
                <a:gd name="T96" fmla="*/ 144 w 480"/>
                <a:gd name="T97" fmla="*/ 242 h 507"/>
                <a:gd name="T98" fmla="*/ 161 w 480"/>
                <a:gd name="T99" fmla="*/ 268 h 507"/>
                <a:gd name="T100" fmla="*/ 168 w 480"/>
                <a:gd name="T101" fmla="*/ 312 h 507"/>
                <a:gd name="T102" fmla="*/ 87 w 480"/>
                <a:gd name="T103" fmla="*/ 357 h 507"/>
                <a:gd name="T104" fmla="*/ 19 w 480"/>
                <a:gd name="T105" fmla="*/ 399 h 507"/>
                <a:gd name="T106" fmla="*/ 2 w 480"/>
                <a:gd name="T107" fmla="*/ 420 h 507"/>
                <a:gd name="T108" fmla="*/ 4 w 480"/>
                <a:gd name="T109" fmla="*/ 504 h 507"/>
                <a:gd name="T110" fmla="*/ 473 w 480"/>
                <a:gd name="T111" fmla="*/ 506 h 507"/>
                <a:gd name="T112" fmla="*/ 480 w 480"/>
                <a:gd name="T113" fmla="*/ 424 h 507"/>
                <a:gd name="T114" fmla="*/ 471 w 480"/>
                <a:gd name="T115" fmla="*/ 408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80" h="507">
                  <a:moveTo>
                    <a:pt x="446" y="388"/>
                  </a:moveTo>
                  <a:lnTo>
                    <a:pt x="435" y="380"/>
                  </a:lnTo>
                  <a:lnTo>
                    <a:pt x="418" y="370"/>
                  </a:lnTo>
                  <a:lnTo>
                    <a:pt x="393" y="357"/>
                  </a:lnTo>
                  <a:lnTo>
                    <a:pt x="367" y="344"/>
                  </a:lnTo>
                  <a:lnTo>
                    <a:pt x="339" y="331"/>
                  </a:lnTo>
                  <a:lnTo>
                    <a:pt x="312" y="319"/>
                  </a:lnTo>
                  <a:lnTo>
                    <a:pt x="312" y="312"/>
                  </a:lnTo>
                  <a:lnTo>
                    <a:pt x="312" y="280"/>
                  </a:lnTo>
                  <a:lnTo>
                    <a:pt x="312" y="274"/>
                  </a:lnTo>
                  <a:lnTo>
                    <a:pt x="316" y="272"/>
                  </a:lnTo>
                  <a:lnTo>
                    <a:pt x="320" y="267"/>
                  </a:lnTo>
                  <a:lnTo>
                    <a:pt x="320" y="266"/>
                  </a:lnTo>
                  <a:lnTo>
                    <a:pt x="320" y="266"/>
                  </a:lnTo>
                  <a:lnTo>
                    <a:pt x="323" y="263"/>
                  </a:lnTo>
                  <a:lnTo>
                    <a:pt x="324" y="261"/>
                  </a:lnTo>
                  <a:lnTo>
                    <a:pt x="325" y="260"/>
                  </a:lnTo>
                  <a:lnTo>
                    <a:pt x="325" y="260"/>
                  </a:lnTo>
                  <a:lnTo>
                    <a:pt x="326" y="256"/>
                  </a:lnTo>
                  <a:lnTo>
                    <a:pt x="329" y="254"/>
                  </a:lnTo>
                  <a:lnTo>
                    <a:pt x="329" y="253"/>
                  </a:lnTo>
                  <a:lnTo>
                    <a:pt x="329" y="251"/>
                  </a:lnTo>
                  <a:lnTo>
                    <a:pt x="331" y="248"/>
                  </a:lnTo>
                  <a:lnTo>
                    <a:pt x="332" y="244"/>
                  </a:lnTo>
                  <a:lnTo>
                    <a:pt x="332" y="243"/>
                  </a:lnTo>
                  <a:lnTo>
                    <a:pt x="332" y="243"/>
                  </a:lnTo>
                  <a:lnTo>
                    <a:pt x="335" y="237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6" y="231"/>
                  </a:lnTo>
                  <a:lnTo>
                    <a:pt x="337" y="225"/>
                  </a:lnTo>
                  <a:lnTo>
                    <a:pt x="338" y="219"/>
                  </a:lnTo>
                  <a:lnTo>
                    <a:pt x="338" y="217"/>
                  </a:lnTo>
                  <a:lnTo>
                    <a:pt x="338" y="215"/>
                  </a:lnTo>
                  <a:lnTo>
                    <a:pt x="339" y="209"/>
                  </a:lnTo>
                  <a:lnTo>
                    <a:pt x="339" y="203"/>
                  </a:lnTo>
                  <a:lnTo>
                    <a:pt x="345" y="197"/>
                  </a:lnTo>
                  <a:lnTo>
                    <a:pt x="350" y="191"/>
                  </a:lnTo>
                  <a:lnTo>
                    <a:pt x="350" y="190"/>
                  </a:lnTo>
                  <a:lnTo>
                    <a:pt x="350" y="190"/>
                  </a:lnTo>
                  <a:lnTo>
                    <a:pt x="353" y="187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4" y="185"/>
                  </a:lnTo>
                  <a:lnTo>
                    <a:pt x="355" y="182"/>
                  </a:lnTo>
                  <a:lnTo>
                    <a:pt x="355" y="180"/>
                  </a:lnTo>
                  <a:lnTo>
                    <a:pt x="355" y="179"/>
                  </a:lnTo>
                  <a:lnTo>
                    <a:pt x="356" y="179"/>
                  </a:lnTo>
                  <a:lnTo>
                    <a:pt x="356" y="176"/>
                  </a:lnTo>
                  <a:lnTo>
                    <a:pt x="357" y="174"/>
                  </a:lnTo>
                  <a:lnTo>
                    <a:pt x="357" y="173"/>
                  </a:lnTo>
                  <a:lnTo>
                    <a:pt x="357" y="173"/>
                  </a:lnTo>
                  <a:lnTo>
                    <a:pt x="357" y="169"/>
                  </a:lnTo>
                  <a:lnTo>
                    <a:pt x="357" y="167"/>
                  </a:lnTo>
                  <a:lnTo>
                    <a:pt x="358" y="167"/>
                  </a:lnTo>
                  <a:lnTo>
                    <a:pt x="358" y="166"/>
                  </a:lnTo>
                  <a:lnTo>
                    <a:pt x="358" y="163"/>
                  </a:lnTo>
                  <a:lnTo>
                    <a:pt x="358" y="160"/>
                  </a:lnTo>
                  <a:lnTo>
                    <a:pt x="358" y="155"/>
                  </a:lnTo>
                  <a:lnTo>
                    <a:pt x="357" y="149"/>
                  </a:lnTo>
                  <a:lnTo>
                    <a:pt x="357" y="149"/>
                  </a:lnTo>
                  <a:lnTo>
                    <a:pt x="357" y="148"/>
                  </a:lnTo>
                  <a:lnTo>
                    <a:pt x="356" y="143"/>
                  </a:lnTo>
                  <a:lnTo>
                    <a:pt x="354" y="140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3" y="135"/>
                  </a:lnTo>
                  <a:lnTo>
                    <a:pt x="350" y="131"/>
                  </a:lnTo>
                  <a:lnTo>
                    <a:pt x="349" y="131"/>
                  </a:lnTo>
                  <a:lnTo>
                    <a:pt x="349" y="131"/>
                  </a:lnTo>
                  <a:lnTo>
                    <a:pt x="347" y="128"/>
                  </a:lnTo>
                  <a:lnTo>
                    <a:pt x="343" y="125"/>
                  </a:lnTo>
                  <a:lnTo>
                    <a:pt x="344" y="122"/>
                  </a:lnTo>
                  <a:lnTo>
                    <a:pt x="347" y="117"/>
                  </a:lnTo>
                  <a:lnTo>
                    <a:pt x="351" y="100"/>
                  </a:lnTo>
                  <a:lnTo>
                    <a:pt x="355" y="84"/>
                  </a:lnTo>
                  <a:lnTo>
                    <a:pt x="355" y="77"/>
                  </a:lnTo>
                  <a:lnTo>
                    <a:pt x="355" y="69"/>
                  </a:lnTo>
                  <a:lnTo>
                    <a:pt x="354" y="61"/>
                  </a:lnTo>
                  <a:lnTo>
                    <a:pt x="353" y="54"/>
                  </a:lnTo>
                  <a:lnTo>
                    <a:pt x="350" y="47"/>
                  </a:lnTo>
                  <a:lnTo>
                    <a:pt x="347" y="40"/>
                  </a:lnTo>
                  <a:lnTo>
                    <a:pt x="342" y="34"/>
                  </a:lnTo>
                  <a:lnTo>
                    <a:pt x="336" y="28"/>
                  </a:lnTo>
                  <a:lnTo>
                    <a:pt x="330" y="22"/>
                  </a:lnTo>
                  <a:lnTo>
                    <a:pt x="323" y="17"/>
                  </a:lnTo>
                  <a:lnTo>
                    <a:pt x="314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295" y="6"/>
                  </a:lnTo>
                  <a:lnTo>
                    <a:pt x="286" y="4"/>
                  </a:lnTo>
                  <a:lnTo>
                    <a:pt x="276" y="2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7" y="0"/>
                  </a:lnTo>
                  <a:lnTo>
                    <a:pt x="263" y="0"/>
                  </a:lnTo>
                  <a:lnTo>
                    <a:pt x="260" y="0"/>
                  </a:lnTo>
                  <a:lnTo>
                    <a:pt x="255" y="0"/>
                  </a:lnTo>
                  <a:lnTo>
                    <a:pt x="251" y="0"/>
                  </a:lnTo>
                  <a:lnTo>
                    <a:pt x="244" y="0"/>
                  </a:lnTo>
                  <a:lnTo>
                    <a:pt x="237" y="0"/>
                  </a:lnTo>
                  <a:lnTo>
                    <a:pt x="235" y="0"/>
                  </a:lnTo>
                  <a:lnTo>
                    <a:pt x="232" y="2"/>
                  </a:lnTo>
                  <a:lnTo>
                    <a:pt x="229" y="2"/>
                  </a:lnTo>
                  <a:lnTo>
                    <a:pt x="224" y="3"/>
                  </a:lnTo>
                  <a:lnTo>
                    <a:pt x="220" y="3"/>
                  </a:lnTo>
                  <a:lnTo>
                    <a:pt x="217" y="4"/>
                  </a:lnTo>
                  <a:lnTo>
                    <a:pt x="215" y="4"/>
                  </a:lnTo>
                  <a:lnTo>
                    <a:pt x="212" y="5"/>
                  </a:lnTo>
                  <a:lnTo>
                    <a:pt x="207" y="6"/>
                  </a:lnTo>
                  <a:lnTo>
                    <a:pt x="203" y="8"/>
                  </a:lnTo>
                  <a:lnTo>
                    <a:pt x="199" y="9"/>
                  </a:lnTo>
                  <a:lnTo>
                    <a:pt x="195" y="10"/>
                  </a:lnTo>
                  <a:lnTo>
                    <a:pt x="193" y="10"/>
                  </a:lnTo>
                  <a:lnTo>
                    <a:pt x="192" y="11"/>
                  </a:lnTo>
                  <a:lnTo>
                    <a:pt x="181" y="16"/>
                  </a:lnTo>
                  <a:lnTo>
                    <a:pt x="172" y="23"/>
                  </a:lnTo>
                  <a:lnTo>
                    <a:pt x="163" y="30"/>
                  </a:lnTo>
                  <a:lnTo>
                    <a:pt x="157" y="38"/>
                  </a:lnTo>
                  <a:lnTo>
                    <a:pt x="157" y="38"/>
                  </a:lnTo>
                  <a:lnTo>
                    <a:pt x="156" y="38"/>
                  </a:lnTo>
                  <a:lnTo>
                    <a:pt x="155" y="42"/>
                  </a:lnTo>
                  <a:lnTo>
                    <a:pt x="154" y="44"/>
                  </a:lnTo>
                  <a:lnTo>
                    <a:pt x="150" y="44"/>
                  </a:lnTo>
                  <a:lnTo>
                    <a:pt x="148" y="44"/>
                  </a:lnTo>
                  <a:lnTo>
                    <a:pt x="143" y="44"/>
                  </a:lnTo>
                  <a:lnTo>
                    <a:pt x="140" y="46"/>
                  </a:lnTo>
                  <a:lnTo>
                    <a:pt x="138" y="46"/>
                  </a:lnTo>
                  <a:lnTo>
                    <a:pt x="137" y="46"/>
                  </a:lnTo>
                  <a:lnTo>
                    <a:pt x="135" y="47"/>
                  </a:lnTo>
                  <a:lnTo>
                    <a:pt x="131" y="48"/>
                  </a:lnTo>
                  <a:lnTo>
                    <a:pt x="131" y="48"/>
                  </a:lnTo>
                  <a:lnTo>
                    <a:pt x="130" y="49"/>
                  </a:lnTo>
                  <a:lnTo>
                    <a:pt x="128" y="50"/>
                  </a:lnTo>
                  <a:lnTo>
                    <a:pt x="126" y="53"/>
                  </a:lnTo>
                  <a:lnTo>
                    <a:pt x="125" y="53"/>
                  </a:lnTo>
                  <a:lnTo>
                    <a:pt x="125" y="53"/>
                  </a:lnTo>
                  <a:lnTo>
                    <a:pt x="124" y="55"/>
                  </a:lnTo>
                  <a:lnTo>
                    <a:pt x="123" y="56"/>
                  </a:lnTo>
                  <a:lnTo>
                    <a:pt x="121" y="60"/>
                  </a:lnTo>
                  <a:lnTo>
                    <a:pt x="119" y="63"/>
                  </a:lnTo>
                  <a:lnTo>
                    <a:pt x="119" y="65"/>
                  </a:lnTo>
                  <a:lnTo>
                    <a:pt x="118" y="66"/>
                  </a:lnTo>
                  <a:lnTo>
                    <a:pt x="118" y="68"/>
                  </a:lnTo>
                  <a:lnTo>
                    <a:pt x="118" y="71"/>
                  </a:lnTo>
                  <a:lnTo>
                    <a:pt x="118" y="73"/>
                  </a:lnTo>
                  <a:lnTo>
                    <a:pt x="118" y="75"/>
                  </a:lnTo>
                  <a:lnTo>
                    <a:pt x="118" y="77"/>
                  </a:lnTo>
                  <a:lnTo>
                    <a:pt x="118" y="79"/>
                  </a:lnTo>
                  <a:lnTo>
                    <a:pt x="118" y="81"/>
                  </a:lnTo>
                  <a:lnTo>
                    <a:pt x="118" y="84"/>
                  </a:lnTo>
                  <a:lnTo>
                    <a:pt x="119" y="85"/>
                  </a:lnTo>
                  <a:lnTo>
                    <a:pt x="119" y="87"/>
                  </a:lnTo>
                  <a:lnTo>
                    <a:pt x="119" y="90"/>
                  </a:lnTo>
                  <a:lnTo>
                    <a:pt x="121" y="92"/>
                  </a:lnTo>
                  <a:lnTo>
                    <a:pt x="121" y="94"/>
                  </a:lnTo>
                  <a:lnTo>
                    <a:pt x="122" y="96"/>
                  </a:lnTo>
                  <a:lnTo>
                    <a:pt x="122" y="98"/>
                  </a:lnTo>
                  <a:lnTo>
                    <a:pt x="123" y="100"/>
                  </a:lnTo>
                  <a:lnTo>
                    <a:pt x="124" y="103"/>
                  </a:lnTo>
                  <a:lnTo>
                    <a:pt x="125" y="106"/>
                  </a:lnTo>
                  <a:lnTo>
                    <a:pt x="125" y="107"/>
                  </a:lnTo>
                  <a:lnTo>
                    <a:pt x="125" y="109"/>
                  </a:lnTo>
                  <a:lnTo>
                    <a:pt x="129" y="117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32" y="125"/>
                  </a:lnTo>
                  <a:lnTo>
                    <a:pt x="126" y="130"/>
                  </a:lnTo>
                  <a:lnTo>
                    <a:pt x="122" y="136"/>
                  </a:lnTo>
                  <a:lnTo>
                    <a:pt x="118" y="142"/>
                  </a:lnTo>
                  <a:lnTo>
                    <a:pt x="116" y="148"/>
                  </a:lnTo>
                  <a:lnTo>
                    <a:pt x="115" y="155"/>
                  </a:lnTo>
                  <a:lnTo>
                    <a:pt x="115" y="163"/>
                  </a:lnTo>
                  <a:lnTo>
                    <a:pt x="115" y="168"/>
                  </a:lnTo>
                  <a:lnTo>
                    <a:pt x="115" y="174"/>
                  </a:lnTo>
                  <a:lnTo>
                    <a:pt x="116" y="175"/>
                  </a:lnTo>
                  <a:lnTo>
                    <a:pt x="116" y="175"/>
                  </a:lnTo>
                  <a:lnTo>
                    <a:pt x="117" y="180"/>
                  </a:lnTo>
                  <a:lnTo>
                    <a:pt x="118" y="185"/>
                  </a:lnTo>
                  <a:lnTo>
                    <a:pt x="119" y="186"/>
                  </a:lnTo>
                  <a:lnTo>
                    <a:pt x="119" y="187"/>
                  </a:lnTo>
                  <a:lnTo>
                    <a:pt x="122" y="190"/>
                  </a:lnTo>
                  <a:lnTo>
                    <a:pt x="124" y="193"/>
                  </a:lnTo>
                  <a:lnTo>
                    <a:pt x="125" y="194"/>
                  </a:lnTo>
                  <a:lnTo>
                    <a:pt x="125" y="195"/>
                  </a:lnTo>
                  <a:lnTo>
                    <a:pt x="128" y="198"/>
                  </a:lnTo>
                  <a:lnTo>
                    <a:pt x="130" y="199"/>
                  </a:lnTo>
                  <a:lnTo>
                    <a:pt x="134" y="201"/>
                  </a:lnTo>
                  <a:lnTo>
                    <a:pt x="137" y="203"/>
                  </a:lnTo>
                  <a:lnTo>
                    <a:pt x="137" y="210"/>
                  </a:lnTo>
                  <a:lnTo>
                    <a:pt x="138" y="216"/>
                  </a:lnTo>
                  <a:lnTo>
                    <a:pt x="138" y="218"/>
                  </a:lnTo>
                  <a:lnTo>
                    <a:pt x="138" y="220"/>
                  </a:lnTo>
                  <a:lnTo>
                    <a:pt x="141" y="231"/>
                  </a:lnTo>
                  <a:lnTo>
                    <a:pt x="144" y="242"/>
                  </a:lnTo>
                  <a:lnTo>
                    <a:pt x="148" y="250"/>
                  </a:lnTo>
                  <a:lnTo>
                    <a:pt x="151" y="257"/>
                  </a:lnTo>
                  <a:lnTo>
                    <a:pt x="156" y="263"/>
                  </a:lnTo>
                  <a:lnTo>
                    <a:pt x="161" y="268"/>
                  </a:lnTo>
                  <a:lnTo>
                    <a:pt x="165" y="272"/>
                  </a:lnTo>
                  <a:lnTo>
                    <a:pt x="168" y="275"/>
                  </a:lnTo>
                  <a:lnTo>
                    <a:pt x="168" y="281"/>
                  </a:lnTo>
                  <a:lnTo>
                    <a:pt x="168" y="312"/>
                  </a:lnTo>
                  <a:lnTo>
                    <a:pt x="168" y="319"/>
                  </a:lnTo>
                  <a:lnTo>
                    <a:pt x="142" y="331"/>
                  </a:lnTo>
                  <a:lnTo>
                    <a:pt x="115" y="344"/>
                  </a:lnTo>
                  <a:lnTo>
                    <a:pt x="87" y="357"/>
                  </a:lnTo>
                  <a:lnTo>
                    <a:pt x="62" y="370"/>
                  </a:lnTo>
                  <a:lnTo>
                    <a:pt x="47" y="380"/>
                  </a:lnTo>
                  <a:lnTo>
                    <a:pt x="34" y="388"/>
                  </a:lnTo>
                  <a:lnTo>
                    <a:pt x="19" y="399"/>
                  </a:lnTo>
                  <a:lnTo>
                    <a:pt x="9" y="408"/>
                  </a:lnTo>
                  <a:lnTo>
                    <a:pt x="5" y="413"/>
                  </a:lnTo>
                  <a:lnTo>
                    <a:pt x="3" y="417"/>
                  </a:lnTo>
                  <a:lnTo>
                    <a:pt x="2" y="420"/>
                  </a:lnTo>
                  <a:lnTo>
                    <a:pt x="0" y="424"/>
                  </a:lnTo>
                  <a:lnTo>
                    <a:pt x="0" y="495"/>
                  </a:lnTo>
                  <a:lnTo>
                    <a:pt x="2" y="500"/>
                  </a:lnTo>
                  <a:lnTo>
                    <a:pt x="4" y="504"/>
                  </a:lnTo>
                  <a:lnTo>
                    <a:pt x="8" y="506"/>
                  </a:lnTo>
                  <a:lnTo>
                    <a:pt x="12" y="507"/>
                  </a:lnTo>
                  <a:lnTo>
                    <a:pt x="468" y="507"/>
                  </a:lnTo>
                  <a:lnTo>
                    <a:pt x="473" y="506"/>
                  </a:lnTo>
                  <a:lnTo>
                    <a:pt x="476" y="504"/>
                  </a:lnTo>
                  <a:lnTo>
                    <a:pt x="479" y="500"/>
                  </a:lnTo>
                  <a:lnTo>
                    <a:pt x="480" y="495"/>
                  </a:lnTo>
                  <a:lnTo>
                    <a:pt x="480" y="424"/>
                  </a:lnTo>
                  <a:lnTo>
                    <a:pt x="480" y="420"/>
                  </a:lnTo>
                  <a:lnTo>
                    <a:pt x="477" y="417"/>
                  </a:lnTo>
                  <a:lnTo>
                    <a:pt x="475" y="413"/>
                  </a:lnTo>
                  <a:lnTo>
                    <a:pt x="471" y="408"/>
                  </a:lnTo>
                  <a:lnTo>
                    <a:pt x="462" y="399"/>
                  </a:lnTo>
                  <a:lnTo>
                    <a:pt x="446" y="3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E7822AC-18CE-FCE1-E74C-6F895AD51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938" y="730061"/>
            <a:ext cx="7053947" cy="44922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BF7EA6-CCAC-199B-585A-65050321D9DD}"/>
              </a:ext>
            </a:extLst>
          </p:cNvPr>
          <p:cNvSpPr txBox="1"/>
          <p:nvPr/>
        </p:nvSpPr>
        <p:spPr>
          <a:xfrm>
            <a:off x="2276876" y="5541408"/>
            <a:ext cx="7943104" cy="1287468"/>
          </a:xfrm>
          <a:custGeom>
            <a:avLst/>
            <a:gdLst>
              <a:gd name="connsiteX0" fmla="*/ 0 w 7943104"/>
              <a:gd name="connsiteY0" fmla="*/ 0 h 1287468"/>
              <a:gd name="connsiteX1" fmla="*/ 423632 w 7943104"/>
              <a:gd name="connsiteY1" fmla="*/ 0 h 1287468"/>
              <a:gd name="connsiteX2" fmla="*/ 1006127 w 7943104"/>
              <a:gd name="connsiteY2" fmla="*/ 0 h 1287468"/>
              <a:gd name="connsiteX3" fmla="*/ 1509190 w 7943104"/>
              <a:gd name="connsiteY3" fmla="*/ 0 h 1287468"/>
              <a:gd name="connsiteX4" fmla="*/ 2091684 w 7943104"/>
              <a:gd name="connsiteY4" fmla="*/ 0 h 1287468"/>
              <a:gd name="connsiteX5" fmla="*/ 2674178 w 7943104"/>
              <a:gd name="connsiteY5" fmla="*/ 0 h 1287468"/>
              <a:gd name="connsiteX6" fmla="*/ 3336104 w 7943104"/>
              <a:gd name="connsiteY6" fmla="*/ 0 h 1287468"/>
              <a:gd name="connsiteX7" fmla="*/ 4077460 w 7943104"/>
              <a:gd name="connsiteY7" fmla="*/ 0 h 1287468"/>
              <a:gd name="connsiteX8" fmla="*/ 4739385 w 7943104"/>
              <a:gd name="connsiteY8" fmla="*/ 0 h 1287468"/>
              <a:gd name="connsiteX9" fmla="*/ 5321880 w 7943104"/>
              <a:gd name="connsiteY9" fmla="*/ 0 h 1287468"/>
              <a:gd name="connsiteX10" fmla="*/ 6142667 w 7943104"/>
              <a:gd name="connsiteY10" fmla="*/ 0 h 1287468"/>
              <a:gd name="connsiteX11" fmla="*/ 6725161 w 7943104"/>
              <a:gd name="connsiteY11" fmla="*/ 0 h 1287468"/>
              <a:gd name="connsiteX12" fmla="*/ 7943104 w 7943104"/>
              <a:gd name="connsiteY12" fmla="*/ 0 h 1287468"/>
              <a:gd name="connsiteX13" fmla="*/ 7943104 w 7943104"/>
              <a:gd name="connsiteY13" fmla="*/ 643734 h 1287468"/>
              <a:gd name="connsiteX14" fmla="*/ 7943104 w 7943104"/>
              <a:gd name="connsiteY14" fmla="*/ 1287468 h 1287468"/>
              <a:gd name="connsiteX15" fmla="*/ 7360610 w 7943104"/>
              <a:gd name="connsiteY15" fmla="*/ 1287468 h 1287468"/>
              <a:gd name="connsiteX16" fmla="*/ 6857546 w 7943104"/>
              <a:gd name="connsiteY16" fmla="*/ 1287468 h 1287468"/>
              <a:gd name="connsiteX17" fmla="*/ 6275052 w 7943104"/>
              <a:gd name="connsiteY17" fmla="*/ 1287468 h 1287468"/>
              <a:gd name="connsiteX18" fmla="*/ 5851420 w 7943104"/>
              <a:gd name="connsiteY18" fmla="*/ 1287468 h 1287468"/>
              <a:gd name="connsiteX19" fmla="*/ 5189495 w 7943104"/>
              <a:gd name="connsiteY19" fmla="*/ 1287468 h 1287468"/>
              <a:gd name="connsiteX20" fmla="*/ 4527569 w 7943104"/>
              <a:gd name="connsiteY20" fmla="*/ 1287468 h 1287468"/>
              <a:gd name="connsiteX21" fmla="*/ 3945075 w 7943104"/>
              <a:gd name="connsiteY21" fmla="*/ 1287468 h 1287468"/>
              <a:gd name="connsiteX22" fmla="*/ 3283150 w 7943104"/>
              <a:gd name="connsiteY22" fmla="*/ 1287468 h 1287468"/>
              <a:gd name="connsiteX23" fmla="*/ 2541793 w 7943104"/>
              <a:gd name="connsiteY23" fmla="*/ 1287468 h 1287468"/>
              <a:gd name="connsiteX24" fmla="*/ 2038730 w 7943104"/>
              <a:gd name="connsiteY24" fmla="*/ 1287468 h 1287468"/>
              <a:gd name="connsiteX25" fmla="*/ 1217943 w 7943104"/>
              <a:gd name="connsiteY25" fmla="*/ 1287468 h 1287468"/>
              <a:gd name="connsiteX26" fmla="*/ 714879 w 7943104"/>
              <a:gd name="connsiteY26" fmla="*/ 1287468 h 1287468"/>
              <a:gd name="connsiteX27" fmla="*/ 0 w 7943104"/>
              <a:gd name="connsiteY27" fmla="*/ 1287468 h 1287468"/>
              <a:gd name="connsiteX28" fmla="*/ 0 w 7943104"/>
              <a:gd name="connsiteY28" fmla="*/ 656609 h 1287468"/>
              <a:gd name="connsiteX29" fmla="*/ 0 w 7943104"/>
              <a:gd name="connsiteY29" fmla="*/ 0 h 128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7943104" h="1287468" extrusionOk="0">
                <a:moveTo>
                  <a:pt x="0" y="0"/>
                </a:moveTo>
                <a:cubicBezTo>
                  <a:pt x="142749" y="-5038"/>
                  <a:pt x="255838" y="-2946"/>
                  <a:pt x="423632" y="0"/>
                </a:cubicBezTo>
                <a:cubicBezTo>
                  <a:pt x="591426" y="2946"/>
                  <a:pt x="745845" y="20872"/>
                  <a:pt x="1006127" y="0"/>
                </a:cubicBezTo>
                <a:cubicBezTo>
                  <a:pt x="1266410" y="-20872"/>
                  <a:pt x="1383011" y="-13580"/>
                  <a:pt x="1509190" y="0"/>
                </a:cubicBezTo>
                <a:cubicBezTo>
                  <a:pt x="1635369" y="13580"/>
                  <a:pt x="1955767" y="-16794"/>
                  <a:pt x="2091684" y="0"/>
                </a:cubicBezTo>
                <a:cubicBezTo>
                  <a:pt x="2227601" y="16794"/>
                  <a:pt x="2423543" y="-25631"/>
                  <a:pt x="2674178" y="0"/>
                </a:cubicBezTo>
                <a:cubicBezTo>
                  <a:pt x="2924813" y="25631"/>
                  <a:pt x="3127705" y="32950"/>
                  <a:pt x="3336104" y="0"/>
                </a:cubicBezTo>
                <a:cubicBezTo>
                  <a:pt x="3544503" y="-32950"/>
                  <a:pt x="3921839" y="-26150"/>
                  <a:pt x="4077460" y="0"/>
                </a:cubicBezTo>
                <a:cubicBezTo>
                  <a:pt x="4233081" y="26150"/>
                  <a:pt x="4590019" y="-32396"/>
                  <a:pt x="4739385" y="0"/>
                </a:cubicBezTo>
                <a:cubicBezTo>
                  <a:pt x="4888751" y="32396"/>
                  <a:pt x="5163584" y="6605"/>
                  <a:pt x="5321880" y="0"/>
                </a:cubicBezTo>
                <a:cubicBezTo>
                  <a:pt x="5480176" y="-6605"/>
                  <a:pt x="5948441" y="-33898"/>
                  <a:pt x="6142667" y="0"/>
                </a:cubicBezTo>
                <a:cubicBezTo>
                  <a:pt x="6336893" y="33898"/>
                  <a:pt x="6458400" y="-8681"/>
                  <a:pt x="6725161" y="0"/>
                </a:cubicBezTo>
                <a:cubicBezTo>
                  <a:pt x="6991922" y="8681"/>
                  <a:pt x="7496415" y="49956"/>
                  <a:pt x="7943104" y="0"/>
                </a:cubicBezTo>
                <a:cubicBezTo>
                  <a:pt x="7940750" y="174717"/>
                  <a:pt x="7934554" y="400771"/>
                  <a:pt x="7943104" y="643734"/>
                </a:cubicBezTo>
                <a:cubicBezTo>
                  <a:pt x="7951654" y="886697"/>
                  <a:pt x="7944542" y="1050322"/>
                  <a:pt x="7943104" y="1287468"/>
                </a:cubicBezTo>
                <a:cubicBezTo>
                  <a:pt x="7817220" y="1281767"/>
                  <a:pt x="7485482" y="1310674"/>
                  <a:pt x="7360610" y="1287468"/>
                </a:cubicBezTo>
                <a:cubicBezTo>
                  <a:pt x="7235738" y="1264262"/>
                  <a:pt x="6985256" y="1307784"/>
                  <a:pt x="6857546" y="1287468"/>
                </a:cubicBezTo>
                <a:cubicBezTo>
                  <a:pt x="6729836" y="1267152"/>
                  <a:pt x="6402743" y="1294557"/>
                  <a:pt x="6275052" y="1287468"/>
                </a:cubicBezTo>
                <a:cubicBezTo>
                  <a:pt x="6147361" y="1280379"/>
                  <a:pt x="6025122" y="1267949"/>
                  <a:pt x="5851420" y="1287468"/>
                </a:cubicBezTo>
                <a:cubicBezTo>
                  <a:pt x="5677718" y="1306987"/>
                  <a:pt x="5328861" y="1286625"/>
                  <a:pt x="5189495" y="1287468"/>
                </a:cubicBezTo>
                <a:cubicBezTo>
                  <a:pt x="5050130" y="1288311"/>
                  <a:pt x="4780044" y="1299536"/>
                  <a:pt x="4527569" y="1287468"/>
                </a:cubicBezTo>
                <a:cubicBezTo>
                  <a:pt x="4275094" y="1275400"/>
                  <a:pt x="4066197" y="1311114"/>
                  <a:pt x="3945075" y="1287468"/>
                </a:cubicBezTo>
                <a:cubicBezTo>
                  <a:pt x="3823953" y="1263822"/>
                  <a:pt x="3420624" y="1312716"/>
                  <a:pt x="3283150" y="1287468"/>
                </a:cubicBezTo>
                <a:cubicBezTo>
                  <a:pt x="3145676" y="1262220"/>
                  <a:pt x="2866041" y="1306274"/>
                  <a:pt x="2541793" y="1287468"/>
                </a:cubicBezTo>
                <a:cubicBezTo>
                  <a:pt x="2217545" y="1268662"/>
                  <a:pt x="2209099" y="1272120"/>
                  <a:pt x="2038730" y="1287468"/>
                </a:cubicBezTo>
                <a:cubicBezTo>
                  <a:pt x="1868361" y="1302816"/>
                  <a:pt x="1435879" y="1312882"/>
                  <a:pt x="1217943" y="1287468"/>
                </a:cubicBezTo>
                <a:cubicBezTo>
                  <a:pt x="1000007" y="1262054"/>
                  <a:pt x="902341" y="1308555"/>
                  <a:pt x="714879" y="1287468"/>
                </a:cubicBezTo>
                <a:cubicBezTo>
                  <a:pt x="527417" y="1266381"/>
                  <a:pt x="296487" y="1282696"/>
                  <a:pt x="0" y="1287468"/>
                </a:cubicBezTo>
                <a:cubicBezTo>
                  <a:pt x="-4981" y="993692"/>
                  <a:pt x="4712" y="900580"/>
                  <a:pt x="0" y="656609"/>
                </a:cubicBezTo>
                <a:cubicBezTo>
                  <a:pt x="-4712" y="412638"/>
                  <a:pt x="21883" y="243757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7600982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Casual riders peak on weekends (Sat–Sun)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Members ride consistently during weekdays (Mon–Fri)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Interpretation: Casual = leisure;  Member = commuter/errands</a:t>
            </a:r>
          </a:p>
        </p:txBody>
      </p:sp>
    </p:spTree>
    <p:extLst>
      <p:ext uri="{BB962C8B-B14F-4D97-AF65-F5344CB8AC3E}">
        <p14:creationId xmlns:p14="http://schemas.microsoft.com/office/powerpoint/2010/main" val="875445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59906" y="935729"/>
            <a:ext cx="3519230" cy="21329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741830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Business Implication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935729"/>
            <a:ext cx="3321424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9B45A068-5F70-BD0C-2555-6D37F6D0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7716" y="2176257"/>
            <a:ext cx="8916567" cy="2062302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Launch weekend membership offers.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Appeal to casual users' habits to encourage upgrades.</a:t>
            </a:r>
          </a:p>
          <a:p>
            <a:pPr algn="ctr"/>
            <a:endParaRPr lang="en-US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36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12465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Chart 3 - Bike Type Preferences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38398A-584C-13B5-93CB-B4FE99780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77" y="837360"/>
            <a:ext cx="4696480" cy="60206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A6EC258-3C96-EB74-043E-52B6F43E78D9}"/>
              </a:ext>
            </a:extLst>
          </p:cNvPr>
          <p:cNvSpPr txBox="1"/>
          <p:nvPr/>
        </p:nvSpPr>
        <p:spPr>
          <a:xfrm>
            <a:off x="5575498" y="2647351"/>
            <a:ext cx="6387901" cy="1702710"/>
          </a:xfrm>
          <a:custGeom>
            <a:avLst/>
            <a:gdLst>
              <a:gd name="connsiteX0" fmla="*/ 0 w 6387901"/>
              <a:gd name="connsiteY0" fmla="*/ 0 h 1702710"/>
              <a:gd name="connsiteX1" fmla="*/ 702669 w 6387901"/>
              <a:gd name="connsiteY1" fmla="*/ 0 h 1702710"/>
              <a:gd name="connsiteX2" fmla="*/ 1405338 w 6387901"/>
              <a:gd name="connsiteY2" fmla="*/ 0 h 1702710"/>
              <a:gd name="connsiteX3" fmla="*/ 2108007 w 6387901"/>
              <a:gd name="connsiteY3" fmla="*/ 0 h 1702710"/>
              <a:gd name="connsiteX4" fmla="*/ 2810676 w 6387901"/>
              <a:gd name="connsiteY4" fmla="*/ 0 h 1702710"/>
              <a:gd name="connsiteX5" fmla="*/ 3577225 w 6387901"/>
              <a:gd name="connsiteY5" fmla="*/ 0 h 1702710"/>
              <a:gd name="connsiteX6" fmla="*/ 4088257 w 6387901"/>
              <a:gd name="connsiteY6" fmla="*/ 0 h 1702710"/>
              <a:gd name="connsiteX7" fmla="*/ 4790926 w 6387901"/>
              <a:gd name="connsiteY7" fmla="*/ 0 h 1702710"/>
              <a:gd name="connsiteX8" fmla="*/ 5557474 w 6387901"/>
              <a:gd name="connsiteY8" fmla="*/ 0 h 1702710"/>
              <a:gd name="connsiteX9" fmla="*/ 6387901 w 6387901"/>
              <a:gd name="connsiteY9" fmla="*/ 0 h 1702710"/>
              <a:gd name="connsiteX10" fmla="*/ 6387901 w 6387901"/>
              <a:gd name="connsiteY10" fmla="*/ 516489 h 1702710"/>
              <a:gd name="connsiteX11" fmla="*/ 6387901 w 6387901"/>
              <a:gd name="connsiteY11" fmla="*/ 1101086 h 1702710"/>
              <a:gd name="connsiteX12" fmla="*/ 6387901 w 6387901"/>
              <a:gd name="connsiteY12" fmla="*/ 1702710 h 1702710"/>
              <a:gd name="connsiteX13" fmla="*/ 5749111 w 6387901"/>
              <a:gd name="connsiteY13" fmla="*/ 1702710 h 1702710"/>
              <a:gd name="connsiteX14" fmla="*/ 5238079 w 6387901"/>
              <a:gd name="connsiteY14" fmla="*/ 1702710 h 1702710"/>
              <a:gd name="connsiteX15" fmla="*/ 4790926 w 6387901"/>
              <a:gd name="connsiteY15" fmla="*/ 1702710 h 1702710"/>
              <a:gd name="connsiteX16" fmla="*/ 4216015 w 6387901"/>
              <a:gd name="connsiteY16" fmla="*/ 1702710 h 1702710"/>
              <a:gd name="connsiteX17" fmla="*/ 3577225 w 6387901"/>
              <a:gd name="connsiteY17" fmla="*/ 1702710 h 1702710"/>
              <a:gd name="connsiteX18" fmla="*/ 2874555 w 6387901"/>
              <a:gd name="connsiteY18" fmla="*/ 1702710 h 1702710"/>
              <a:gd name="connsiteX19" fmla="*/ 2235765 w 6387901"/>
              <a:gd name="connsiteY19" fmla="*/ 1702710 h 1702710"/>
              <a:gd name="connsiteX20" fmla="*/ 1788612 w 6387901"/>
              <a:gd name="connsiteY20" fmla="*/ 1702710 h 1702710"/>
              <a:gd name="connsiteX21" fmla="*/ 1213701 w 6387901"/>
              <a:gd name="connsiteY21" fmla="*/ 1702710 h 1702710"/>
              <a:gd name="connsiteX22" fmla="*/ 766548 w 6387901"/>
              <a:gd name="connsiteY22" fmla="*/ 1702710 h 1702710"/>
              <a:gd name="connsiteX23" fmla="*/ 0 w 6387901"/>
              <a:gd name="connsiteY23" fmla="*/ 1702710 h 1702710"/>
              <a:gd name="connsiteX24" fmla="*/ 0 w 6387901"/>
              <a:gd name="connsiteY24" fmla="*/ 1186221 h 1702710"/>
              <a:gd name="connsiteX25" fmla="*/ 0 w 6387901"/>
              <a:gd name="connsiteY25" fmla="*/ 669733 h 1702710"/>
              <a:gd name="connsiteX26" fmla="*/ 0 w 6387901"/>
              <a:gd name="connsiteY26" fmla="*/ 0 h 170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387901" h="1702710" extrusionOk="0">
                <a:moveTo>
                  <a:pt x="0" y="0"/>
                </a:moveTo>
                <a:cubicBezTo>
                  <a:pt x="167399" y="31567"/>
                  <a:pt x="542028" y="14764"/>
                  <a:pt x="702669" y="0"/>
                </a:cubicBezTo>
                <a:cubicBezTo>
                  <a:pt x="863310" y="-14764"/>
                  <a:pt x="1058114" y="-31439"/>
                  <a:pt x="1405338" y="0"/>
                </a:cubicBezTo>
                <a:cubicBezTo>
                  <a:pt x="1752562" y="31439"/>
                  <a:pt x="1850884" y="-30588"/>
                  <a:pt x="2108007" y="0"/>
                </a:cubicBezTo>
                <a:cubicBezTo>
                  <a:pt x="2365130" y="30588"/>
                  <a:pt x="2480769" y="25694"/>
                  <a:pt x="2810676" y="0"/>
                </a:cubicBezTo>
                <a:cubicBezTo>
                  <a:pt x="3140583" y="-25694"/>
                  <a:pt x="3330812" y="6881"/>
                  <a:pt x="3577225" y="0"/>
                </a:cubicBezTo>
                <a:cubicBezTo>
                  <a:pt x="3823638" y="-6881"/>
                  <a:pt x="3869741" y="624"/>
                  <a:pt x="4088257" y="0"/>
                </a:cubicBezTo>
                <a:cubicBezTo>
                  <a:pt x="4306773" y="-624"/>
                  <a:pt x="4566782" y="-6593"/>
                  <a:pt x="4790926" y="0"/>
                </a:cubicBezTo>
                <a:cubicBezTo>
                  <a:pt x="5015070" y="6593"/>
                  <a:pt x="5288221" y="36267"/>
                  <a:pt x="5557474" y="0"/>
                </a:cubicBezTo>
                <a:cubicBezTo>
                  <a:pt x="5826727" y="-36267"/>
                  <a:pt x="6021388" y="18561"/>
                  <a:pt x="6387901" y="0"/>
                </a:cubicBezTo>
                <a:cubicBezTo>
                  <a:pt x="6410759" y="135756"/>
                  <a:pt x="6381057" y="294896"/>
                  <a:pt x="6387901" y="516489"/>
                </a:cubicBezTo>
                <a:cubicBezTo>
                  <a:pt x="6394745" y="738082"/>
                  <a:pt x="6386347" y="851238"/>
                  <a:pt x="6387901" y="1101086"/>
                </a:cubicBezTo>
                <a:cubicBezTo>
                  <a:pt x="6389455" y="1350934"/>
                  <a:pt x="6361626" y="1524780"/>
                  <a:pt x="6387901" y="1702710"/>
                </a:cubicBezTo>
                <a:cubicBezTo>
                  <a:pt x="6118600" y="1720621"/>
                  <a:pt x="5972108" y="1719806"/>
                  <a:pt x="5749111" y="1702710"/>
                </a:cubicBezTo>
                <a:cubicBezTo>
                  <a:pt x="5526114" y="1685615"/>
                  <a:pt x="5357794" y="1711843"/>
                  <a:pt x="5238079" y="1702710"/>
                </a:cubicBezTo>
                <a:cubicBezTo>
                  <a:pt x="5118364" y="1693577"/>
                  <a:pt x="4967529" y="1693076"/>
                  <a:pt x="4790926" y="1702710"/>
                </a:cubicBezTo>
                <a:cubicBezTo>
                  <a:pt x="4614323" y="1712344"/>
                  <a:pt x="4491346" y="1715855"/>
                  <a:pt x="4216015" y="1702710"/>
                </a:cubicBezTo>
                <a:cubicBezTo>
                  <a:pt x="3940684" y="1689565"/>
                  <a:pt x="3845206" y="1677471"/>
                  <a:pt x="3577225" y="1702710"/>
                </a:cubicBezTo>
                <a:cubicBezTo>
                  <a:pt x="3309244" y="1727950"/>
                  <a:pt x="3036071" y="1720726"/>
                  <a:pt x="2874555" y="1702710"/>
                </a:cubicBezTo>
                <a:cubicBezTo>
                  <a:pt x="2713039" y="1684695"/>
                  <a:pt x="2424188" y="1672338"/>
                  <a:pt x="2235765" y="1702710"/>
                </a:cubicBezTo>
                <a:cubicBezTo>
                  <a:pt x="2047342" y="1733083"/>
                  <a:pt x="2009851" y="1705599"/>
                  <a:pt x="1788612" y="1702710"/>
                </a:cubicBezTo>
                <a:cubicBezTo>
                  <a:pt x="1567373" y="1699821"/>
                  <a:pt x="1489635" y="1714977"/>
                  <a:pt x="1213701" y="1702710"/>
                </a:cubicBezTo>
                <a:cubicBezTo>
                  <a:pt x="937767" y="1690443"/>
                  <a:pt x="964203" y="1690988"/>
                  <a:pt x="766548" y="1702710"/>
                </a:cubicBezTo>
                <a:cubicBezTo>
                  <a:pt x="568893" y="1714432"/>
                  <a:pt x="261245" y="1723032"/>
                  <a:pt x="0" y="1702710"/>
                </a:cubicBezTo>
                <a:cubicBezTo>
                  <a:pt x="-19182" y="1484639"/>
                  <a:pt x="-6809" y="1395235"/>
                  <a:pt x="0" y="1186221"/>
                </a:cubicBezTo>
                <a:cubicBezTo>
                  <a:pt x="6809" y="977207"/>
                  <a:pt x="-71" y="811276"/>
                  <a:pt x="0" y="669733"/>
                </a:cubicBezTo>
                <a:cubicBezTo>
                  <a:pt x="71" y="528190"/>
                  <a:pt x="-32247" y="264659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4069599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Electric bikes are the most used bike type overall by both casual and member riders.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Member riders show a slightly higher preference for electric bikes compared to casual.</a:t>
            </a:r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34718" y="935729"/>
            <a:ext cx="335728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74183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Interpretation &amp; Implication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935729"/>
            <a:ext cx="3307976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>
            <a:extLst>
              <a:ext uri="{FF2B5EF4-FFF2-40B4-BE49-F238E27FC236}">
                <a16:creationId xmlns:a16="http://schemas.microsoft.com/office/drawing/2014/main" id="{A6448FF6-3104-13A8-82F3-4109C1048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4" y="1911770"/>
            <a:ext cx="10421470" cy="2687124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Electric bikes are popular among both user groups → strong feature for marketing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Promote memberships with electric bike access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Offer electric-inclusive bundles to convert casual users</a:t>
            </a:r>
          </a:p>
          <a:p>
            <a:pPr algn="ctr"/>
            <a:endParaRPr lang="en-US" altLang="en-US" sz="2400" b="1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45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93572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74183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935729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9B45A068-5F70-BD0C-2555-6D37F6D0F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29" y="1882588"/>
            <a:ext cx="9599542" cy="290456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Promote weekend-focused membership plans.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Highlight electric bike access in member promotions.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Use in-app/email nudges after multiple electric or long rides.</a:t>
            </a:r>
          </a:p>
          <a:p>
            <a:pPr algn="ctr"/>
            <a:endParaRPr lang="en-US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58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A588A72A-976E-478A-9DD3-765AB3ED4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53082" y="935729"/>
            <a:ext cx="433891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741830"/>
            <a:ext cx="11734800" cy="4431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935729"/>
            <a:ext cx="4262718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>
            <a:extLst>
              <a:ext uri="{FF2B5EF4-FFF2-40B4-BE49-F238E27FC236}">
                <a16:creationId xmlns:a16="http://schemas.microsoft.com/office/drawing/2014/main" id="{A6448FF6-3104-13A8-82F3-4109C1048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24" y="1911770"/>
            <a:ext cx="10421470" cy="2915724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Casual and member riders have distinct behaviors.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Leverage trends to design data-driven membership campaigns.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lt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Clear opportunities to increase revenue by converting casuals.</a:t>
            </a:r>
            <a:endParaRPr lang="en-US" altLang="en-US" sz="2800" b="1" dirty="0">
              <a:solidFill>
                <a:schemeClr val="lt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97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7" y="1544067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2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988" y="2853095"/>
            <a:ext cx="9135035" cy="2382191"/>
          </a:xfrm>
        </p:spPr>
        <p:txBody>
          <a:bodyPr wrap="square" lIns="0" tIns="0" rIns="0" bIns="0" anchor="ctr">
            <a:spAutoFit/>
          </a:bodyPr>
          <a:lstStyle/>
          <a:p>
            <a:r>
              <a:rPr lang="en-US" sz="7200" dirty="0">
                <a:solidFill>
                  <a:schemeClr val="accent4"/>
                </a:solidFill>
              </a:rPr>
              <a:t>Questions?</a:t>
            </a:r>
            <a:br>
              <a:rPr lang="en-US" sz="7200" dirty="0">
                <a:solidFill>
                  <a:schemeClr val="accent4"/>
                </a:solidFill>
              </a:rPr>
            </a:br>
            <a:br>
              <a:rPr lang="en-US" sz="7200" dirty="0">
                <a:solidFill>
                  <a:schemeClr val="accent4"/>
                </a:solidFill>
              </a:rPr>
            </a:br>
            <a:r>
              <a:rPr lang="en-US" sz="2800" dirty="0">
                <a:solidFill>
                  <a:schemeClr val="accent4"/>
                </a:solidFill>
              </a:rPr>
              <a:t>Contact: vedanshipatel570@gmail.com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0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73">
    <a:dk1>
      <a:srgbClr val="000000"/>
    </a:dk1>
    <a:lt1>
      <a:sysClr val="window" lastClr="FFFFFF"/>
    </a:lt1>
    <a:dk2>
      <a:srgbClr val="585858"/>
    </a:dk2>
    <a:lt2>
      <a:srgbClr val="E3E3E3"/>
    </a:lt2>
    <a:accent1>
      <a:srgbClr val="E20613"/>
    </a:accent1>
    <a:accent2>
      <a:srgbClr val="A9C038"/>
    </a:accent2>
    <a:accent3>
      <a:srgbClr val="11AEC7"/>
    </a:accent3>
    <a:accent4>
      <a:srgbClr val="F59F26"/>
    </a:accent4>
    <a:accent5>
      <a:srgbClr val="0062A9"/>
    </a:accent5>
    <a:accent6>
      <a:srgbClr val="EB6047"/>
    </a:accent6>
    <a:hlink>
      <a:srgbClr val="8ED9F6"/>
    </a:hlink>
    <a:folHlink>
      <a:srgbClr val="C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</TotalTime>
  <Words>521</Words>
  <Application>Microsoft Office PowerPoint</Application>
  <PresentationFormat>Widescreen</PresentationFormat>
  <Paragraphs>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Rounded MT Bold</vt:lpstr>
      <vt:lpstr>Calibri</vt:lpstr>
      <vt:lpstr>Century Gothic</vt:lpstr>
      <vt:lpstr>Segoe UI Light</vt:lpstr>
      <vt:lpstr>Office Theme</vt:lpstr>
      <vt:lpstr>Cyclist Bike Share Case Study</vt:lpstr>
      <vt:lpstr>Project analysis slide 2</vt:lpstr>
      <vt:lpstr>Project analysis slide 3</vt:lpstr>
      <vt:lpstr>Project analysis slide 4</vt:lpstr>
      <vt:lpstr>Project analysis slide 5</vt:lpstr>
      <vt:lpstr>Project analysis slide 6</vt:lpstr>
      <vt:lpstr>Project analysis slide 7</vt:lpstr>
      <vt:lpstr>Project analysis slide 8</vt:lpstr>
      <vt:lpstr>Project analysis slide 10</vt:lpstr>
      <vt:lpstr>Project analysis slide 8</vt:lpstr>
      <vt:lpstr>Project analysis slide 8</vt:lpstr>
      <vt:lpstr>Project analysis slide 8</vt:lpstr>
      <vt:lpstr>Thank You</vt:lpstr>
      <vt:lpstr>Questions?  Contact: vedanshipatel570@gmail.com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 Bike Share Case Study</dc:title>
  <dc:creator>Vedanshi Patel</dc:creator>
  <cp:lastModifiedBy>Vedanshi Patel</cp:lastModifiedBy>
  <cp:revision>2</cp:revision>
  <dcterms:created xsi:type="dcterms:W3CDTF">2025-05-01T20:27:00Z</dcterms:created>
  <dcterms:modified xsi:type="dcterms:W3CDTF">2025-05-02T20:16:58Z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